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3" r:id="rId1"/>
  </p:sldMasterIdLst>
  <p:notesMasterIdLst>
    <p:notesMasterId r:id="rId25"/>
  </p:notesMasterIdLst>
  <p:sldIdLst>
    <p:sldId id="256" r:id="rId2"/>
    <p:sldId id="397" r:id="rId3"/>
    <p:sldId id="398" r:id="rId4"/>
    <p:sldId id="374" r:id="rId5"/>
    <p:sldId id="376" r:id="rId6"/>
    <p:sldId id="377" r:id="rId7"/>
    <p:sldId id="375" r:id="rId8"/>
    <p:sldId id="379" r:id="rId9"/>
    <p:sldId id="383" r:id="rId10"/>
    <p:sldId id="384" r:id="rId11"/>
    <p:sldId id="378" r:id="rId12"/>
    <p:sldId id="385" r:id="rId13"/>
    <p:sldId id="386" r:id="rId14"/>
    <p:sldId id="380" r:id="rId15"/>
    <p:sldId id="387" r:id="rId16"/>
    <p:sldId id="388" r:id="rId17"/>
    <p:sldId id="389" r:id="rId18"/>
    <p:sldId id="390" r:id="rId19"/>
    <p:sldId id="391" r:id="rId20"/>
    <p:sldId id="381" r:id="rId21"/>
    <p:sldId id="393" r:id="rId22"/>
    <p:sldId id="394" r:id="rId23"/>
    <p:sldId id="396"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787" autoAdjust="0"/>
    <p:restoredTop sz="94660"/>
  </p:normalViewPr>
  <p:slideViewPr>
    <p:cSldViewPr snapToGrid="0">
      <p:cViewPr varScale="1">
        <p:scale>
          <a:sx n="92" d="100"/>
          <a:sy n="92" d="100"/>
        </p:scale>
        <p:origin x="408" y="82"/>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0C3B5A2-7C73-4D65-8DB7-FCCD5019C884}" type="datetimeFigureOut">
              <a:rPr lang="es-MX" smtClean="0"/>
              <a:t>29/09/2025</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F79E89-DC94-4E81-8076-33A20B974C7E}" type="slidenum">
              <a:rPr lang="es-MX" smtClean="0"/>
              <a:t>‹Nº›</a:t>
            </a:fld>
            <a:endParaRPr lang="es-MX"/>
          </a:p>
        </p:txBody>
      </p:sp>
    </p:spTree>
    <p:extLst>
      <p:ext uri="{BB962C8B-B14F-4D97-AF65-F5344CB8AC3E}">
        <p14:creationId xmlns:p14="http://schemas.microsoft.com/office/powerpoint/2010/main" val="29212787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editar el estilo de subtítulo del patrón</a:t>
            </a:r>
            <a:endParaRPr lang="en-US" dirty="0"/>
          </a:p>
        </p:txBody>
      </p:sp>
      <p:sp>
        <p:nvSpPr>
          <p:cNvPr id="4" name="Date Placeholder 3"/>
          <p:cNvSpPr>
            <a:spLocks noGrp="1"/>
          </p:cNvSpPr>
          <p:nvPr>
            <p:ph type="dt" sz="half" idx="10"/>
          </p:nvPr>
        </p:nvSpPr>
        <p:spPr/>
        <p:txBody>
          <a:bodyPr/>
          <a:lstStyle/>
          <a:p>
            <a:fld id="{EA07777B-9398-46D0-B114-B7FA72459A7A}" type="datetimeFigureOut">
              <a:rPr lang="es-MX" smtClean="0"/>
              <a:t>29/09/2025</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B38EE5C4-92EA-455C-A324-099BDFE97767}" type="slidenum">
              <a:rPr lang="es-MX" smtClean="0"/>
              <a:t>‹Nº›</a:t>
            </a:fld>
            <a:endParaRPr lang="es-MX"/>
          </a:p>
        </p:txBody>
      </p:sp>
    </p:spTree>
    <p:extLst>
      <p:ext uri="{BB962C8B-B14F-4D97-AF65-F5344CB8AC3E}">
        <p14:creationId xmlns:p14="http://schemas.microsoft.com/office/powerpoint/2010/main" val="3142071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3"/>
          <p:cNvSpPr>
            <a:spLocks noGrp="1"/>
          </p:cNvSpPr>
          <p:nvPr>
            <p:ph type="dt" sz="half" idx="10"/>
          </p:nvPr>
        </p:nvSpPr>
        <p:spPr/>
        <p:txBody>
          <a:bodyPr/>
          <a:lstStyle/>
          <a:p>
            <a:fld id="{EA07777B-9398-46D0-B114-B7FA72459A7A}" type="datetimeFigureOut">
              <a:rPr lang="es-MX" smtClean="0"/>
              <a:t>29/09/2025</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B38EE5C4-92EA-455C-A324-099BDFE97767}" type="slidenum">
              <a:rPr lang="es-MX" smtClean="0"/>
              <a:t>‹Nº›</a:t>
            </a:fld>
            <a:endParaRPr lang="es-MX"/>
          </a:p>
        </p:txBody>
      </p:sp>
    </p:spTree>
    <p:extLst>
      <p:ext uri="{BB962C8B-B14F-4D97-AF65-F5344CB8AC3E}">
        <p14:creationId xmlns:p14="http://schemas.microsoft.com/office/powerpoint/2010/main" val="17683033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Editar el estilo de texto del patrón</a:t>
            </a:r>
          </a:p>
        </p:txBody>
      </p:sp>
      <p:sp>
        <p:nvSpPr>
          <p:cNvPr id="4" name="Date Placeholder 3"/>
          <p:cNvSpPr>
            <a:spLocks noGrp="1"/>
          </p:cNvSpPr>
          <p:nvPr>
            <p:ph type="dt" sz="half" idx="10"/>
          </p:nvPr>
        </p:nvSpPr>
        <p:spPr/>
        <p:txBody>
          <a:bodyPr/>
          <a:lstStyle/>
          <a:p>
            <a:fld id="{EA07777B-9398-46D0-B114-B7FA72459A7A}" type="datetimeFigureOut">
              <a:rPr lang="es-MX" smtClean="0"/>
              <a:t>29/09/2025</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B38EE5C4-92EA-455C-A324-099BDFE97767}" type="slidenum">
              <a:rPr lang="es-MX" smtClean="0"/>
              <a:t>‹Nº›</a:t>
            </a:fld>
            <a:endParaRPr lang="es-MX"/>
          </a:p>
        </p:txBody>
      </p:sp>
    </p:spTree>
    <p:extLst>
      <p:ext uri="{BB962C8B-B14F-4D97-AF65-F5344CB8AC3E}">
        <p14:creationId xmlns:p14="http://schemas.microsoft.com/office/powerpoint/2010/main" val="20978643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EA07777B-9398-46D0-B114-B7FA72459A7A}" type="datetimeFigureOut">
              <a:rPr lang="es-MX" smtClean="0"/>
              <a:t>29/09/2025</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B38EE5C4-92EA-455C-A324-099BDFE97767}" type="slidenum">
              <a:rPr lang="es-MX" smtClean="0"/>
              <a:t>‹Nº›</a:t>
            </a:fld>
            <a:endParaRPr lang="es-MX"/>
          </a:p>
        </p:txBody>
      </p:sp>
    </p:spTree>
    <p:extLst>
      <p:ext uri="{BB962C8B-B14F-4D97-AF65-F5344CB8AC3E}">
        <p14:creationId xmlns:p14="http://schemas.microsoft.com/office/powerpoint/2010/main" val="12203425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EA07777B-9398-46D0-B114-B7FA72459A7A}" type="datetimeFigureOut">
              <a:rPr lang="es-MX" smtClean="0"/>
              <a:t>29/09/2025</a:t>
            </a:fld>
            <a:endParaRPr lang="es-MX"/>
          </a:p>
        </p:txBody>
      </p:sp>
      <p:sp>
        <p:nvSpPr>
          <p:cNvPr id="8" name="Footer Placeholder 7"/>
          <p:cNvSpPr>
            <a:spLocks noGrp="1"/>
          </p:cNvSpPr>
          <p:nvPr>
            <p:ph type="ftr" sz="quarter" idx="11"/>
          </p:nvPr>
        </p:nvSpPr>
        <p:spPr/>
        <p:txBody>
          <a:bodyPr/>
          <a:lstStyle/>
          <a:p>
            <a:endParaRPr lang="es-MX"/>
          </a:p>
        </p:txBody>
      </p:sp>
      <p:sp>
        <p:nvSpPr>
          <p:cNvPr id="9" name="Slide Number Placeholder 8"/>
          <p:cNvSpPr>
            <a:spLocks noGrp="1"/>
          </p:cNvSpPr>
          <p:nvPr>
            <p:ph type="sldNum" sz="quarter" idx="12"/>
          </p:nvPr>
        </p:nvSpPr>
        <p:spPr/>
        <p:txBody>
          <a:bodyPr/>
          <a:lstStyle/>
          <a:p>
            <a:fld id="{B38EE5C4-92EA-455C-A324-099BDFE97767}" type="slidenum">
              <a:rPr lang="es-MX" smtClean="0"/>
              <a:t>‹Nº›</a:t>
            </a:fld>
            <a:endParaRPr lang="es-MX"/>
          </a:p>
        </p:txBody>
      </p:sp>
    </p:spTree>
    <p:extLst>
      <p:ext uri="{BB962C8B-B14F-4D97-AF65-F5344CB8AC3E}">
        <p14:creationId xmlns:p14="http://schemas.microsoft.com/office/powerpoint/2010/main" val="20484911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7" name="Date Placeholder 2"/>
          <p:cNvSpPr>
            <a:spLocks noGrp="1"/>
          </p:cNvSpPr>
          <p:nvPr>
            <p:ph type="dt" sz="half" idx="10"/>
          </p:nvPr>
        </p:nvSpPr>
        <p:spPr/>
        <p:txBody>
          <a:bodyPr/>
          <a:lstStyle/>
          <a:p>
            <a:fld id="{EA07777B-9398-46D0-B114-B7FA72459A7A}" type="datetimeFigureOut">
              <a:rPr lang="es-MX" smtClean="0"/>
              <a:t>29/09/2025</a:t>
            </a:fld>
            <a:endParaRPr lang="es-MX"/>
          </a:p>
        </p:txBody>
      </p:sp>
      <p:sp>
        <p:nvSpPr>
          <p:cNvPr id="5" name="Footer Placeholder 3"/>
          <p:cNvSpPr>
            <a:spLocks noGrp="1"/>
          </p:cNvSpPr>
          <p:nvPr>
            <p:ph type="ftr" sz="quarter" idx="11"/>
          </p:nvPr>
        </p:nvSpPr>
        <p:spPr/>
        <p:txBody>
          <a:bodyPr/>
          <a:lstStyle/>
          <a:p>
            <a:endParaRPr lang="es-MX"/>
          </a:p>
        </p:txBody>
      </p:sp>
      <p:sp>
        <p:nvSpPr>
          <p:cNvPr id="6" name="Slide Number Placeholder 4"/>
          <p:cNvSpPr>
            <a:spLocks noGrp="1"/>
          </p:cNvSpPr>
          <p:nvPr>
            <p:ph type="sldNum" sz="quarter" idx="12"/>
          </p:nvPr>
        </p:nvSpPr>
        <p:spPr/>
        <p:txBody>
          <a:bodyPr/>
          <a:lstStyle/>
          <a:p>
            <a:fld id="{B38EE5C4-92EA-455C-A324-099BDFE97767}" type="slidenum">
              <a:rPr lang="es-MX" smtClean="0"/>
              <a:t>‹Nº›</a:t>
            </a:fld>
            <a:endParaRPr lang="es-MX"/>
          </a:p>
        </p:txBody>
      </p:sp>
    </p:spTree>
    <p:extLst>
      <p:ext uri="{BB962C8B-B14F-4D97-AF65-F5344CB8AC3E}">
        <p14:creationId xmlns:p14="http://schemas.microsoft.com/office/powerpoint/2010/main" val="9170447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EA07777B-9398-46D0-B114-B7FA72459A7A}" type="datetimeFigureOut">
              <a:rPr lang="es-MX" smtClean="0"/>
              <a:t>29/09/2025</a:t>
            </a:fld>
            <a:endParaRPr lang="es-MX"/>
          </a:p>
        </p:txBody>
      </p:sp>
      <p:sp>
        <p:nvSpPr>
          <p:cNvPr id="5" name="Footer Placeholder 2"/>
          <p:cNvSpPr>
            <a:spLocks noGrp="1"/>
          </p:cNvSpPr>
          <p:nvPr>
            <p:ph type="ftr" sz="quarter" idx="11"/>
          </p:nvPr>
        </p:nvSpPr>
        <p:spPr/>
        <p:txBody>
          <a:bodyPr/>
          <a:lstStyle/>
          <a:p>
            <a:endParaRPr lang="es-MX"/>
          </a:p>
        </p:txBody>
      </p:sp>
      <p:sp>
        <p:nvSpPr>
          <p:cNvPr id="6" name="Slide Number Placeholder 3"/>
          <p:cNvSpPr>
            <a:spLocks noGrp="1"/>
          </p:cNvSpPr>
          <p:nvPr>
            <p:ph type="sldNum" sz="quarter" idx="12"/>
          </p:nvPr>
        </p:nvSpPr>
        <p:spPr/>
        <p:txBody>
          <a:bodyPr/>
          <a:lstStyle/>
          <a:p>
            <a:fld id="{B38EE5C4-92EA-455C-A324-099BDFE97767}" type="slidenum">
              <a:rPr lang="es-MX" smtClean="0"/>
              <a:t>‹Nº›</a:t>
            </a:fld>
            <a:endParaRPr lang="es-MX"/>
          </a:p>
        </p:txBody>
      </p:sp>
    </p:spTree>
    <p:extLst>
      <p:ext uri="{BB962C8B-B14F-4D97-AF65-F5344CB8AC3E}">
        <p14:creationId xmlns:p14="http://schemas.microsoft.com/office/powerpoint/2010/main" val="13981525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sp>
        <p:nvSpPr>
          <p:cNvPr id="7" name="Date Placeholder 4"/>
          <p:cNvSpPr>
            <a:spLocks noGrp="1"/>
          </p:cNvSpPr>
          <p:nvPr>
            <p:ph type="dt" sz="half" idx="10"/>
          </p:nvPr>
        </p:nvSpPr>
        <p:spPr/>
        <p:txBody>
          <a:bodyPr/>
          <a:lstStyle/>
          <a:p>
            <a:fld id="{EA07777B-9398-46D0-B114-B7FA72459A7A}" type="datetimeFigureOut">
              <a:rPr lang="es-MX" smtClean="0"/>
              <a:t>29/09/2025</a:t>
            </a:fld>
            <a:endParaRPr lang="es-MX"/>
          </a:p>
        </p:txBody>
      </p:sp>
      <p:sp>
        <p:nvSpPr>
          <p:cNvPr id="5" name="Footer Placeholder 5"/>
          <p:cNvSpPr>
            <a:spLocks noGrp="1"/>
          </p:cNvSpPr>
          <p:nvPr>
            <p:ph type="ftr" sz="quarter" idx="11"/>
          </p:nvPr>
        </p:nvSpPr>
        <p:spPr/>
        <p:txBody>
          <a:bodyPr/>
          <a:lstStyle/>
          <a:p>
            <a:endParaRPr lang="es-MX"/>
          </a:p>
        </p:txBody>
      </p:sp>
      <p:sp>
        <p:nvSpPr>
          <p:cNvPr id="6" name="Slide Number Placeholder 6"/>
          <p:cNvSpPr>
            <a:spLocks noGrp="1"/>
          </p:cNvSpPr>
          <p:nvPr>
            <p:ph type="sldNum" sz="quarter" idx="12"/>
          </p:nvPr>
        </p:nvSpPr>
        <p:spPr/>
        <p:txBody>
          <a:bodyPr/>
          <a:lstStyle/>
          <a:p>
            <a:fld id="{B38EE5C4-92EA-455C-A324-099BDFE97767}" type="slidenum">
              <a:rPr lang="es-MX" smtClean="0"/>
              <a:t>‹Nº›</a:t>
            </a:fld>
            <a:endParaRPr lang="es-MX"/>
          </a:p>
        </p:txBody>
      </p:sp>
    </p:spTree>
    <p:extLst>
      <p:ext uri="{BB962C8B-B14F-4D97-AF65-F5344CB8AC3E}">
        <p14:creationId xmlns:p14="http://schemas.microsoft.com/office/powerpoint/2010/main" val="2605195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sp>
        <p:nvSpPr>
          <p:cNvPr id="5" name="Date Placeholder 4"/>
          <p:cNvSpPr>
            <a:spLocks noGrp="1"/>
          </p:cNvSpPr>
          <p:nvPr>
            <p:ph type="dt" sz="half" idx="10"/>
          </p:nvPr>
        </p:nvSpPr>
        <p:spPr/>
        <p:txBody>
          <a:bodyPr/>
          <a:lstStyle/>
          <a:p>
            <a:fld id="{EA07777B-9398-46D0-B114-B7FA72459A7A}" type="datetimeFigureOut">
              <a:rPr lang="es-MX" smtClean="0"/>
              <a:t>29/09/2025</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B38EE5C4-92EA-455C-A324-099BDFE97767}" type="slidenum">
              <a:rPr lang="es-MX" smtClean="0"/>
              <a:t>‹Nº›</a:t>
            </a:fld>
            <a:endParaRPr lang="es-MX"/>
          </a:p>
        </p:txBody>
      </p:sp>
    </p:spTree>
    <p:extLst>
      <p:ext uri="{BB962C8B-B14F-4D97-AF65-F5344CB8AC3E}">
        <p14:creationId xmlns:p14="http://schemas.microsoft.com/office/powerpoint/2010/main" val="19334686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sp>
        <p:nvSpPr>
          <p:cNvPr id="5" name="Date Placeholder 4"/>
          <p:cNvSpPr>
            <a:spLocks noGrp="1"/>
          </p:cNvSpPr>
          <p:nvPr>
            <p:ph type="dt" sz="half" idx="10"/>
          </p:nvPr>
        </p:nvSpPr>
        <p:spPr/>
        <p:txBody>
          <a:bodyPr/>
          <a:lstStyle/>
          <a:p>
            <a:fld id="{EA07777B-9398-46D0-B114-B7FA72459A7A}" type="datetimeFigureOut">
              <a:rPr lang="es-MX" smtClean="0"/>
              <a:t>29/09/2025</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B38EE5C4-92EA-455C-A324-099BDFE97767}" type="slidenum">
              <a:rPr lang="es-MX" smtClean="0"/>
              <a:t>‹Nº›</a:t>
            </a:fld>
            <a:endParaRPr lang="es-MX"/>
          </a:p>
        </p:txBody>
      </p:sp>
    </p:spTree>
    <p:extLst>
      <p:ext uri="{BB962C8B-B14F-4D97-AF65-F5344CB8AC3E}">
        <p14:creationId xmlns:p14="http://schemas.microsoft.com/office/powerpoint/2010/main" val="39183160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s-ES"/>
              <a:t>Haga clic para modificar el estilo de título del patrón</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sp>
        <p:nvSpPr>
          <p:cNvPr id="4" name="Date Placeholder 3"/>
          <p:cNvSpPr>
            <a:spLocks noGrp="1"/>
          </p:cNvSpPr>
          <p:nvPr>
            <p:ph type="dt" sz="half" idx="10"/>
          </p:nvPr>
        </p:nvSpPr>
        <p:spPr/>
        <p:txBody>
          <a:bodyPr/>
          <a:lstStyle/>
          <a:p>
            <a:fld id="{EA07777B-9398-46D0-B114-B7FA72459A7A}" type="datetimeFigureOut">
              <a:rPr lang="es-MX" smtClean="0"/>
              <a:t>29/09/2025</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B38EE5C4-92EA-455C-A324-099BDFE97767}" type="slidenum">
              <a:rPr lang="es-MX" smtClean="0"/>
              <a:t>‹Nº›</a:t>
            </a:fld>
            <a:endParaRPr lang="es-MX"/>
          </a:p>
        </p:txBody>
      </p:sp>
    </p:spTree>
    <p:extLst>
      <p:ext uri="{BB962C8B-B14F-4D97-AF65-F5344CB8AC3E}">
        <p14:creationId xmlns:p14="http://schemas.microsoft.com/office/powerpoint/2010/main" val="15952530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s-ES"/>
              <a:t>Haga clic para modificar el estilo de título del patrón</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s-ES"/>
              <a:t>Editar el estilo de texto del patrón</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sp>
        <p:nvSpPr>
          <p:cNvPr id="4" name="Date Placeholder 3"/>
          <p:cNvSpPr>
            <a:spLocks noGrp="1"/>
          </p:cNvSpPr>
          <p:nvPr>
            <p:ph type="dt" sz="half" idx="10"/>
          </p:nvPr>
        </p:nvSpPr>
        <p:spPr/>
        <p:txBody>
          <a:bodyPr/>
          <a:lstStyle/>
          <a:p>
            <a:fld id="{EA07777B-9398-46D0-B114-B7FA72459A7A}" type="datetimeFigureOut">
              <a:rPr lang="es-MX" smtClean="0"/>
              <a:t>29/09/2025</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B38EE5C4-92EA-455C-A324-099BDFE97767}" type="slidenum">
              <a:rPr lang="es-MX" smtClean="0"/>
              <a:t>‹Nº›</a:t>
            </a:fld>
            <a:endParaRPr lang="es-MX"/>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8944794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Editar el estilo de texto del patrón</a:t>
            </a:r>
          </a:p>
        </p:txBody>
      </p:sp>
      <p:sp>
        <p:nvSpPr>
          <p:cNvPr id="4" name="Date Placeholder 3"/>
          <p:cNvSpPr>
            <a:spLocks noGrp="1"/>
          </p:cNvSpPr>
          <p:nvPr>
            <p:ph type="dt" sz="half" idx="10"/>
          </p:nvPr>
        </p:nvSpPr>
        <p:spPr/>
        <p:txBody>
          <a:bodyPr/>
          <a:lstStyle/>
          <a:p>
            <a:fld id="{EA07777B-9398-46D0-B114-B7FA72459A7A}" type="datetimeFigureOut">
              <a:rPr lang="es-MX" smtClean="0"/>
              <a:t>29/09/2025</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B38EE5C4-92EA-455C-A324-099BDFE97767}" type="slidenum">
              <a:rPr lang="es-MX" smtClean="0"/>
              <a:t>‹Nº›</a:t>
            </a:fld>
            <a:endParaRPr lang="es-MX"/>
          </a:p>
        </p:txBody>
      </p:sp>
    </p:spTree>
    <p:extLst>
      <p:ext uri="{BB962C8B-B14F-4D97-AF65-F5344CB8AC3E}">
        <p14:creationId xmlns:p14="http://schemas.microsoft.com/office/powerpoint/2010/main" val="38948319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EA07777B-9398-46D0-B114-B7FA72459A7A}" type="datetimeFigureOut">
              <a:rPr lang="es-MX" smtClean="0"/>
              <a:t>29/09/2025</a:t>
            </a:fld>
            <a:endParaRPr lang="es-MX"/>
          </a:p>
        </p:txBody>
      </p:sp>
      <p:sp>
        <p:nvSpPr>
          <p:cNvPr id="4"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B38EE5C4-92EA-455C-A324-099BDFE97767}" type="slidenum">
              <a:rPr lang="es-MX" smtClean="0"/>
              <a:t>‹Nº›</a:t>
            </a:fld>
            <a:endParaRPr lang="es-MX"/>
          </a:p>
        </p:txBody>
      </p:sp>
    </p:spTree>
    <p:extLst>
      <p:ext uri="{BB962C8B-B14F-4D97-AF65-F5344CB8AC3E}">
        <p14:creationId xmlns:p14="http://schemas.microsoft.com/office/powerpoint/2010/main" val="17971163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EA07777B-9398-46D0-B114-B7FA72459A7A}" type="datetimeFigureOut">
              <a:rPr lang="es-MX" smtClean="0"/>
              <a:t>29/09/2025</a:t>
            </a:fld>
            <a:endParaRPr lang="es-MX"/>
          </a:p>
        </p:txBody>
      </p:sp>
      <p:sp>
        <p:nvSpPr>
          <p:cNvPr id="4"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B38EE5C4-92EA-455C-A324-099BDFE97767}" type="slidenum">
              <a:rPr lang="es-MX" smtClean="0"/>
              <a:t>‹Nº›</a:t>
            </a:fld>
            <a:endParaRPr lang="es-MX"/>
          </a:p>
        </p:txBody>
      </p:sp>
    </p:spTree>
    <p:extLst>
      <p:ext uri="{BB962C8B-B14F-4D97-AF65-F5344CB8AC3E}">
        <p14:creationId xmlns:p14="http://schemas.microsoft.com/office/powerpoint/2010/main" val="15465878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nchorCtr="0"/>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EA07777B-9398-46D0-B114-B7FA72459A7A}" type="datetimeFigureOut">
              <a:rPr lang="es-MX" smtClean="0"/>
              <a:t>29/09/2025</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B38EE5C4-92EA-455C-A324-099BDFE97767}" type="slidenum">
              <a:rPr lang="es-MX" smtClean="0"/>
              <a:t>‹Nº›</a:t>
            </a:fld>
            <a:endParaRPr lang="es-MX"/>
          </a:p>
        </p:txBody>
      </p:sp>
    </p:spTree>
    <p:extLst>
      <p:ext uri="{BB962C8B-B14F-4D97-AF65-F5344CB8AC3E}">
        <p14:creationId xmlns:p14="http://schemas.microsoft.com/office/powerpoint/2010/main" val="28581575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EA07777B-9398-46D0-B114-B7FA72459A7A}" type="datetimeFigureOut">
              <a:rPr lang="es-MX" smtClean="0"/>
              <a:t>29/09/2025</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B38EE5C4-92EA-455C-A324-099BDFE97767}" type="slidenum">
              <a:rPr lang="es-MX" smtClean="0"/>
              <a:t>‹Nº›</a:t>
            </a:fld>
            <a:endParaRPr lang="es-MX"/>
          </a:p>
        </p:txBody>
      </p:sp>
    </p:spTree>
    <p:extLst>
      <p:ext uri="{BB962C8B-B14F-4D97-AF65-F5344CB8AC3E}">
        <p14:creationId xmlns:p14="http://schemas.microsoft.com/office/powerpoint/2010/main" val="26796743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MX"/>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s-MX"/>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EA07777B-9398-46D0-B114-B7FA72459A7A}" type="datetimeFigureOut">
              <a:rPr lang="es-MX" smtClean="0"/>
              <a:t>29/09/2025</a:t>
            </a:fld>
            <a:endParaRPr lang="es-MX"/>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s-MX"/>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B38EE5C4-92EA-455C-A324-099BDFE97767}" type="slidenum">
              <a:rPr lang="es-MX" smtClean="0"/>
              <a:t>‹Nº›</a:t>
            </a:fld>
            <a:endParaRPr lang="es-MX"/>
          </a:p>
        </p:txBody>
      </p:sp>
    </p:spTree>
    <p:extLst>
      <p:ext uri="{BB962C8B-B14F-4D97-AF65-F5344CB8AC3E}">
        <p14:creationId xmlns:p14="http://schemas.microsoft.com/office/powerpoint/2010/main" val="1094908106"/>
      </p:ext>
    </p:extLst>
  </p:cSld>
  <p:clrMap bg1="lt1" tx1="dk1" bg2="lt2" tx2="dk2" accent1="accent1" accent2="accent2" accent3="accent3" accent4="accent4" accent5="accent5" accent6="accent6" hlink="hlink" folHlink="folHlink"/>
  <p:sldLayoutIdLst>
    <p:sldLayoutId id="2147483754" r:id="rId1"/>
    <p:sldLayoutId id="2147483755" r:id="rId2"/>
    <p:sldLayoutId id="2147483756" r:id="rId3"/>
    <p:sldLayoutId id="2147483757" r:id="rId4"/>
    <p:sldLayoutId id="2147483758" r:id="rId5"/>
    <p:sldLayoutId id="2147483759" r:id="rId6"/>
    <p:sldLayoutId id="2147483760" r:id="rId7"/>
    <p:sldLayoutId id="2147483761" r:id="rId8"/>
    <p:sldLayoutId id="2147483762" r:id="rId9"/>
    <p:sldLayoutId id="2147483763" r:id="rId10"/>
    <p:sldLayoutId id="2147483764" r:id="rId11"/>
    <p:sldLayoutId id="2147483765" r:id="rId12"/>
    <p:sldLayoutId id="2147483766" r:id="rId13"/>
    <p:sldLayoutId id="2147483767" r:id="rId14"/>
    <p:sldLayoutId id="2147483768" r:id="rId15"/>
    <p:sldLayoutId id="2147483769" r:id="rId16"/>
    <p:sldLayoutId id="2147483770"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www.google.com/search?sca_esv=a1feb94103ceaa7e&amp;sxsrf=AE3TifOYucDL_YZeW29DBZ5PQ4EWjn_2EQ%3A1758219592480&amp;q=m%C3%A9trica&amp;sa=X&amp;ved=2ahUKEwiizPyx9uKPAxXN_rsIHbf8NrYQxccNegUIigEQAQ&amp;mstk=AUtExfA4Cu-VmdKeyxa5widBDy98a2g-1DbgUy8vo35W7k9FIQ6abciSGG799ik8fxwtfWWdNdmaM0J1qzLwcercguLuRE8XAA3lSfdgTvIUD7BJsD1bU5WRVmfuQdrWpvUMffzMWx23OacKCqohSk-NG9JnKGbky30i-h9uUPj2KlxasjhP9UX7ACamD77lWlTUV7o4Pdy0iABBd2bzxau5cti4uJGfk1-AASbZRK6FaJ3alty-Xbrxbnbya7XD04HKmLHza6rFYf4zsrbrrwA8zk5B&amp;csui=3" TargetMode="Externa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ccnadesdecero.es/wp-content/uploads/2017/12/Ruta-est%C3%A1tica-flotante.png" TargetMode="Externa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ccnadesdecero.es/wp-content/uploads/2020/06/Limitaciones-Gateway-Predeterminado.png" TargetMode="Externa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ccnadesdecero.es/wp-content/uploads/2020/06/Limitaciones-Gateway-Predeterminado.png" TargetMode="Externa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ccnadesdecero.es/wp-content/uploads/2020/06/Redundancia-del-Router.png" TargetMode="Externa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s://ccnadesdecero.es/wp-content/uploads/2020/06/Conmutaci%C3%B3n-por-Error-del-Router.png" TargetMode="Externa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s://ccnadesdecero.es/wp-content/uploads/2020/06/Prioridad-e-Intento-de-Prioridad-del-HSRP.png" TargetMode="Externa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1127226" y="1839877"/>
            <a:ext cx="9621078" cy="3293209"/>
          </a:xfrm>
          <a:prstGeom prst="rect">
            <a:avLst/>
          </a:prstGeom>
          <a:noFill/>
        </p:spPr>
        <p:txBody>
          <a:bodyPr wrap="square" rtlCol="0">
            <a:spAutoFit/>
          </a:bodyPr>
          <a:lstStyle/>
          <a:p>
            <a:pPr algn="ctr"/>
            <a:r>
              <a:rPr lang="es-MX" sz="3200" b="1" dirty="0"/>
              <a:t>ENRUTAMIENTO BASICO parte2</a:t>
            </a:r>
          </a:p>
          <a:p>
            <a:pPr algn="ctr"/>
            <a:endParaRPr lang="es-MX" sz="3200" b="1" dirty="0"/>
          </a:p>
          <a:p>
            <a:pPr algn="ctr"/>
            <a:r>
              <a:rPr lang="es-MX" sz="3200" b="1" dirty="0"/>
              <a:t>INGENIERIA DE CIBERSEGURIDAD E INFRAESTRUCTURA DE COMPUTO</a:t>
            </a:r>
            <a:endParaRPr lang="es-MX" sz="3200" dirty="0"/>
          </a:p>
          <a:p>
            <a:pPr algn="ctr"/>
            <a:endParaRPr lang="es-MX" sz="4800" b="1" dirty="0"/>
          </a:p>
          <a:p>
            <a:pPr algn="ctr"/>
            <a:r>
              <a:rPr lang="es-MX" sz="3200" b="1" dirty="0"/>
              <a:t>MSI. Gustavo Manuel Balderas Rosas</a:t>
            </a:r>
          </a:p>
        </p:txBody>
      </p:sp>
    </p:spTree>
    <p:extLst>
      <p:ext uri="{BB962C8B-B14F-4D97-AF65-F5344CB8AC3E}">
        <p14:creationId xmlns:p14="http://schemas.microsoft.com/office/powerpoint/2010/main" val="3092914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766540-85E7-EE84-FFB1-9111F8804EA1}"/>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981300E6-A46B-808D-8592-1F2F25AAC385}"/>
              </a:ext>
            </a:extLst>
          </p:cNvPr>
          <p:cNvSpPr/>
          <p:nvPr/>
        </p:nvSpPr>
        <p:spPr>
          <a:xfrm>
            <a:off x="391190" y="312899"/>
            <a:ext cx="11437822" cy="5453994"/>
          </a:xfrm>
          <a:prstGeom prst="rect">
            <a:avLst/>
          </a:prstGeom>
        </p:spPr>
        <p:txBody>
          <a:bodyPr wrap="square">
            <a:spAutoFit/>
          </a:bodyPr>
          <a:lstStyle/>
          <a:p>
            <a:pPr>
              <a:lnSpc>
                <a:spcPct val="107000"/>
              </a:lnSpc>
              <a:spcAft>
                <a:spcPts val="800"/>
              </a:spcAft>
            </a:pPr>
            <a:r>
              <a:rPr lang="es-MX" dirty="0"/>
              <a:t> </a:t>
            </a:r>
            <a:r>
              <a:rPr lang="es-MX" sz="2400" b="1" dirty="0"/>
              <a:t>2.4. Distancia administrativa</a:t>
            </a:r>
          </a:p>
          <a:p>
            <a:pPr>
              <a:lnSpc>
                <a:spcPct val="107000"/>
              </a:lnSpc>
              <a:spcAft>
                <a:spcPts val="800"/>
              </a:spcAft>
            </a:pPr>
            <a:endParaRPr lang="es-MX" sz="2000" kern="100" dirty="0">
              <a:effectLst/>
              <a:ea typeface="Aptos" panose="020B0004020202020204" pitchFamily="34" charset="0"/>
              <a:cs typeface="Times New Roman" panose="02020603050405020304" pitchFamily="18" charset="0"/>
            </a:endParaRPr>
          </a:p>
          <a:p>
            <a:r>
              <a:rPr lang="es-MX" dirty="0"/>
              <a:t>Es un valor que los </a:t>
            </a:r>
            <a:r>
              <a:rPr lang="es-MX" dirty="0" err="1"/>
              <a:t>routers</a:t>
            </a:r>
            <a:r>
              <a:rPr lang="es-MX" dirty="0"/>
              <a:t> usan para determinar la confiabilidad de una fuente de información de enrutamiento y seleccionar la ruta preferida cuando hay múltiples rutas hacia el mismo destino a través de diferentes protocolos de enrutamiento o fuentes. </a:t>
            </a:r>
          </a:p>
          <a:p>
            <a:endParaRPr lang="es-MX" dirty="0"/>
          </a:p>
          <a:p>
            <a:r>
              <a:rPr lang="es-MX" dirty="0"/>
              <a:t>Un valor de distancia administrativa más bajo indica una fuente más confiable, y hay un valor predeterminado para cada tipo de ruta o protocolo puede ajustar el administrador de red. </a:t>
            </a:r>
          </a:p>
          <a:p>
            <a:endParaRPr lang="es-MX" b="1" dirty="0"/>
          </a:p>
          <a:p>
            <a:r>
              <a:rPr lang="es-MX" b="1" dirty="0"/>
              <a:t>Selección de ruta:</a:t>
            </a:r>
            <a:r>
              <a:rPr lang="es-MX" dirty="0"/>
              <a:t> Cuando un </a:t>
            </a:r>
            <a:r>
              <a:rPr lang="es-MX" dirty="0" err="1"/>
              <a:t>router</a:t>
            </a:r>
            <a:r>
              <a:rPr lang="es-MX" dirty="0"/>
              <a:t> tiene varias rutas para alcanzar un destino, primero las organiza según su distancia administrativa. </a:t>
            </a:r>
          </a:p>
          <a:p>
            <a:endParaRPr lang="es-MX" dirty="0"/>
          </a:p>
          <a:p>
            <a:pPr lvl="0"/>
            <a:r>
              <a:rPr lang="es-MX" b="1" dirty="0"/>
              <a:t>Criterio de confianza:</a:t>
            </a:r>
            <a:r>
              <a:rPr lang="es-MX" dirty="0"/>
              <a:t> Si las rutas provienen de fuentes diferentes, como de un protocolo de enrutamiento (ej. OSPF) y una ruta estática, el </a:t>
            </a:r>
            <a:r>
              <a:rPr lang="es-MX" dirty="0" err="1"/>
              <a:t>router</a:t>
            </a:r>
            <a:r>
              <a:rPr lang="es-MX" dirty="0"/>
              <a:t> elegirá la ruta con la menor distancia administrativa, considerándola la más confiable. </a:t>
            </a:r>
          </a:p>
          <a:p>
            <a:pPr lvl="0"/>
            <a:endParaRPr lang="es-MX" dirty="0"/>
          </a:p>
          <a:p>
            <a:pPr lvl="0"/>
            <a:r>
              <a:rPr lang="es-MX" b="1" dirty="0"/>
              <a:t>Métrica:</a:t>
            </a:r>
            <a:r>
              <a:rPr lang="es-MX" dirty="0"/>
              <a:t> Si dos o más rutas tienen la misma distancia administrativa, se utiliza la </a:t>
            </a:r>
            <a:r>
              <a:rPr lang="es-MX" u="sng" dirty="0">
                <a:hlinkClick r:id="rId2"/>
              </a:rPr>
              <a:t>métrica</a:t>
            </a:r>
            <a:r>
              <a:rPr lang="es-MX" dirty="0"/>
              <a:t> específica del protocolo (como ancho de banda, retardo, etc.) para decidir cuál es la mejor ruta. </a:t>
            </a:r>
          </a:p>
        </p:txBody>
      </p:sp>
    </p:spTree>
    <p:extLst>
      <p:ext uri="{BB962C8B-B14F-4D97-AF65-F5344CB8AC3E}">
        <p14:creationId xmlns:p14="http://schemas.microsoft.com/office/powerpoint/2010/main" val="2382998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27889F-35A0-C8D7-957C-4C0FB5AA6E65}"/>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F9A80E1C-9C96-71F7-2960-EDE23A439FD5}"/>
              </a:ext>
            </a:extLst>
          </p:cNvPr>
          <p:cNvSpPr/>
          <p:nvPr/>
        </p:nvSpPr>
        <p:spPr>
          <a:xfrm>
            <a:off x="391190" y="312899"/>
            <a:ext cx="11437822" cy="6684074"/>
          </a:xfrm>
          <a:prstGeom prst="rect">
            <a:avLst/>
          </a:prstGeom>
        </p:spPr>
        <p:txBody>
          <a:bodyPr wrap="square">
            <a:spAutoFit/>
          </a:bodyPr>
          <a:lstStyle/>
          <a:p>
            <a:pPr>
              <a:lnSpc>
                <a:spcPct val="107000"/>
              </a:lnSpc>
              <a:spcAft>
                <a:spcPts val="800"/>
              </a:spcAft>
            </a:pPr>
            <a:r>
              <a:rPr lang="es-MX" dirty="0"/>
              <a:t> </a:t>
            </a:r>
            <a:r>
              <a:rPr lang="es-MX" sz="2400" b="1" dirty="0"/>
              <a:t>2.4. Distancia administrativa</a:t>
            </a:r>
          </a:p>
          <a:p>
            <a:r>
              <a:rPr lang="es-MX" dirty="0"/>
              <a:t>Ejemplos comunes de distancias administrativas (en Cisco): </a:t>
            </a:r>
          </a:p>
          <a:p>
            <a:pPr lvl="0"/>
            <a:endParaRPr lang="es-MX" b="1" dirty="0"/>
          </a:p>
          <a:p>
            <a:pPr lvl="0"/>
            <a:r>
              <a:rPr lang="es-MX" b="1" dirty="0"/>
              <a:t>Directamente conectada:</a:t>
            </a:r>
            <a:r>
              <a:rPr lang="es-MX" dirty="0"/>
              <a:t> 0 (la más preferida)</a:t>
            </a:r>
          </a:p>
          <a:p>
            <a:pPr lvl="0"/>
            <a:r>
              <a:rPr lang="es-MX" b="1" u="sng" dirty="0"/>
              <a:t>Rutas estáticas</a:t>
            </a:r>
            <a:r>
              <a:rPr lang="es-MX" b="1" dirty="0"/>
              <a:t>:</a:t>
            </a:r>
            <a:r>
              <a:rPr lang="es-MX" dirty="0"/>
              <a:t> 1 (generalmente muy confiable)</a:t>
            </a:r>
          </a:p>
          <a:p>
            <a:pPr lvl="0"/>
            <a:r>
              <a:rPr lang="es-MX" b="1" u="sng" dirty="0"/>
              <a:t>OSPF</a:t>
            </a:r>
            <a:r>
              <a:rPr lang="es-MX" b="1" dirty="0"/>
              <a:t>:</a:t>
            </a:r>
            <a:r>
              <a:rPr lang="es-MX" dirty="0"/>
              <a:t> 110 (un protocolo dinámico confiable)</a:t>
            </a:r>
          </a:p>
          <a:p>
            <a:pPr lvl="0"/>
            <a:r>
              <a:rPr lang="es-MX" b="1" u="sng" dirty="0"/>
              <a:t>RIP</a:t>
            </a:r>
            <a:r>
              <a:rPr lang="es-MX" b="1" dirty="0"/>
              <a:t>:</a:t>
            </a:r>
            <a:r>
              <a:rPr lang="es-MX" dirty="0"/>
              <a:t> 120 (menos confiable que OSPF)</a:t>
            </a:r>
          </a:p>
          <a:p>
            <a:pPr lvl="0"/>
            <a:r>
              <a:rPr lang="es-MX" b="1" dirty="0"/>
              <a:t>Desconocida/Inválida:</a:t>
            </a:r>
            <a:r>
              <a:rPr lang="es-MX" dirty="0"/>
              <a:t> 255 (el </a:t>
            </a:r>
            <a:r>
              <a:rPr lang="es-MX" dirty="0" err="1"/>
              <a:t>router</a:t>
            </a:r>
            <a:r>
              <a:rPr lang="es-MX" dirty="0"/>
              <a:t> desconfía totalmente y descarta la ruta)</a:t>
            </a:r>
          </a:p>
          <a:p>
            <a:endParaRPr lang="es-MX" dirty="0"/>
          </a:p>
          <a:p>
            <a:r>
              <a:rPr lang="es-MX" dirty="0"/>
              <a:t>Puntos clave:</a:t>
            </a:r>
          </a:p>
          <a:p>
            <a:endParaRPr lang="es-MX" dirty="0"/>
          </a:p>
          <a:p>
            <a:pPr lvl="0"/>
            <a:r>
              <a:rPr lang="es-MX" b="1" dirty="0"/>
              <a:t>Concepto local:</a:t>
            </a:r>
            <a:r>
              <a:rPr lang="es-MX" dirty="0"/>
              <a:t> La distancia administrativa solo tiene relevancia dentro de la tabla de enrutamiento del </a:t>
            </a:r>
            <a:r>
              <a:rPr lang="es-MX" dirty="0" err="1"/>
              <a:t>router</a:t>
            </a:r>
            <a:r>
              <a:rPr lang="es-MX" dirty="0"/>
              <a:t> y no se publica en las actualizaciones de enrutamiento. </a:t>
            </a:r>
          </a:p>
          <a:p>
            <a:pPr lvl="0"/>
            <a:endParaRPr lang="es-MX" dirty="0"/>
          </a:p>
          <a:p>
            <a:pPr lvl="0"/>
            <a:r>
              <a:rPr lang="es-MX" b="1" dirty="0"/>
              <a:t>Ajustable:</a:t>
            </a:r>
            <a:r>
              <a:rPr lang="es-MX" dirty="0"/>
              <a:t> Los valores predeterminados pueden ser modificados para influir en la selección de rutas y adaptar la red a las necesidades del administrador. </a:t>
            </a:r>
          </a:p>
          <a:p>
            <a:pPr lvl="0"/>
            <a:endParaRPr lang="es-MX" dirty="0"/>
          </a:p>
          <a:p>
            <a:pPr lvl="0"/>
            <a:r>
              <a:rPr lang="es-MX" b="1" dirty="0"/>
              <a:t>Distinción de métrica:</a:t>
            </a:r>
            <a:r>
              <a:rPr lang="es-MX" dirty="0"/>
              <a:t> Es importante no confundir distancia administrativa con métrica. La AD se usa para comparar rutas de diferentes fuentes, mientras que la métrica se usa para comparar rutas del mismo protocolo.</a:t>
            </a:r>
          </a:p>
          <a:p>
            <a:pPr lvl="0"/>
            <a:endParaRPr lang="es-MX" b="1" dirty="0"/>
          </a:p>
          <a:p>
            <a:r>
              <a:rPr lang="es-ES" dirty="0">
                <a:solidFill>
                  <a:srgbClr val="C00000"/>
                </a:solidFill>
                <a:latin typeface="Consolas" panose="020B0609020204030204" pitchFamily="49" charset="0"/>
              </a:rPr>
              <a:t>Router(</a:t>
            </a:r>
            <a:r>
              <a:rPr lang="es-ES" dirty="0" err="1">
                <a:solidFill>
                  <a:srgbClr val="C00000"/>
                </a:solidFill>
                <a:latin typeface="Consolas" panose="020B0609020204030204" pitchFamily="49" charset="0"/>
              </a:rPr>
              <a:t>config</a:t>
            </a:r>
            <a:r>
              <a:rPr lang="es-ES" dirty="0">
                <a:solidFill>
                  <a:srgbClr val="C00000"/>
                </a:solidFill>
                <a:latin typeface="Consolas" panose="020B0609020204030204" pitchFamily="49" charset="0"/>
              </a:rPr>
              <a:t>)# </a:t>
            </a:r>
            <a:r>
              <a:rPr lang="es-ES" b="1" dirty="0" err="1">
                <a:solidFill>
                  <a:srgbClr val="C00000"/>
                </a:solidFill>
                <a:latin typeface="Consolas" panose="020B0609020204030204" pitchFamily="49" charset="0"/>
              </a:rPr>
              <a:t>ip</a:t>
            </a:r>
            <a:r>
              <a:rPr lang="es-ES" b="1" dirty="0">
                <a:solidFill>
                  <a:srgbClr val="C00000"/>
                </a:solidFill>
                <a:latin typeface="Consolas" panose="020B0609020204030204" pitchFamily="49" charset="0"/>
              </a:rPr>
              <a:t> </a:t>
            </a:r>
            <a:r>
              <a:rPr lang="es-ES" b="1" dirty="0" err="1">
                <a:solidFill>
                  <a:srgbClr val="C00000"/>
                </a:solidFill>
                <a:latin typeface="Consolas" panose="020B0609020204030204" pitchFamily="49" charset="0"/>
              </a:rPr>
              <a:t>route</a:t>
            </a:r>
            <a:r>
              <a:rPr lang="es-ES" b="1" dirty="0">
                <a:solidFill>
                  <a:srgbClr val="C00000"/>
                </a:solidFill>
                <a:latin typeface="Consolas" panose="020B0609020204030204" pitchFamily="49" charset="0"/>
              </a:rPr>
              <a:t> </a:t>
            </a:r>
            <a:r>
              <a:rPr lang="es-ES" dirty="0" err="1">
                <a:solidFill>
                  <a:srgbClr val="C00000"/>
                </a:solidFill>
                <a:latin typeface="Consolas" panose="020B0609020204030204" pitchFamily="49" charset="0"/>
              </a:rPr>
              <a:t>ip</a:t>
            </a:r>
            <a:r>
              <a:rPr lang="es-ES" dirty="0">
                <a:solidFill>
                  <a:srgbClr val="C00000"/>
                </a:solidFill>
                <a:latin typeface="Consolas" panose="020B0609020204030204" pitchFamily="49" charset="0"/>
              </a:rPr>
              <a:t>-destino máscara {</a:t>
            </a:r>
            <a:r>
              <a:rPr lang="es-ES" dirty="0" err="1">
                <a:solidFill>
                  <a:srgbClr val="C00000"/>
                </a:solidFill>
                <a:latin typeface="Consolas" panose="020B0609020204030204" pitchFamily="49" charset="0"/>
              </a:rPr>
              <a:t>ip-sig-router</a:t>
            </a:r>
            <a:r>
              <a:rPr lang="es-ES" dirty="0">
                <a:solidFill>
                  <a:srgbClr val="C00000"/>
                </a:solidFill>
                <a:latin typeface="Consolas" panose="020B0609020204030204" pitchFamily="49" charset="0"/>
              </a:rPr>
              <a:t>/ interfaz-salida} </a:t>
            </a:r>
            <a:r>
              <a:rPr lang="es-ES" dirty="0" err="1">
                <a:solidFill>
                  <a:srgbClr val="C00000"/>
                </a:solidFill>
                <a:latin typeface="Consolas" panose="020B0609020204030204" pitchFamily="49" charset="0"/>
              </a:rPr>
              <a:t>dist-admva</a:t>
            </a:r>
            <a:endParaRPr lang="es-ES" dirty="0">
              <a:solidFill>
                <a:srgbClr val="C00000"/>
              </a:solidFill>
              <a:latin typeface="Consolas" panose="020B0609020204030204" pitchFamily="49" charset="0"/>
            </a:endParaRPr>
          </a:p>
          <a:p>
            <a:pPr lvl="0"/>
            <a:endParaRPr lang="es-MX" b="1" dirty="0"/>
          </a:p>
        </p:txBody>
      </p:sp>
    </p:spTree>
    <p:extLst>
      <p:ext uri="{BB962C8B-B14F-4D97-AF65-F5344CB8AC3E}">
        <p14:creationId xmlns:p14="http://schemas.microsoft.com/office/powerpoint/2010/main" val="33762387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66252" y="587219"/>
            <a:ext cx="11226020" cy="5727081"/>
          </a:xfrm>
          <a:prstGeom prst="rect">
            <a:avLst/>
          </a:prstGeom>
        </p:spPr>
        <p:txBody>
          <a:bodyPr wrap="square">
            <a:spAutoFit/>
          </a:bodyPr>
          <a:lstStyle/>
          <a:p>
            <a:pPr>
              <a:lnSpc>
                <a:spcPct val="107000"/>
              </a:lnSpc>
              <a:spcAft>
                <a:spcPts val="800"/>
              </a:spcAft>
            </a:pPr>
            <a:r>
              <a:rPr lang="es-MX" dirty="0"/>
              <a:t> </a:t>
            </a:r>
            <a:r>
              <a:rPr lang="es-MX" sz="2400" b="1" dirty="0"/>
              <a:t>2.4. Ruta estática flotante</a:t>
            </a:r>
          </a:p>
          <a:p>
            <a:pPr>
              <a:lnSpc>
                <a:spcPct val="107000"/>
              </a:lnSpc>
              <a:spcAft>
                <a:spcPts val="800"/>
              </a:spcAft>
            </a:pPr>
            <a:endParaRPr lang="es-MX" sz="2400" b="1" dirty="0"/>
          </a:p>
          <a:p>
            <a:pPr>
              <a:lnSpc>
                <a:spcPct val="107000"/>
              </a:lnSpc>
              <a:spcAft>
                <a:spcPts val="800"/>
              </a:spcAft>
            </a:pPr>
            <a:r>
              <a:rPr lang="es-MX" sz="2000" kern="100" dirty="0">
                <a:effectLst/>
                <a:ea typeface="Aptos" panose="020B0004020202020204" pitchFamily="34" charset="0"/>
                <a:cs typeface="Times New Roman" panose="02020603050405020304" pitchFamily="18" charset="0"/>
              </a:rPr>
              <a:t>Las rutas estáticas flotantes son rutas estáticas que </a:t>
            </a:r>
            <a:r>
              <a:rPr lang="es-MX" sz="2000" b="1" kern="100" dirty="0">
                <a:effectLst/>
                <a:ea typeface="Aptos" panose="020B0004020202020204" pitchFamily="34" charset="0"/>
                <a:cs typeface="Times New Roman" panose="02020603050405020304" pitchFamily="18" charset="0"/>
              </a:rPr>
              <a:t>se utilizan para proporcionar una ruta de respaldo a una ruta estática o dinámica principal</a:t>
            </a:r>
            <a:r>
              <a:rPr lang="es-MX" sz="2000" kern="100" dirty="0">
                <a:effectLst/>
                <a:ea typeface="Aptos" panose="020B0004020202020204" pitchFamily="34" charset="0"/>
                <a:cs typeface="Times New Roman" panose="02020603050405020304" pitchFamily="18" charset="0"/>
              </a:rPr>
              <a:t>, </a:t>
            </a:r>
          </a:p>
          <a:p>
            <a:pPr>
              <a:lnSpc>
                <a:spcPct val="107000"/>
              </a:lnSpc>
              <a:spcAft>
                <a:spcPts val="800"/>
              </a:spcAft>
            </a:pPr>
            <a:r>
              <a:rPr lang="es-MX" sz="2000" kern="100" dirty="0">
                <a:ea typeface="Aptos" panose="020B0004020202020204" pitchFamily="34" charset="0"/>
                <a:cs typeface="Times New Roman" panose="02020603050405020304" pitchFamily="18" charset="0"/>
              </a:rPr>
              <a:t>E</a:t>
            </a:r>
            <a:r>
              <a:rPr lang="es-MX" sz="2000" kern="100" dirty="0">
                <a:effectLst/>
                <a:ea typeface="Aptos" panose="020B0004020202020204" pitchFamily="34" charset="0"/>
                <a:cs typeface="Times New Roman" panose="02020603050405020304" pitchFamily="18" charset="0"/>
              </a:rPr>
              <a:t>n el caso de una falla del enlace. La ruta estática flotante se utiliza únicamente cuando la ruta principal no está disponible.</a:t>
            </a:r>
          </a:p>
          <a:p>
            <a:pPr>
              <a:lnSpc>
                <a:spcPct val="107000"/>
              </a:lnSpc>
              <a:spcAft>
                <a:spcPts val="800"/>
              </a:spcAft>
            </a:pPr>
            <a:r>
              <a:rPr lang="es-MX" sz="2000" kern="100" dirty="0">
                <a:effectLst/>
                <a:ea typeface="Aptos" panose="020B0004020202020204" pitchFamily="34" charset="0"/>
                <a:cs typeface="Times New Roman" panose="02020603050405020304" pitchFamily="18" charset="0"/>
              </a:rPr>
              <a:t>Para lograrlo, </a:t>
            </a:r>
            <a:r>
              <a:rPr lang="es-MX" sz="2000" kern="100" dirty="0">
                <a:solidFill>
                  <a:srgbClr val="C00000"/>
                </a:solidFill>
                <a:effectLst/>
                <a:ea typeface="Aptos" panose="020B0004020202020204" pitchFamily="34" charset="0"/>
                <a:cs typeface="Times New Roman" panose="02020603050405020304" pitchFamily="18" charset="0"/>
              </a:rPr>
              <a:t>la ruta estática flotante se configura con una distancia administrativa mayor que la ruta principal</a:t>
            </a:r>
            <a:r>
              <a:rPr lang="es-MX" sz="2000" kern="100" dirty="0">
                <a:effectLst/>
                <a:ea typeface="Aptos" panose="020B0004020202020204" pitchFamily="34" charset="0"/>
                <a:cs typeface="Times New Roman" panose="02020603050405020304" pitchFamily="18" charset="0"/>
              </a:rPr>
              <a:t>. </a:t>
            </a:r>
          </a:p>
          <a:p>
            <a:pPr>
              <a:lnSpc>
                <a:spcPct val="107000"/>
              </a:lnSpc>
              <a:spcAft>
                <a:spcPts val="800"/>
              </a:spcAft>
            </a:pPr>
            <a:r>
              <a:rPr lang="es-MX" sz="2000" kern="100" dirty="0">
                <a:effectLst/>
                <a:ea typeface="Aptos" panose="020B0004020202020204" pitchFamily="34" charset="0"/>
                <a:cs typeface="Times New Roman" panose="02020603050405020304" pitchFamily="18" charset="0"/>
              </a:rPr>
              <a:t>Por ejemplo, suponga que un administrador desea crear una ruta estática flotante como respaldo de una ruta descubierta por EIGRP. Si el EIGRP tiene una distancia administrativa de 90, la ruta estática flotante se configura con una distancia administrativa de 95, de modo que el </a:t>
            </a:r>
            <a:r>
              <a:rPr lang="es-MX" sz="2000" kern="100" dirty="0" err="1">
                <a:effectLst/>
                <a:ea typeface="Aptos" panose="020B0004020202020204" pitchFamily="34" charset="0"/>
                <a:cs typeface="Times New Roman" panose="02020603050405020304" pitchFamily="18" charset="0"/>
              </a:rPr>
              <a:t>router</a:t>
            </a:r>
            <a:r>
              <a:rPr lang="es-MX" sz="2000" kern="100" dirty="0">
                <a:effectLst/>
                <a:ea typeface="Aptos" panose="020B0004020202020204" pitchFamily="34" charset="0"/>
                <a:cs typeface="Times New Roman" panose="02020603050405020304" pitchFamily="18" charset="0"/>
              </a:rPr>
              <a:t>, prefiera la ruta dinámica descubierta por el EIGRP a la ruta estática flotante. Si se pierde la ruta descubierta por el EIGRP, en su lugar se utiliza la ruta estática flotante.</a:t>
            </a:r>
          </a:p>
          <a:p>
            <a:pPr marL="342900" indent="-342900">
              <a:buFont typeface="+mj-lt"/>
              <a:buAutoNum type="arabicPeriod"/>
            </a:pPr>
            <a:endParaRPr lang="es-MX" b="1" dirty="0"/>
          </a:p>
        </p:txBody>
      </p:sp>
    </p:spTree>
    <p:extLst>
      <p:ext uri="{BB962C8B-B14F-4D97-AF65-F5344CB8AC3E}">
        <p14:creationId xmlns:p14="http://schemas.microsoft.com/office/powerpoint/2010/main" val="13450061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descr="Ruta estática flotante">
            <a:hlinkClick r:id="rId2"/>
            <a:extLst>
              <a:ext uri="{FF2B5EF4-FFF2-40B4-BE49-F238E27FC236}">
                <a16:creationId xmlns:a16="http://schemas.microsoft.com/office/drawing/2014/main" id="{452CE1B2-D39B-0E69-2C4C-844F3C28DFB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18980" y="212942"/>
            <a:ext cx="7657176" cy="4597945"/>
          </a:xfrm>
          <a:prstGeom prst="rect">
            <a:avLst/>
          </a:prstGeom>
          <a:noFill/>
          <a:ln>
            <a:noFill/>
          </a:ln>
        </p:spPr>
      </p:pic>
      <p:sp>
        <p:nvSpPr>
          <p:cNvPr id="4" name="CuadroTexto 3">
            <a:extLst>
              <a:ext uri="{FF2B5EF4-FFF2-40B4-BE49-F238E27FC236}">
                <a16:creationId xmlns:a16="http://schemas.microsoft.com/office/drawing/2014/main" id="{956854B7-A943-76F6-5B8E-38836EFDA240}"/>
              </a:ext>
            </a:extLst>
          </p:cNvPr>
          <p:cNvSpPr txBox="1"/>
          <p:nvPr/>
        </p:nvSpPr>
        <p:spPr>
          <a:xfrm>
            <a:off x="418980" y="4940625"/>
            <a:ext cx="11430641" cy="1658596"/>
          </a:xfrm>
          <a:prstGeom prst="rect">
            <a:avLst/>
          </a:prstGeom>
          <a:noFill/>
        </p:spPr>
        <p:txBody>
          <a:bodyPr wrap="square">
            <a:spAutoFit/>
          </a:bodyPr>
          <a:lstStyle/>
          <a:p>
            <a:pPr>
              <a:lnSpc>
                <a:spcPct val="107000"/>
              </a:lnSpc>
              <a:spcAft>
                <a:spcPts val="800"/>
              </a:spcAft>
            </a:pPr>
            <a:r>
              <a:rPr lang="es-MX" sz="2400" kern="100" dirty="0">
                <a:effectLst/>
                <a:latin typeface="Calibri" panose="020F0502020204030204" pitchFamily="34" charset="0"/>
                <a:ea typeface="Aptos" panose="020B0004020202020204" pitchFamily="34" charset="0"/>
                <a:cs typeface="Times New Roman" panose="02020603050405020304" pitchFamily="18" charset="0"/>
              </a:rPr>
              <a:t>Una ruta estática flotante, con una distancia administrativa de 91 o superior, se puede configurar para que funcione como ruta de respaldo. Si el enlace WAN privado falla y la ruta EIGRP desaparece de la tabla de </a:t>
            </a:r>
            <a:r>
              <a:rPr lang="es-MX" sz="2400" kern="100" dirty="0" err="1">
                <a:effectLst/>
                <a:latin typeface="Calibri" panose="020F0502020204030204" pitchFamily="34" charset="0"/>
                <a:ea typeface="Aptos" panose="020B0004020202020204" pitchFamily="34" charset="0"/>
                <a:cs typeface="Times New Roman" panose="02020603050405020304" pitchFamily="18" charset="0"/>
              </a:rPr>
              <a:t>routing</a:t>
            </a:r>
            <a:r>
              <a:rPr lang="es-MX" sz="2400" kern="100" dirty="0">
                <a:effectLst/>
                <a:latin typeface="Calibri" panose="020F0502020204030204" pitchFamily="34" charset="0"/>
                <a:ea typeface="Aptos" panose="020B0004020202020204" pitchFamily="34" charset="0"/>
                <a:cs typeface="Times New Roman" panose="02020603050405020304" pitchFamily="18" charset="0"/>
              </a:rPr>
              <a:t>, el </a:t>
            </a:r>
            <a:r>
              <a:rPr lang="es-MX" sz="2400" kern="100" dirty="0" err="1">
                <a:effectLst/>
                <a:latin typeface="Calibri" panose="020F0502020204030204" pitchFamily="34" charset="0"/>
                <a:ea typeface="Aptos" panose="020B0004020202020204" pitchFamily="34" charset="0"/>
                <a:cs typeface="Times New Roman" panose="02020603050405020304" pitchFamily="18" charset="0"/>
              </a:rPr>
              <a:t>router</a:t>
            </a:r>
            <a:r>
              <a:rPr lang="es-MX" sz="2400" kern="100" dirty="0">
                <a:effectLst/>
                <a:latin typeface="Calibri" panose="020F0502020204030204" pitchFamily="34" charset="0"/>
                <a:ea typeface="Aptos" panose="020B0004020202020204" pitchFamily="34" charset="0"/>
                <a:cs typeface="Times New Roman" panose="02020603050405020304" pitchFamily="18" charset="0"/>
              </a:rPr>
              <a:t> selecciona la ruta estática flotante como la mejor ruta para alcanzar la LAN de la oficina central.</a:t>
            </a:r>
            <a:endParaRPr lang="es-MX" sz="24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6" name="CuadroTexto 5">
            <a:extLst>
              <a:ext uri="{FF2B5EF4-FFF2-40B4-BE49-F238E27FC236}">
                <a16:creationId xmlns:a16="http://schemas.microsoft.com/office/drawing/2014/main" id="{85866BD0-8479-C480-434C-5388BF7CE989}"/>
              </a:ext>
            </a:extLst>
          </p:cNvPr>
          <p:cNvSpPr txBox="1"/>
          <p:nvPr/>
        </p:nvSpPr>
        <p:spPr>
          <a:xfrm>
            <a:off x="8182627" y="2370109"/>
            <a:ext cx="3253636" cy="2308324"/>
          </a:xfrm>
          <a:prstGeom prst="rect">
            <a:avLst/>
          </a:prstGeom>
          <a:noFill/>
        </p:spPr>
        <p:txBody>
          <a:bodyPr wrap="square">
            <a:spAutoFit/>
          </a:bodyPr>
          <a:lstStyle/>
          <a:p>
            <a:r>
              <a:rPr lang="es-MX" sz="2400" kern="100" dirty="0">
                <a:effectLst/>
                <a:latin typeface="Calibri" panose="020F0502020204030204" pitchFamily="34" charset="0"/>
                <a:ea typeface="Aptos" panose="020B0004020202020204" pitchFamily="34" charset="0"/>
                <a:cs typeface="Times New Roman" panose="02020603050405020304" pitchFamily="18" charset="0"/>
              </a:rPr>
              <a:t>El </a:t>
            </a:r>
            <a:r>
              <a:rPr lang="es-MX" sz="2400" kern="100" dirty="0" err="1">
                <a:effectLst/>
                <a:latin typeface="Calibri" panose="020F0502020204030204" pitchFamily="34" charset="0"/>
                <a:ea typeface="Aptos" panose="020B0004020202020204" pitchFamily="34" charset="0"/>
                <a:cs typeface="Times New Roman" panose="02020603050405020304" pitchFamily="18" charset="0"/>
              </a:rPr>
              <a:t>router</a:t>
            </a:r>
            <a:r>
              <a:rPr lang="es-MX" sz="2400" kern="100" dirty="0">
                <a:effectLst/>
                <a:latin typeface="Calibri" panose="020F0502020204030204" pitchFamily="34" charset="0"/>
                <a:ea typeface="Aptos" panose="020B0004020202020204" pitchFamily="34" charset="0"/>
                <a:cs typeface="Times New Roman" panose="02020603050405020304" pitchFamily="18" charset="0"/>
              </a:rPr>
              <a:t> de la sucursal generalmente reenvía todo el tráfico al </a:t>
            </a:r>
            <a:r>
              <a:rPr lang="es-MX" sz="2400" kern="100" dirty="0" err="1">
                <a:effectLst/>
                <a:latin typeface="Calibri" panose="020F0502020204030204" pitchFamily="34" charset="0"/>
                <a:ea typeface="Aptos" panose="020B0004020202020204" pitchFamily="34" charset="0"/>
                <a:cs typeface="Times New Roman" panose="02020603050405020304" pitchFamily="18" charset="0"/>
              </a:rPr>
              <a:t>router</a:t>
            </a:r>
            <a:r>
              <a:rPr lang="es-MX" sz="2400" kern="100" dirty="0">
                <a:effectLst/>
                <a:latin typeface="Calibri" panose="020F0502020204030204" pitchFamily="34" charset="0"/>
                <a:ea typeface="Aptos" panose="020B0004020202020204" pitchFamily="34" charset="0"/>
                <a:cs typeface="Times New Roman" panose="02020603050405020304" pitchFamily="18" charset="0"/>
              </a:rPr>
              <a:t> de la oficina central (HQ) mediante el enlace WAN privado. </a:t>
            </a:r>
            <a:endParaRPr lang="es-MX" sz="2400" dirty="0"/>
          </a:p>
        </p:txBody>
      </p:sp>
    </p:spTree>
    <p:extLst>
      <p:ext uri="{BB962C8B-B14F-4D97-AF65-F5344CB8AC3E}">
        <p14:creationId xmlns:p14="http://schemas.microsoft.com/office/powerpoint/2010/main" val="17645375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B2C78DEB-FAE4-4B13-F57B-46133A60ED58}"/>
              </a:ext>
            </a:extLst>
          </p:cNvPr>
          <p:cNvPicPr>
            <a:picLocks noChangeAspect="1"/>
          </p:cNvPicPr>
          <p:nvPr/>
        </p:nvPicPr>
        <p:blipFill>
          <a:blip r:embed="rId2"/>
          <a:stretch>
            <a:fillRect/>
          </a:stretch>
        </p:blipFill>
        <p:spPr>
          <a:xfrm>
            <a:off x="911910" y="1219087"/>
            <a:ext cx="10567786" cy="4863661"/>
          </a:xfrm>
          <a:prstGeom prst="rect">
            <a:avLst/>
          </a:prstGeom>
        </p:spPr>
      </p:pic>
    </p:spTree>
    <p:extLst>
      <p:ext uri="{BB962C8B-B14F-4D97-AF65-F5344CB8AC3E}">
        <p14:creationId xmlns:p14="http://schemas.microsoft.com/office/powerpoint/2010/main" val="21235488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66252" y="587219"/>
            <a:ext cx="11226020" cy="4351448"/>
          </a:xfrm>
          <a:prstGeom prst="rect">
            <a:avLst/>
          </a:prstGeom>
        </p:spPr>
        <p:txBody>
          <a:bodyPr wrap="square">
            <a:spAutoFit/>
          </a:bodyPr>
          <a:lstStyle/>
          <a:p>
            <a:pPr>
              <a:lnSpc>
                <a:spcPct val="107000"/>
              </a:lnSpc>
              <a:spcAft>
                <a:spcPts val="800"/>
              </a:spcAft>
            </a:pPr>
            <a:r>
              <a:rPr lang="es-MX" sz="2400" b="1" dirty="0"/>
              <a:t>Protocolos de redundancia de primer salto.</a:t>
            </a:r>
          </a:p>
          <a:p>
            <a:pPr>
              <a:lnSpc>
                <a:spcPct val="107000"/>
              </a:lnSpc>
              <a:spcAft>
                <a:spcPts val="800"/>
              </a:spcAft>
            </a:pPr>
            <a:endParaRPr lang="es-MX" sz="2400" b="1" dirty="0"/>
          </a:p>
          <a:p>
            <a:pPr>
              <a:lnSpc>
                <a:spcPct val="107000"/>
              </a:lnSpc>
              <a:spcAft>
                <a:spcPts val="800"/>
              </a:spcAft>
            </a:pPr>
            <a:r>
              <a:rPr lang="es-MX" sz="2400" b="1" dirty="0"/>
              <a:t>Tabla de Contenido</a:t>
            </a:r>
          </a:p>
          <a:p>
            <a:pPr marL="914400" lvl="1" indent="-457200">
              <a:lnSpc>
                <a:spcPct val="107000"/>
              </a:lnSpc>
              <a:spcAft>
                <a:spcPts val="800"/>
              </a:spcAft>
              <a:buSzPct val="100000"/>
              <a:buFont typeface="+mj-lt"/>
              <a:buAutoNum type="arabicPeriod"/>
              <a:tabLst>
                <a:tab pos="457200" algn="l"/>
              </a:tabLst>
            </a:pPr>
            <a:r>
              <a:rPr lang="es-MX" sz="2400" b="1" dirty="0"/>
              <a:t>Limitaciones Puerta Enlace Predeterminada</a:t>
            </a:r>
          </a:p>
          <a:p>
            <a:pPr marL="914400" lvl="1" indent="-457200">
              <a:lnSpc>
                <a:spcPct val="107000"/>
              </a:lnSpc>
              <a:spcAft>
                <a:spcPts val="800"/>
              </a:spcAft>
              <a:buSzPct val="100000"/>
              <a:buFont typeface="+mj-lt"/>
              <a:buAutoNum type="arabicPeriod"/>
              <a:tabLst>
                <a:tab pos="457200" algn="l"/>
              </a:tabLst>
            </a:pPr>
            <a:r>
              <a:rPr lang="es-MX" sz="2400" b="1" dirty="0"/>
              <a:t>Redundancia del </a:t>
            </a:r>
            <a:r>
              <a:rPr lang="es-MX" sz="2400" b="1" dirty="0" err="1"/>
              <a:t>Router</a:t>
            </a:r>
            <a:endParaRPr lang="es-MX" sz="2400" b="1" dirty="0"/>
          </a:p>
          <a:p>
            <a:pPr marL="1535113" lvl="2" indent="-276225">
              <a:lnSpc>
                <a:spcPct val="107000"/>
              </a:lnSpc>
              <a:spcAft>
                <a:spcPts val="800"/>
              </a:spcAft>
              <a:buSzPct val="100000"/>
              <a:buFont typeface="Wingdings" panose="05000000000000000000" pitchFamily="2" charset="2"/>
              <a:buChar char="v"/>
              <a:tabLst>
                <a:tab pos="801688" algn="l"/>
                <a:tab pos="914400" algn="l"/>
              </a:tabLst>
            </a:pPr>
            <a:r>
              <a:rPr lang="es-MX" sz="2400" b="1" dirty="0"/>
              <a:t>	Reenvío de Tramas</a:t>
            </a:r>
          </a:p>
          <a:p>
            <a:pPr marL="914400" lvl="1" indent="-457200">
              <a:lnSpc>
                <a:spcPct val="107000"/>
              </a:lnSpc>
              <a:spcAft>
                <a:spcPts val="800"/>
              </a:spcAft>
              <a:buSzPct val="100000"/>
              <a:buFont typeface="+mj-lt"/>
              <a:buAutoNum type="arabicPeriod"/>
              <a:tabLst>
                <a:tab pos="457200" algn="l"/>
              </a:tabLst>
            </a:pPr>
            <a:r>
              <a:rPr lang="es-MX" sz="2400" b="1" dirty="0"/>
              <a:t>Pasos para Conmutación por Error del </a:t>
            </a:r>
            <a:r>
              <a:rPr lang="es-MX" sz="2400" b="1" dirty="0" err="1"/>
              <a:t>Router</a:t>
            </a:r>
            <a:endParaRPr lang="es-MX" sz="2400" b="1" dirty="0"/>
          </a:p>
          <a:p>
            <a:pPr marL="914400" lvl="1" indent="-457200">
              <a:lnSpc>
                <a:spcPct val="107000"/>
              </a:lnSpc>
              <a:spcAft>
                <a:spcPts val="800"/>
              </a:spcAft>
              <a:buSzPct val="100000"/>
              <a:buFont typeface="+mj-lt"/>
              <a:buAutoNum type="arabicPeriod"/>
              <a:tabLst>
                <a:tab pos="457200" algn="l"/>
              </a:tabLst>
            </a:pPr>
            <a:r>
              <a:rPr lang="es-MX" sz="2400" b="1" dirty="0"/>
              <a:t>Opciones de FHRP</a:t>
            </a:r>
          </a:p>
          <a:p>
            <a:pPr marL="342900" indent="-342900">
              <a:buFont typeface="+mj-lt"/>
              <a:buAutoNum type="arabicPeriod"/>
            </a:pPr>
            <a:endParaRPr lang="es-MX" b="1" dirty="0"/>
          </a:p>
        </p:txBody>
      </p:sp>
    </p:spTree>
    <p:extLst>
      <p:ext uri="{BB962C8B-B14F-4D97-AF65-F5344CB8AC3E}">
        <p14:creationId xmlns:p14="http://schemas.microsoft.com/office/powerpoint/2010/main" val="16118716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66252" y="587219"/>
            <a:ext cx="11226020" cy="5331781"/>
          </a:xfrm>
          <a:prstGeom prst="rect">
            <a:avLst/>
          </a:prstGeom>
        </p:spPr>
        <p:txBody>
          <a:bodyPr wrap="square">
            <a:spAutoFit/>
          </a:bodyPr>
          <a:lstStyle/>
          <a:p>
            <a:pPr>
              <a:lnSpc>
                <a:spcPct val="107000"/>
              </a:lnSpc>
              <a:spcAft>
                <a:spcPts val="800"/>
              </a:spcAft>
            </a:pPr>
            <a:r>
              <a:rPr lang="es-MX" sz="2400" b="1" dirty="0"/>
              <a:t>Limitaciones Puerta Enlace Predeterminada</a:t>
            </a:r>
          </a:p>
          <a:p>
            <a:pPr>
              <a:lnSpc>
                <a:spcPct val="107000"/>
              </a:lnSpc>
              <a:spcAft>
                <a:spcPts val="800"/>
              </a:spcAft>
            </a:pPr>
            <a:r>
              <a:rPr lang="es-MX" sz="2200" kern="100" dirty="0">
                <a:effectLst/>
                <a:latin typeface="Calibri" panose="020F0502020204030204" pitchFamily="34" charset="0"/>
                <a:ea typeface="Calibri" panose="020F0502020204030204" pitchFamily="34" charset="0"/>
                <a:cs typeface="Times New Roman" panose="02020603050405020304" pitchFamily="18" charset="0"/>
              </a:rPr>
              <a:t>Si falla un </a:t>
            </a:r>
            <a:r>
              <a:rPr lang="es-MX" sz="2200" kern="100" dirty="0" err="1">
                <a:effectLst/>
                <a:latin typeface="Calibri" panose="020F0502020204030204" pitchFamily="34" charset="0"/>
                <a:ea typeface="Calibri" panose="020F0502020204030204" pitchFamily="34" charset="0"/>
                <a:cs typeface="Times New Roman" panose="02020603050405020304" pitchFamily="18" charset="0"/>
              </a:rPr>
              <a:t>router</a:t>
            </a:r>
            <a:r>
              <a:rPr lang="es-MX" sz="2200" kern="100" dirty="0">
                <a:effectLst/>
                <a:latin typeface="Calibri" panose="020F0502020204030204" pitchFamily="34" charset="0"/>
                <a:ea typeface="Calibri" panose="020F0502020204030204" pitchFamily="34" charset="0"/>
                <a:cs typeface="Times New Roman" panose="02020603050405020304" pitchFamily="18" charset="0"/>
              </a:rPr>
              <a:t> o una interfaz del </a:t>
            </a:r>
            <a:r>
              <a:rPr lang="es-MX" sz="2200" kern="100" dirty="0" err="1">
                <a:effectLst/>
                <a:latin typeface="Calibri" panose="020F0502020204030204" pitchFamily="34" charset="0"/>
                <a:ea typeface="Calibri" panose="020F0502020204030204" pitchFamily="34" charset="0"/>
                <a:cs typeface="Times New Roman" panose="02020603050405020304" pitchFamily="18" charset="0"/>
              </a:rPr>
              <a:t>router</a:t>
            </a:r>
            <a:r>
              <a:rPr lang="es-MX" sz="2200" kern="100" dirty="0">
                <a:effectLst/>
                <a:latin typeface="Calibri" panose="020F0502020204030204" pitchFamily="34" charset="0"/>
                <a:ea typeface="Calibri" panose="020F0502020204030204" pitchFamily="34" charset="0"/>
                <a:cs typeface="Times New Roman" panose="02020603050405020304" pitchFamily="18" charset="0"/>
              </a:rPr>
              <a:t> (que funciona como </a:t>
            </a:r>
            <a:r>
              <a:rPr lang="es-MX" sz="2200" kern="100" dirty="0" err="1">
                <a:effectLst/>
                <a:latin typeface="Calibri" panose="020F0502020204030204" pitchFamily="34" charset="0"/>
                <a:ea typeface="Calibri" panose="020F0502020204030204" pitchFamily="34" charset="0"/>
                <a:cs typeface="Times New Roman" panose="02020603050405020304" pitchFamily="18" charset="0"/>
              </a:rPr>
              <a:t>gateway</a:t>
            </a:r>
            <a:r>
              <a:rPr lang="es-MX" sz="2200" kern="100" dirty="0">
                <a:effectLst/>
                <a:latin typeface="Calibri" panose="020F0502020204030204" pitchFamily="34" charset="0"/>
                <a:ea typeface="Calibri" panose="020F0502020204030204" pitchFamily="34" charset="0"/>
                <a:cs typeface="Times New Roman" panose="02020603050405020304" pitchFamily="18" charset="0"/>
              </a:rPr>
              <a:t>/puerta de enlace predeterminada), los hosts configurados con ese </a:t>
            </a:r>
            <a:r>
              <a:rPr lang="es-MX" sz="2200" kern="100" dirty="0" err="1">
                <a:effectLst/>
                <a:latin typeface="Calibri" panose="020F0502020204030204" pitchFamily="34" charset="0"/>
                <a:ea typeface="Calibri" panose="020F0502020204030204" pitchFamily="34" charset="0"/>
                <a:cs typeface="Times New Roman" panose="02020603050405020304" pitchFamily="18" charset="0"/>
              </a:rPr>
              <a:t>gateway</a:t>
            </a:r>
            <a:r>
              <a:rPr lang="es-MX" sz="2200" kern="100" dirty="0">
                <a:effectLst/>
                <a:latin typeface="Calibri" panose="020F0502020204030204" pitchFamily="34" charset="0"/>
                <a:ea typeface="Calibri" panose="020F0502020204030204" pitchFamily="34" charset="0"/>
                <a:cs typeface="Times New Roman" panose="02020603050405020304" pitchFamily="18" charset="0"/>
              </a:rPr>
              <a:t> predeterminado quedan aislados de las redes externas. </a:t>
            </a:r>
          </a:p>
          <a:p>
            <a:pPr>
              <a:lnSpc>
                <a:spcPct val="107000"/>
              </a:lnSpc>
              <a:spcAft>
                <a:spcPts val="800"/>
              </a:spcAft>
            </a:pPr>
            <a:endParaRPr lang="es-MX" sz="2200" kern="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s-MX" sz="2200" kern="100" dirty="0">
                <a:effectLst/>
                <a:latin typeface="Calibri" panose="020F0502020204030204" pitchFamily="34" charset="0"/>
                <a:ea typeface="Calibri" panose="020F0502020204030204" pitchFamily="34" charset="0"/>
                <a:cs typeface="Times New Roman" panose="02020603050405020304" pitchFamily="18" charset="0"/>
              </a:rPr>
              <a:t>Se necesita un mecanismo para proporcionar </a:t>
            </a:r>
            <a:r>
              <a:rPr lang="es-MX" sz="2200" kern="100" dirty="0" err="1">
                <a:effectLst/>
                <a:latin typeface="Calibri" panose="020F0502020204030204" pitchFamily="34" charset="0"/>
                <a:ea typeface="Calibri" panose="020F0502020204030204" pitchFamily="34" charset="0"/>
                <a:cs typeface="Times New Roman" panose="02020603050405020304" pitchFamily="18" charset="0"/>
              </a:rPr>
              <a:t>gateways</a:t>
            </a:r>
            <a:r>
              <a:rPr lang="es-MX" sz="2200" kern="100" dirty="0">
                <a:effectLst/>
                <a:latin typeface="Calibri" panose="020F0502020204030204" pitchFamily="34" charset="0"/>
                <a:ea typeface="Calibri" panose="020F0502020204030204" pitchFamily="34" charset="0"/>
                <a:cs typeface="Times New Roman" panose="02020603050405020304" pitchFamily="18" charset="0"/>
              </a:rPr>
              <a:t> predeterminados alternativos en las redes conmutadas donde hay dos o más </a:t>
            </a:r>
            <a:r>
              <a:rPr lang="es-MX" sz="2200" kern="100" dirty="0" err="1">
                <a:effectLst/>
                <a:latin typeface="Calibri" panose="020F0502020204030204" pitchFamily="34" charset="0"/>
                <a:ea typeface="Calibri" panose="020F0502020204030204" pitchFamily="34" charset="0"/>
                <a:cs typeface="Times New Roman" panose="02020603050405020304" pitchFamily="18" charset="0"/>
              </a:rPr>
              <a:t>routers</a:t>
            </a:r>
            <a:r>
              <a:rPr lang="es-MX" sz="2200" kern="100" dirty="0">
                <a:effectLst/>
                <a:latin typeface="Calibri" panose="020F0502020204030204" pitchFamily="34" charset="0"/>
                <a:ea typeface="Calibri" panose="020F0502020204030204" pitchFamily="34" charset="0"/>
                <a:cs typeface="Times New Roman" panose="02020603050405020304" pitchFamily="18" charset="0"/>
              </a:rPr>
              <a:t> conectados a las mismas VLAN. Este mecanismo es proporcionado por los </a:t>
            </a:r>
            <a:r>
              <a:rPr lang="es-MX" sz="2200" b="1" kern="100" dirty="0">
                <a:effectLst/>
                <a:latin typeface="Calibri" panose="020F0502020204030204" pitchFamily="34" charset="0"/>
                <a:ea typeface="Calibri" panose="020F0502020204030204" pitchFamily="34" charset="0"/>
                <a:cs typeface="Times New Roman" panose="02020603050405020304" pitchFamily="18" charset="0"/>
              </a:rPr>
              <a:t>protocolos de redundancia de primer salto </a:t>
            </a:r>
            <a:r>
              <a:rPr lang="es-MX" sz="2200" kern="100" dirty="0">
                <a:effectLst/>
                <a:latin typeface="Calibri" panose="020F0502020204030204" pitchFamily="34" charset="0"/>
                <a:ea typeface="Calibri" panose="020F0502020204030204" pitchFamily="34" charset="0"/>
                <a:cs typeface="Times New Roman" panose="02020603050405020304" pitchFamily="18" charset="0"/>
              </a:rPr>
              <a:t>(</a:t>
            </a:r>
            <a:r>
              <a:rPr lang="es-MX" sz="2200" kern="100" dirty="0" err="1">
                <a:effectLst/>
                <a:latin typeface="Calibri" panose="020F0502020204030204" pitchFamily="34" charset="0"/>
                <a:ea typeface="Calibri" panose="020F0502020204030204" pitchFamily="34" charset="0"/>
                <a:cs typeface="Times New Roman" panose="02020603050405020304" pitchFamily="18" charset="0"/>
              </a:rPr>
              <a:t>First</a:t>
            </a:r>
            <a:r>
              <a:rPr lang="es-MX" sz="2200" kern="100" dirty="0">
                <a:effectLst/>
                <a:latin typeface="Calibri" panose="020F0502020204030204" pitchFamily="34" charset="0"/>
                <a:ea typeface="Calibri" panose="020F0502020204030204" pitchFamily="34" charset="0"/>
                <a:cs typeface="Times New Roman" panose="02020603050405020304" pitchFamily="18" charset="0"/>
              </a:rPr>
              <a:t> hop </a:t>
            </a:r>
            <a:r>
              <a:rPr lang="es-MX" sz="2200" kern="100" dirty="0" err="1">
                <a:effectLst/>
                <a:latin typeface="Calibri" panose="020F0502020204030204" pitchFamily="34" charset="0"/>
                <a:ea typeface="Calibri" panose="020F0502020204030204" pitchFamily="34" charset="0"/>
                <a:cs typeface="Times New Roman" panose="02020603050405020304" pitchFamily="18" charset="0"/>
              </a:rPr>
              <a:t>redundancy</a:t>
            </a:r>
            <a:r>
              <a:rPr lang="es-MX" sz="2200" kern="100" dirty="0">
                <a:effectLst/>
                <a:latin typeface="Calibri" panose="020F0502020204030204" pitchFamily="34" charset="0"/>
                <a:ea typeface="Calibri" panose="020F0502020204030204" pitchFamily="34" charset="0"/>
                <a:cs typeface="Times New Roman" panose="02020603050405020304" pitchFamily="18" charset="0"/>
              </a:rPr>
              <a:t> </a:t>
            </a:r>
            <a:r>
              <a:rPr lang="es-MX" sz="2200" kern="100" dirty="0" err="1">
                <a:effectLst/>
                <a:latin typeface="Calibri" panose="020F0502020204030204" pitchFamily="34" charset="0"/>
                <a:ea typeface="Calibri" panose="020F0502020204030204" pitchFamily="34" charset="0"/>
                <a:cs typeface="Times New Roman" panose="02020603050405020304" pitchFamily="18" charset="0"/>
              </a:rPr>
              <a:t>prptocols</a:t>
            </a:r>
            <a:r>
              <a:rPr lang="es-MX" sz="2200" kern="100" dirty="0">
                <a:latin typeface="Calibri" panose="020F0502020204030204" pitchFamily="34" charset="0"/>
                <a:ea typeface="Calibri" panose="020F0502020204030204" pitchFamily="34" charset="0"/>
                <a:cs typeface="Times New Roman" panose="02020603050405020304" pitchFamily="18" charset="0"/>
              </a:rPr>
              <a:t> - </a:t>
            </a:r>
            <a:r>
              <a:rPr lang="es-MX" sz="2200" b="1" kern="100" dirty="0">
                <a:effectLst/>
                <a:latin typeface="Calibri" panose="020F0502020204030204" pitchFamily="34" charset="0"/>
                <a:ea typeface="Calibri" panose="020F0502020204030204" pitchFamily="34" charset="0"/>
                <a:cs typeface="Times New Roman" panose="02020603050405020304" pitchFamily="18" charset="0"/>
              </a:rPr>
              <a:t>FHRP</a:t>
            </a:r>
            <a:r>
              <a:rPr lang="es-MX" sz="2200" kern="100" dirty="0">
                <a:effectLst/>
                <a:latin typeface="Calibri" panose="020F0502020204030204" pitchFamily="34" charset="0"/>
                <a:ea typeface="Calibri" panose="020F0502020204030204" pitchFamily="34" charset="0"/>
                <a:cs typeface="Times New Roman" panose="02020603050405020304" pitchFamily="18" charset="0"/>
              </a:rPr>
              <a:t>).</a:t>
            </a:r>
          </a:p>
          <a:p>
            <a:pPr>
              <a:lnSpc>
                <a:spcPct val="107000"/>
              </a:lnSpc>
              <a:spcAft>
                <a:spcPts val="800"/>
              </a:spcAft>
            </a:pPr>
            <a:endParaRPr lang="es-MX" sz="22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s-MX" sz="2200" kern="100" dirty="0">
                <a:effectLst/>
                <a:latin typeface="Calibri" panose="020F0502020204030204" pitchFamily="34" charset="0"/>
                <a:ea typeface="Calibri" panose="020F0502020204030204" pitchFamily="34" charset="0"/>
                <a:cs typeface="Times New Roman" panose="02020603050405020304" pitchFamily="18" charset="0"/>
              </a:rPr>
              <a:t>En una red conmutada, cada cliente recibe solo un </a:t>
            </a:r>
            <a:r>
              <a:rPr lang="es-MX" sz="2200" kern="100" dirty="0" err="1">
                <a:effectLst/>
                <a:latin typeface="Calibri" panose="020F0502020204030204" pitchFamily="34" charset="0"/>
                <a:ea typeface="Calibri" panose="020F0502020204030204" pitchFamily="34" charset="0"/>
                <a:cs typeface="Times New Roman" panose="02020603050405020304" pitchFamily="18" charset="0"/>
              </a:rPr>
              <a:t>gateway</a:t>
            </a:r>
            <a:r>
              <a:rPr lang="es-MX" sz="2200" kern="100" dirty="0">
                <a:effectLst/>
                <a:latin typeface="Calibri" panose="020F0502020204030204" pitchFamily="34" charset="0"/>
                <a:ea typeface="Calibri" panose="020F0502020204030204" pitchFamily="34" charset="0"/>
                <a:cs typeface="Times New Roman" panose="02020603050405020304" pitchFamily="18" charset="0"/>
              </a:rPr>
              <a:t> predeterminado. No hay forma de usar un </a:t>
            </a:r>
            <a:r>
              <a:rPr lang="es-MX" sz="2200" kern="100" dirty="0" err="1">
                <a:effectLst/>
                <a:latin typeface="Calibri" panose="020F0502020204030204" pitchFamily="34" charset="0"/>
                <a:ea typeface="Calibri" panose="020F0502020204030204" pitchFamily="34" charset="0"/>
                <a:cs typeface="Times New Roman" panose="02020603050405020304" pitchFamily="18" charset="0"/>
              </a:rPr>
              <a:t>gateway</a:t>
            </a:r>
            <a:r>
              <a:rPr lang="es-MX" sz="2200" kern="100" dirty="0">
                <a:effectLst/>
                <a:latin typeface="Calibri" panose="020F0502020204030204" pitchFamily="34" charset="0"/>
                <a:ea typeface="Calibri" panose="020F0502020204030204" pitchFamily="34" charset="0"/>
                <a:cs typeface="Times New Roman" panose="02020603050405020304" pitchFamily="18" charset="0"/>
              </a:rPr>
              <a:t> secundario, incluso si existe una segunda ruta que transporte paquetes fuera del segmento local.</a:t>
            </a:r>
          </a:p>
        </p:txBody>
      </p:sp>
    </p:spTree>
    <p:extLst>
      <p:ext uri="{BB962C8B-B14F-4D97-AF65-F5344CB8AC3E}">
        <p14:creationId xmlns:p14="http://schemas.microsoft.com/office/powerpoint/2010/main" val="19683769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06094" y="346588"/>
            <a:ext cx="10004969" cy="798104"/>
          </a:xfrm>
          <a:prstGeom prst="rect">
            <a:avLst/>
          </a:prstGeom>
        </p:spPr>
        <p:txBody>
          <a:bodyPr wrap="square">
            <a:spAutoFit/>
          </a:bodyPr>
          <a:lstStyle/>
          <a:p>
            <a:pPr>
              <a:lnSpc>
                <a:spcPct val="107000"/>
              </a:lnSpc>
              <a:spcAft>
                <a:spcPts val="800"/>
              </a:spcAft>
            </a:pPr>
            <a:r>
              <a:rPr lang="es-MX" sz="2200" kern="100" dirty="0">
                <a:effectLst/>
                <a:latin typeface="Calibri" panose="020F0502020204030204" pitchFamily="34" charset="0"/>
                <a:ea typeface="Calibri" panose="020F0502020204030204" pitchFamily="34" charset="0"/>
                <a:cs typeface="Times New Roman" panose="02020603050405020304" pitchFamily="18" charset="0"/>
              </a:rPr>
              <a:t>En la figura, el R1 es el responsable de enrutar los paquetes de la PC1. Si el R1 deja de estar disponible, los protocolos de </a:t>
            </a:r>
            <a:r>
              <a:rPr lang="es-MX" sz="2200" kern="100" dirty="0" err="1">
                <a:effectLst/>
                <a:latin typeface="Calibri" panose="020F0502020204030204" pitchFamily="34" charset="0"/>
                <a:ea typeface="Calibri" panose="020F0502020204030204" pitchFamily="34" charset="0"/>
                <a:cs typeface="Times New Roman" panose="02020603050405020304" pitchFamily="18" charset="0"/>
              </a:rPr>
              <a:t>routing</a:t>
            </a:r>
            <a:r>
              <a:rPr lang="es-MX" sz="2200" kern="100" dirty="0">
                <a:effectLst/>
                <a:latin typeface="Calibri" panose="020F0502020204030204" pitchFamily="34" charset="0"/>
                <a:ea typeface="Calibri" panose="020F0502020204030204" pitchFamily="34" charset="0"/>
                <a:cs typeface="Times New Roman" panose="02020603050405020304" pitchFamily="18" charset="0"/>
              </a:rPr>
              <a:t> pueden converger de forma dinámica. </a:t>
            </a:r>
            <a:endParaRPr lang="es-MX" b="1" dirty="0"/>
          </a:p>
        </p:txBody>
      </p:sp>
      <p:pic>
        <p:nvPicPr>
          <p:cNvPr id="3" name="Imagen 2" descr="Limitaciones Gateway Predeterminado">
            <a:hlinkClick r:id="rId2"/>
            <a:extLst>
              <a:ext uri="{FF2B5EF4-FFF2-40B4-BE49-F238E27FC236}">
                <a16:creationId xmlns:a16="http://schemas.microsoft.com/office/drawing/2014/main" id="{EC57BDB9-7205-5B22-2221-75468C1013B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455229" y="1714178"/>
            <a:ext cx="5612130" cy="4676775"/>
          </a:xfrm>
          <a:prstGeom prst="rect">
            <a:avLst/>
          </a:prstGeom>
          <a:noFill/>
          <a:ln>
            <a:noFill/>
          </a:ln>
        </p:spPr>
      </p:pic>
      <p:sp>
        <p:nvSpPr>
          <p:cNvPr id="5" name="CuadroTexto 4">
            <a:extLst>
              <a:ext uri="{FF2B5EF4-FFF2-40B4-BE49-F238E27FC236}">
                <a16:creationId xmlns:a16="http://schemas.microsoft.com/office/drawing/2014/main" id="{7DDB4C83-03F0-6528-E782-D0FE4484A522}"/>
              </a:ext>
            </a:extLst>
          </p:cNvPr>
          <p:cNvSpPr txBox="1"/>
          <p:nvPr/>
        </p:nvSpPr>
        <p:spPr>
          <a:xfrm>
            <a:off x="337329" y="1410603"/>
            <a:ext cx="5921957" cy="3644587"/>
          </a:xfrm>
          <a:prstGeom prst="rect">
            <a:avLst/>
          </a:prstGeom>
          <a:noFill/>
        </p:spPr>
        <p:txBody>
          <a:bodyPr wrap="square">
            <a:spAutoFit/>
          </a:bodyPr>
          <a:lstStyle/>
          <a:p>
            <a:pPr>
              <a:lnSpc>
                <a:spcPct val="107000"/>
              </a:lnSpc>
              <a:spcAft>
                <a:spcPts val="800"/>
              </a:spcAft>
            </a:pPr>
            <a:r>
              <a:rPr lang="es-MX" sz="2200" kern="100" dirty="0">
                <a:latin typeface="Calibri" panose="020F0502020204030204" pitchFamily="34" charset="0"/>
                <a:ea typeface="Calibri" panose="020F0502020204030204" pitchFamily="34" charset="0"/>
                <a:cs typeface="Times New Roman" panose="02020603050405020304" pitchFamily="18" charset="0"/>
              </a:rPr>
              <a:t>Ahora, el R2 enruta paquetes de redes externas que habrían pasado por el R1. </a:t>
            </a:r>
          </a:p>
          <a:p>
            <a:pPr>
              <a:lnSpc>
                <a:spcPct val="107000"/>
              </a:lnSpc>
              <a:spcAft>
                <a:spcPts val="800"/>
              </a:spcAft>
            </a:pPr>
            <a:r>
              <a:rPr lang="es-MX" sz="2200" kern="100" dirty="0">
                <a:latin typeface="Calibri" panose="020F0502020204030204" pitchFamily="34" charset="0"/>
                <a:ea typeface="Calibri" panose="020F0502020204030204" pitchFamily="34" charset="0"/>
                <a:cs typeface="Times New Roman" panose="02020603050405020304" pitchFamily="18" charset="0"/>
              </a:rPr>
              <a:t>Sin embargo, el tráfico de la red interna asociado al R1, incluido el tráfico de las estaciones de trabajo, de los servidores y de las impresoras que se configuraron con el R1 como </a:t>
            </a:r>
            <a:r>
              <a:rPr lang="es-MX" sz="2200" kern="100" dirty="0" err="1">
                <a:latin typeface="Calibri" panose="020F0502020204030204" pitchFamily="34" charset="0"/>
                <a:ea typeface="Calibri" panose="020F0502020204030204" pitchFamily="34" charset="0"/>
                <a:cs typeface="Times New Roman" panose="02020603050405020304" pitchFamily="18" charset="0"/>
              </a:rPr>
              <a:t>gateway</a:t>
            </a:r>
            <a:r>
              <a:rPr lang="es-MX" sz="2200" kern="100" dirty="0">
                <a:latin typeface="Calibri" panose="020F0502020204030204" pitchFamily="34" charset="0"/>
                <a:ea typeface="Calibri" panose="020F0502020204030204" pitchFamily="34" charset="0"/>
                <a:cs typeface="Times New Roman" panose="02020603050405020304" pitchFamily="18" charset="0"/>
              </a:rPr>
              <a:t> predeterminado, aún se envía al R1 y se descarta.</a:t>
            </a:r>
          </a:p>
          <a:p>
            <a:pPr>
              <a:lnSpc>
                <a:spcPct val="107000"/>
              </a:lnSpc>
              <a:spcAft>
                <a:spcPts val="800"/>
              </a:spcAft>
            </a:pPr>
            <a:endParaRPr lang="es-MX" sz="2200" kern="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es-MX" sz="2200" kern="1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2018302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470958" y="743249"/>
            <a:ext cx="6134379" cy="6114751"/>
          </a:xfrm>
          <a:prstGeom prst="rect">
            <a:avLst/>
          </a:prstGeom>
        </p:spPr>
        <p:txBody>
          <a:bodyPr wrap="square">
            <a:spAutoFit/>
          </a:bodyPr>
          <a:lstStyle/>
          <a:p>
            <a:pPr>
              <a:lnSpc>
                <a:spcPct val="107000"/>
              </a:lnSpc>
              <a:spcAft>
                <a:spcPts val="800"/>
              </a:spcAft>
            </a:pPr>
            <a:r>
              <a:rPr lang="es-MX" sz="2200" b="1" kern="100" dirty="0">
                <a:latin typeface="Calibri" panose="020F0502020204030204" pitchFamily="34" charset="0"/>
                <a:ea typeface="Calibri" panose="020F0502020204030204" pitchFamily="34" charset="0"/>
                <a:cs typeface="Times New Roman" panose="02020603050405020304" pitchFamily="18" charset="0"/>
              </a:rPr>
              <a:t>Limitaciones Gateway Predeterminado</a:t>
            </a:r>
          </a:p>
          <a:p>
            <a:pPr>
              <a:lnSpc>
                <a:spcPct val="107000"/>
              </a:lnSpc>
              <a:spcAft>
                <a:spcPts val="800"/>
              </a:spcAft>
            </a:pPr>
            <a:endParaRPr lang="es-MX" sz="2200" b="1" kern="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s-MX" sz="2000" kern="100" dirty="0">
                <a:effectLst/>
                <a:latin typeface="Calibri" panose="020F0502020204030204" pitchFamily="34" charset="0"/>
                <a:ea typeface="Calibri" panose="020F0502020204030204" pitchFamily="34" charset="0"/>
                <a:cs typeface="Times New Roman" panose="02020603050405020304" pitchFamily="18" charset="0"/>
              </a:rPr>
              <a:t>PC1 no puede alcanzar la puerta de enlace predeterminada.</a:t>
            </a:r>
          </a:p>
          <a:p>
            <a:pPr>
              <a:lnSpc>
                <a:spcPct val="107000"/>
              </a:lnSpc>
              <a:spcAft>
                <a:spcPts val="800"/>
              </a:spcAft>
            </a:pPr>
            <a:r>
              <a:rPr lang="es-MX" sz="2000" kern="100" dirty="0">
                <a:effectLst/>
                <a:latin typeface="Calibri" panose="020F0502020204030204" pitchFamily="34" charset="0"/>
                <a:ea typeface="Calibri" panose="020F0502020204030204" pitchFamily="34" charset="0"/>
                <a:cs typeface="Times New Roman" panose="02020603050405020304" pitchFamily="18" charset="0"/>
              </a:rPr>
              <a:t>Por lo general, los dispositivos finales o terminales se configuran con una única dirección IPv4 para un </a:t>
            </a:r>
            <a:r>
              <a:rPr lang="es-MX" sz="2000" kern="100" dirty="0" err="1">
                <a:effectLst/>
                <a:latin typeface="Calibri" panose="020F0502020204030204" pitchFamily="34" charset="0"/>
                <a:ea typeface="Calibri" panose="020F0502020204030204" pitchFamily="34" charset="0"/>
                <a:cs typeface="Times New Roman" panose="02020603050405020304" pitchFamily="18" charset="0"/>
              </a:rPr>
              <a:t>gateway</a:t>
            </a:r>
            <a:r>
              <a:rPr lang="es-MX" sz="2000" kern="100" dirty="0">
                <a:effectLst/>
                <a:latin typeface="Calibri" panose="020F0502020204030204" pitchFamily="34" charset="0"/>
                <a:ea typeface="Calibri" panose="020F0502020204030204" pitchFamily="34" charset="0"/>
                <a:cs typeface="Times New Roman" panose="02020603050405020304" pitchFamily="18" charset="0"/>
              </a:rPr>
              <a:t> predeterminado. Esta dirección no se modifica cuando cambia la topología de la red. Si no se puede llegar a esa dirección IPv4 de </a:t>
            </a:r>
            <a:r>
              <a:rPr lang="es-MX" sz="2000" kern="100" dirty="0" err="1">
                <a:effectLst/>
                <a:latin typeface="Calibri" panose="020F0502020204030204" pitchFamily="34" charset="0"/>
                <a:ea typeface="Calibri" panose="020F0502020204030204" pitchFamily="34" charset="0"/>
                <a:cs typeface="Times New Roman" panose="02020603050405020304" pitchFamily="18" charset="0"/>
              </a:rPr>
              <a:t>gateway</a:t>
            </a:r>
            <a:r>
              <a:rPr lang="es-MX" sz="2000" kern="100" dirty="0">
                <a:effectLst/>
                <a:latin typeface="Calibri" panose="020F0502020204030204" pitchFamily="34" charset="0"/>
                <a:ea typeface="Calibri" panose="020F0502020204030204" pitchFamily="34" charset="0"/>
                <a:cs typeface="Times New Roman" panose="02020603050405020304" pitchFamily="18" charset="0"/>
              </a:rPr>
              <a:t> predeterminado, el dispositivo local no puede enviar paquetes fuera del segmento de red local, lo que lo desconecta completamente de las demás redes. Aunque exista un </a:t>
            </a:r>
            <a:r>
              <a:rPr lang="es-MX" sz="2000" kern="100" dirty="0" err="1">
                <a:effectLst/>
                <a:latin typeface="Calibri" panose="020F0502020204030204" pitchFamily="34" charset="0"/>
                <a:ea typeface="Calibri" panose="020F0502020204030204" pitchFamily="34" charset="0"/>
                <a:cs typeface="Times New Roman" panose="02020603050405020304" pitchFamily="18" charset="0"/>
              </a:rPr>
              <a:t>router</a:t>
            </a:r>
            <a:r>
              <a:rPr lang="es-MX" sz="2000" kern="100" dirty="0">
                <a:effectLst/>
                <a:latin typeface="Calibri" panose="020F0502020204030204" pitchFamily="34" charset="0"/>
                <a:ea typeface="Calibri" panose="020F0502020204030204" pitchFamily="34" charset="0"/>
                <a:cs typeface="Times New Roman" panose="02020603050405020304" pitchFamily="18" charset="0"/>
              </a:rPr>
              <a:t> redundante que sirva como puerta de enlace predeterminada para ese segmento, no hay un método dinámico para que estos dispositivos puedan determinar la dirección de una nueva puerta de enlace predeterminada.</a:t>
            </a:r>
          </a:p>
          <a:p>
            <a:pPr marL="342900" indent="-342900">
              <a:buFont typeface="+mj-lt"/>
              <a:buAutoNum type="arabicPeriod"/>
            </a:pPr>
            <a:endParaRPr lang="es-MX" b="1" dirty="0"/>
          </a:p>
        </p:txBody>
      </p:sp>
      <p:pic>
        <p:nvPicPr>
          <p:cNvPr id="3" name="Imagen 2" descr="Limitaciones Gateway Predeterminado">
            <a:hlinkClick r:id="rId2"/>
            <a:extLst>
              <a:ext uri="{FF2B5EF4-FFF2-40B4-BE49-F238E27FC236}">
                <a16:creationId xmlns:a16="http://schemas.microsoft.com/office/drawing/2014/main" id="{029278EF-E32A-7BCA-9CFE-05C4FA07802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713621" y="1716889"/>
            <a:ext cx="5277434" cy="4397862"/>
          </a:xfrm>
          <a:prstGeom prst="rect">
            <a:avLst/>
          </a:prstGeom>
          <a:noFill/>
          <a:ln>
            <a:noFill/>
          </a:ln>
        </p:spPr>
      </p:pic>
    </p:spTree>
    <p:extLst>
      <p:ext uri="{BB962C8B-B14F-4D97-AF65-F5344CB8AC3E}">
        <p14:creationId xmlns:p14="http://schemas.microsoft.com/office/powerpoint/2010/main" val="10497657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CF6098BB-45A5-E7FF-C0E0-2E4D42DC67A3}"/>
              </a:ext>
            </a:extLst>
          </p:cNvPr>
          <p:cNvSpPr txBox="1"/>
          <p:nvPr/>
        </p:nvSpPr>
        <p:spPr>
          <a:xfrm>
            <a:off x="565055" y="512815"/>
            <a:ext cx="4910459" cy="5698996"/>
          </a:xfrm>
          <a:prstGeom prst="rect">
            <a:avLst/>
          </a:prstGeom>
          <a:noFill/>
        </p:spPr>
        <p:txBody>
          <a:bodyPr wrap="square">
            <a:spAutoFit/>
          </a:bodyPr>
          <a:lstStyle/>
          <a:p>
            <a:pPr>
              <a:lnSpc>
                <a:spcPct val="107000"/>
              </a:lnSpc>
              <a:spcAft>
                <a:spcPts val="800"/>
              </a:spcAft>
            </a:pPr>
            <a:r>
              <a:rPr lang="es-MX" sz="2200" b="1" kern="100" dirty="0">
                <a:latin typeface="Calibri" panose="020F0502020204030204" pitchFamily="34" charset="0"/>
                <a:ea typeface="Calibri" panose="020F0502020204030204" pitchFamily="34" charset="0"/>
                <a:cs typeface="Times New Roman" panose="02020603050405020304" pitchFamily="18" charset="0"/>
              </a:rPr>
              <a:t>2. Redundancia del </a:t>
            </a:r>
            <a:r>
              <a:rPr lang="es-MX" sz="2200" b="1" kern="100" dirty="0" err="1">
                <a:latin typeface="Calibri" panose="020F0502020204030204" pitchFamily="34" charset="0"/>
                <a:ea typeface="Calibri" panose="020F0502020204030204" pitchFamily="34" charset="0"/>
                <a:cs typeface="Times New Roman" panose="02020603050405020304" pitchFamily="18" charset="0"/>
              </a:rPr>
              <a:t>Router</a:t>
            </a:r>
            <a:endParaRPr lang="es-MX" sz="2200" b="1" kern="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es-MX" sz="2200" b="1" kern="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s-MX" sz="2000" kern="100" dirty="0">
                <a:effectLst/>
                <a:latin typeface="Calibri" panose="020F0502020204030204" pitchFamily="34" charset="0"/>
                <a:ea typeface="Calibri" panose="020F0502020204030204" pitchFamily="34" charset="0"/>
                <a:cs typeface="Times New Roman" panose="02020603050405020304" pitchFamily="18" charset="0"/>
              </a:rPr>
              <a:t>Una forma de evitar un único punto de falla en el </a:t>
            </a:r>
            <a:r>
              <a:rPr lang="es-MX" sz="2000" kern="100" dirty="0" err="1">
                <a:effectLst/>
                <a:latin typeface="Calibri" panose="020F0502020204030204" pitchFamily="34" charset="0"/>
                <a:ea typeface="Calibri" panose="020F0502020204030204" pitchFamily="34" charset="0"/>
                <a:cs typeface="Times New Roman" panose="02020603050405020304" pitchFamily="18" charset="0"/>
              </a:rPr>
              <a:t>gateway</a:t>
            </a:r>
            <a:r>
              <a:rPr lang="es-MX" sz="2000" kern="100" dirty="0">
                <a:effectLst/>
                <a:latin typeface="Calibri" panose="020F0502020204030204" pitchFamily="34" charset="0"/>
                <a:ea typeface="Calibri" panose="020F0502020204030204" pitchFamily="34" charset="0"/>
                <a:cs typeface="Times New Roman" panose="02020603050405020304" pitchFamily="18" charset="0"/>
              </a:rPr>
              <a:t> predeterminado es implementar un </a:t>
            </a:r>
            <a:r>
              <a:rPr lang="es-MX" sz="2000" kern="100" dirty="0" err="1">
                <a:effectLst/>
                <a:latin typeface="Calibri" panose="020F0502020204030204" pitchFamily="34" charset="0"/>
                <a:ea typeface="Calibri" panose="020F0502020204030204" pitchFamily="34" charset="0"/>
                <a:cs typeface="Times New Roman" panose="02020603050405020304" pitchFamily="18" charset="0"/>
              </a:rPr>
              <a:t>router</a:t>
            </a:r>
            <a:r>
              <a:rPr lang="es-MX" sz="2000" kern="100" dirty="0">
                <a:effectLst/>
                <a:latin typeface="Calibri" panose="020F0502020204030204" pitchFamily="34" charset="0"/>
                <a:ea typeface="Calibri" panose="020F0502020204030204" pitchFamily="34" charset="0"/>
                <a:cs typeface="Times New Roman" panose="02020603050405020304" pitchFamily="18" charset="0"/>
              </a:rPr>
              <a:t> virtual. </a:t>
            </a:r>
          </a:p>
          <a:p>
            <a:pPr>
              <a:lnSpc>
                <a:spcPct val="107000"/>
              </a:lnSpc>
              <a:spcAft>
                <a:spcPts val="800"/>
              </a:spcAft>
            </a:pPr>
            <a:endParaRPr lang="es-MX" sz="2000" kern="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s-MX" sz="2000" kern="100" dirty="0">
                <a:effectLst/>
                <a:latin typeface="Calibri" panose="020F0502020204030204" pitchFamily="34" charset="0"/>
                <a:ea typeface="Calibri" panose="020F0502020204030204" pitchFamily="34" charset="0"/>
                <a:cs typeface="Times New Roman" panose="02020603050405020304" pitchFamily="18" charset="0"/>
              </a:rPr>
              <a:t>Como se muestra en la figura, para implementar este tipo de redundancia de </a:t>
            </a:r>
            <a:r>
              <a:rPr lang="es-MX" sz="2000" kern="100" dirty="0" err="1">
                <a:effectLst/>
                <a:latin typeface="Calibri" panose="020F0502020204030204" pitchFamily="34" charset="0"/>
                <a:ea typeface="Calibri" panose="020F0502020204030204" pitchFamily="34" charset="0"/>
                <a:cs typeface="Times New Roman" panose="02020603050405020304" pitchFamily="18" charset="0"/>
              </a:rPr>
              <a:t>router</a:t>
            </a:r>
            <a:r>
              <a:rPr lang="es-MX" sz="2000" kern="100" dirty="0">
                <a:effectLst/>
                <a:latin typeface="Calibri" panose="020F0502020204030204" pitchFamily="34" charset="0"/>
                <a:ea typeface="Calibri" panose="020F0502020204030204" pitchFamily="34" charset="0"/>
                <a:cs typeface="Times New Roman" panose="02020603050405020304" pitchFamily="18" charset="0"/>
              </a:rPr>
              <a:t>, se configuran varios </a:t>
            </a:r>
            <a:r>
              <a:rPr lang="es-MX" sz="2000" kern="100" dirty="0" err="1">
                <a:effectLst/>
                <a:latin typeface="Calibri" panose="020F0502020204030204" pitchFamily="34" charset="0"/>
                <a:ea typeface="Calibri" panose="020F0502020204030204" pitchFamily="34" charset="0"/>
                <a:cs typeface="Times New Roman" panose="02020603050405020304" pitchFamily="18" charset="0"/>
              </a:rPr>
              <a:t>routers</a:t>
            </a:r>
            <a:r>
              <a:rPr lang="es-MX" sz="2000" kern="100" dirty="0">
                <a:effectLst/>
                <a:latin typeface="Calibri" panose="020F0502020204030204" pitchFamily="34" charset="0"/>
                <a:ea typeface="Calibri" panose="020F0502020204030204" pitchFamily="34" charset="0"/>
                <a:cs typeface="Times New Roman" panose="02020603050405020304" pitchFamily="18" charset="0"/>
              </a:rPr>
              <a:t> para que funcionen juntos y así dar la sensación de que hay un único </a:t>
            </a:r>
            <a:r>
              <a:rPr lang="es-MX" sz="2000" kern="100" dirty="0" err="1">
                <a:effectLst/>
                <a:latin typeface="Calibri" panose="020F0502020204030204" pitchFamily="34" charset="0"/>
                <a:ea typeface="Calibri" panose="020F0502020204030204" pitchFamily="34" charset="0"/>
                <a:cs typeface="Times New Roman" panose="02020603050405020304" pitchFamily="18" charset="0"/>
              </a:rPr>
              <a:t>router</a:t>
            </a:r>
            <a:r>
              <a:rPr lang="es-MX" sz="2000" kern="100" dirty="0">
                <a:effectLst/>
                <a:latin typeface="Calibri" panose="020F0502020204030204" pitchFamily="34" charset="0"/>
                <a:ea typeface="Calibri" panose="020F0502020204030204" pitchFamily="34" charset="0"/>
                <a:cs typeface="Times New Roman" panose="02020603050405020304" pitchFamily="18" charset="0"/>
              </a:rPr>
              <a:t> a los hosts en la LAN. </a:t>
            </a:r>
          </a:p>
          <a:p>
            <a:pPr>
              <a:lnSpc>
                <a:spcPct val="107000"/>
              </a:lnSpc>
              <a:spcAft>
                <a:spcPts val="800"/>
              </a:spcAft>
            </a:pPr>
            <a:endParaRPr lang="es-MX" sz="2000" kern="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s-MX" sz="2000" kern="100" dirty="0">
                <a:effectLst/>
                <a:latin typeface="Calibri" panose="020F0502020204030204" pitchFamily="34" charset="0"/>
                <a:ea typeface="Calibri" panose="020F0502020204030204" pitchFamily="34" charset="0"/>
                <a:cs typeface="Times New Roman" panose="02020603050405020304" pitchFamily="18" charset="0"/>
              </a:rPr>
              <a:t>Al compartir una dirección IP y una dirección MAC, dos o más </a:t>
            </a:r>
            <a:r>
              <a:rPr lang="es-MX" sz="2000" kern="100" dirty="0" err="1">
                <a:effectLst/>
                <a:latin typeface="Calibri" panose="020F0502020204030204" pitchFamily="34" charset="0"/>
                <a:ea typeface="Calibri" panose="020F0502020204030204" pitchFamily="34" charset="0"/>
                <a:cs typeface="Times New Roman" panose="02020603050405020304" pitchFamily="18" charset="0"/>
              </a:rPr>
              <a:t>routers</a:t>
            </a:r>
            <a:r>
              <a:rPr lang="es-MX" sz="2000" kern="100" dirty="0">
                <a:effectLst/>
                <a:latin typeface="Calibri" panose="020F0502020204030204" pitchFamily="34" charset="0"/>
                <a:ea typeface="Calibri" panose="020F0502020204030204" pitchFamily="34" charset="0"/>
                <a:cs typeface="Times New Roman" panose="02020603050405020304" pitchFamily="18" charset="0"/>
              </a:rPr>
              <a:t> pueden funcionar como un único </a:t>
            </a:r>
            <a:r>
              <a:rPr lang="es-MX" sz="2000" kern="100" dirty="0" err="1">
                <a:effectLst/>
                <a:latin typeface="Calibri" panose="020F0502020204030204" pitchFamily="34" charset="0"/>
                <a:ea typeface="Calibri" panose="020F0502020204030204" pitchFamily="34" charset="0"/>
                <a:cs typeface="Times New Roman" panose="02020603050405020304" pitchFamily="18" charset="0"/>
              </a:rPr>
              <a:t>router</a:t>
            </a:r>
            <a:r>
              <a:rPr lang="es-MX" sz="2000" kern="100" dirty="0">
                <a:effectLst/>
                <a:latin typeface="Calibri" panose="020F0502020204030204" pitchFamily="34" charset="0"/>
                <a:ea typeface="Calibri" panose="020F0502020204030204" pitchFamily="34" charset="0"/>
                <a:cs typeface="Times New Roman" panose="02020603050405020304" pitchFamily="18" charset="0"/>
              </a:rPr>
              <a:t> virtual.</a:t>
            </a:r>
          </a:p>
        </p:txBody>
      </p:sp>
      <p:pic>
        <p:nvPicPr>
          <p:cNvPr id="4" name="Imagen 3" descr="Redundancia del Router">
            <a:hlinkClick r:id="rId2"/>
            <a:extLst>
              <a:ext uri="{FF2B5EF4-FFF2-40B4-BE49-F238E27FC236}">
                <a16:creationId xmlns:a16="http://schemas.microsoft.com/office/drawing/2014/main" id="{34EB3604-93EB-E87D-A43A-8FFE4B324F0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572340" y="1268090"/>
            <a:ext cx="6409810" cy="5341508"/>
          </a:xfrm>
          <a:prstGeom prst="rect">
            <a:avLst/>
          </a:prstGeom>
          <a:noFill/>
          <a:ln>
            <a:noFill/>
          </a:ln>
        </p:spPr>
      </p:pic>
    </p:spTree>
    <p:extLst>
      <p:ext uri="{BB962C8B-B14F-4D97-AF65-F5344CB8AC3E}">
        <p14:creationId xmlns:p14="http://schemas.microsoft.com/office/powerpoint/2010/main" val="1009868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CF6098BB-45A5-E7FF-C0E0-2E4D42DC67A3}"/>
              </a:ext>
            </a:extLst>
          </p:cNvPr>
          <p:cNvSpPr txBox="1"/>
          <p:nvPr/>
        </p:nvSpPr>
        <p:spPr>
          <a:xfrm>
            <a:off x="565053" y="512815"/>
            <a:ext cx="11289489" cy="5962401"/>
          </a:xfrm>
          <a:prstGeom prst="rect">
            <a:avLst/>
          </a:prstGeom>
          <a:noFill/>
        </p:spPr>
        <p:txBody>
          <a:bodyPr wrap="square">
            <a:spAutoFit/>
          </a:bodyPr>
          <a:lstStyle/>
          <a:p>
            <a:pPr>
              <a:lnSpc>
                <a:spcPct val="107000"/>
              </a:lnSpc>
              <a:spcAft>
                <a:spcPts val="800"/>
              </a:spcAft>
            </a:pPr>
            <a:r>
              <a:rPr lang="es-MX" sz="2000" kern="100" dirty="0">
                <a:effectLst/>
                <a:latin typeface="Calibri" panose="020F0502020204030204" pitchFamily="34" charset="0"/>
                <a:ea typeface="Calibri" panose="020F0502020204030204" pitchFamily="34" charset="0"/>
                <a:cs typeface="Times New Roman" panose="02020603050405020304" pitchFamily="18" charset="0"/>
              </a:rPr>
              <a:t>La dirección IPv4 del </a:t>
            </a:r>
            <a:r>
              <a:rPr lang="es-MX" sz="2000" kern="100" dirty="0" err="1">
                <a:effectLst/>
                <a:latin typeface="Calibri" panose="020F0502020204030204" pitchFamily="34" charset="0"/>
                <a:ea typeface="Calibri" panose="020F0502020204030204" pitchFamily="34" charset="0"/>
                <a:cs typeface="Times New Roman" panose="02020603050405020304" pitchFamily="18" charset="0"/>
              </a:rPr>
              <a:t>router</a:t>
            </a:r>
            <a:r>
              <a:rPr lang="es-MX" sz="2000" kern="100" dirty="0">
                <a:effectLst/>
                <a:latin typeface="Calibri" panose="020F0502020204030204" pitchFamily="34" charset="0"/>
                <a:ea typeface="Calibri" panose="020F0502020204030204" pitchFamily="34" charset="0"/>
                <a:cs typeface="Times New Roman" panose="02020603050405020304" pitchFamily="18" charset="0"/>
              </a:rPr>
              <a:t> virtual se configura como la puerta de enlace predeterminada                                 para las estaciones de trabajo de un segmento específico de IPv4. </a:t>
            </a:r>
          </a:p>
          <a:p>
            <a:pPr>
              <a:lnSpc>
                <a:spcPct val="107000"/>
              </a:lnSpc>
              <a:spcAft>
                <a:spcPts val="800"/>
              </a:spcAft>
            </a:pPr>
            <a:endParaRPr lang="es-MX" sz="2000" kern="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s-MX" sz="2000" kern="100" dirty="0">
                <a:effectLst/>
                <a:latin typeface="Calibri" panose="020F0502020204030204" pitchFamily="34" charset="0"/>
                <a:ea typeface="Calibri" panose="020F0502020204030204" pitchFamily="34" charset="0"/>
                <a:cs typeface="Times New Roman" panose="02020603050405020304" pitchFamily="18" charset="0"/>
              </a:rPr>
              <a:t>Cuando se envían tramas desde los dispositivos host hacia el </a:t>
            </a:r>
            <a:r>
              <a:rPr lang="es-MX" sz="2000" kern="100" dirty="0" err="1">
                <a:effectLst/>
                <a:latin typeface="Calibri" panose="020F0502020204030204" pitchFamily="34" charset="0"/>
                <a:ea typeface="Calibri" panose="020F0502020204030204" pitchFamily="34" charset="0"/>
                <a:cs typeface="Times New Roman" panose="02020603050405020304" pitchFamily="18" charset="0"/>
              </a:rPr>
              <a:t>gateway</a:t>
            </a:r>
            <a:r>
              <a:rPr lang="es-MX" sz="2000" kern="100" dirty="0">
                <a:effectLst/>
                <a:latin typeface="Calibri" panose="020F0502020204030204" pitchFamily="34" charset="0"/>
                <a:ea typeface="Calibri" panose="020F0502020204030204" pitchFamily="34" charset="0"/>
                <a:cs typeface="Times New Roman" panose="02020603050405020304" pitchFamily="18" charset="0"/>
              </a:rPr>
              <a:t> predeterminado, los hosts utilizan ARP para resolver la dirección MAC asociada a la dirección IPv4 del </a:t>
            </a:r>
            <a:r>
              <a:rPr lang="es-MX" sz="2000" kern="100" dirty="0" err="1">
                <a:effectLst/>
                <a:latin typeface="Calibri" panose="020F0502020204030204" pitchFamily="34" charset="0"/>
                <a:ea typeface="Calibri" panose="020F0502020204030204" pitchFamily="34" charset="0"/>
                <a:cs typeface="Times New Roman" panose="02020603050405020304" pitchFamily="18" charset="0"/>
              </a:rPr>
              <a:t>gateway</a:t>
            </a:r>
            <a:r>
              <a:rPr lang="es-MX" sz="2000" kern="100" dirty="0">
                <a:effectLst/>
                <a:latin typeface="Calibri" panose="020F0502020204030204" pitchFamily="34" charset="0"/>
                <a:ea typeface="Calibri" panose="020F0502020204030204" pitchFamily="34" charset="0"/>
                <a:cs typeface="Times New Roman" panose="02020603050405020304" pitchFamily="18" charset="0"/>
              </a:rPr>
              <a:t> predeterminado. La resolución de ARP devuelve la dirección MAC del </a:t>
            </a:r>
            <a:r>
              <a:rPr lang="es-MX" sz="2000" kern="100" dirty="0" err="1">
                <a:effectLst/>
                <a:latin typeface="Calibri" panose="020F0502020204030204" pitchFamily="34" charset="0"/>
                <a:ea typeface="Calibri" panose="020F0502020204030204" pitchFamily="34" charset="0"/>
                <a:cs typeface="Times New Roman" panose="02020603050405020304" pitchFamily="18" charset="0"/>
              </a:rPr>
              <a:t>router</a:t>
            </a:r>
            <a:r>
              <a:rPr lang="es-MX" sz="2000" kern="100" dirty="0">
                <a:effectLst/>
                <a:latin typeface="Calibri" panose="020F0502020204030204" pitchFamily="34" charset="0"/>
                <a:ea typeface="Calibri" panose="020F0502020204030204" pitchFamily="34" charset="0"/>
                <a:cs typeface="Times New Roman" panose="02020603050405020304" pitchFamily="18" charset="0"/>
              </a:rPr>
              <a:t> virtual. El </a:t>
            </a:r>
            <a:r>
              <a:rPr lang="es-MX" sz="2000" kern="100" dirty="0" err="1">
                <a:effectLst/>
                <a:latin typeface="Calibri" panose="020F0502020204030204" pitchFamily="34" charset="0"/>
                <a:ea typeface="Calibri" panose="020F0502020204030204" pitchFamily="34" charset="0"/>
                <a:cs typeface="Times New Roman" panose="02020603050405020304" pitchFamily="18" charset="0"/>
              </a:rPr>
              <a:t>router</a:t>
            </a:r>
            <a:r>
              <a:rPr lang="es-MX" sz="2000" kern="100" dirty="0">
                <a:effectLst/>
                <a:latin typeface="Calibri" panose="020F0502020204030204" pitchFamily="34" charset="0"/>
                <a:ea typeface="Calibri" panose="020F0502020204030204" pitchFamily="34" charset="0"/>
                <a:cs typeface="Times New Roman" panose="02020603050405020304" pitchFamily="18" charset="0"/>
              </a:rPr>
              <a:t> actualmente activo dentro del grupo de </a:t>
            </a:r>
            <a:r>
              <a:rPr lang="es-MX" sz="2000" kern="100" dirty="0" err="1">
                <a:effectLst/>
                <a:latin typeface="Calibri" panose="020F0502020204030204" pitchFamily="34" charset="0"/>
                <a:ea typeface="Calibri" panose="020F0502020204030204" pitchFamily="34" charset="0"/>
                <a:cs typeface="Times New Roman" panose="02020603050405020304" pitchFamily="18" charset="0"/>
              </a:rPr>
              <a:t>routers</a:t>
            </a:r>
            <a:r>
              <a:rPr lang="es-MX" sz="2000" kern="100" dirty="0">
                <a:effectLst/>
                <a:latin typeface="Calibri" panose="020F0502020204030204" pitchFamily="34" charset="0"/>
                <a:ea typeface="Calibri" panose="020F0502020204030204" pitchFamily="34" charset="0"/>
                <a:cs typeface="Times New Roman" panose="02020603050405020304" pitchFamily="18" charset="0"/>
              </a:rPr>
              <a:t> virtuales puede procesar físicamente las tramas que se envían a la dirección MAC del </a:t>
            </a:r>
            <a:r>
              <a:rPr lang="es-MX" sz="2000" kern="100" dirty="0" err="1">
                <a:effectLst/>
                <a:latin typeface="Calibri" panose="020F0502020204030204" pitchFamily="34" charset="0"/>
                <a:ea typeface="Calibri" panose="020F0502020204030204" pitchFamily="34" charset="0"/>
                <a:cs typeface="Times New Roman" panose="02020603050405020304" pitchFamily="18" charset="0"/>
              </a:rPr>
              <a:t>router</a:t>
            </a:r>
            <a:r>
              <a:rPr lang="es-MX" sz="2000" kern="100" dirty="0">
                <a:effectLst/>
                <a:latin typeface="Calibri" panose="020F0502020204030204" pitchFamily="34" charset="0"/>
                <a:ea typeface="Calibri" panose="020F0502020204030204" pitchFamily="34" charset="0"/>
                <a:cs typeface="Times New Roman" panose="02020603050405020304" pitchFamily="18" charset="0"/>
              </a:rPr>
              <a:t> virtual. </a:t>
            </a:r>
          </a:p>
          <a:p>
            <a:pPr>
              <a:lnSpc>
                <a:spcPct val="107000"/>
              </a:lnSpc>
              <a:spcAft>
                <a:spcPts val="800"/>
              </a:spcAft>
            </a:pPr>
            <a:endParaRPr lang="es-MX" sz="2000" kern="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s-MX" sz="2000" kern="100" dirty="0">
                <a:effectLst/>
                <a:latin typeface="Calibri" panose="020F0502020204030204" pitchFamily="34" charset="0"/>
                <a:ea typeface="Calibri" panose="020F0502020204030204" pitchFamily="34" charset="0"/>
                <a:cs typeface="Times New Roman" panose="02020603050405020304" pitchFamily="18" charset="0"/>
              </a:rPr>
              <a:t>Los protocolos se utilizan para identificar dos o más </a:t>
            </a:r>
            <a:r>
              <a:rPr lang="es-MX" sz="2000" kern="100" dirty="0" err="1">
                <a:effectLst/>
                <a:latin typeface="Calibri" panose="020F0502020204030204" pitchFamily="34" charset="0"/>
                <a:ea typeface="Calibri" panose="020F0502020204030204" pitchFamily="34" charset="0"/>
                <a:cs typeface="Times New Roman" panose="02020603050405020304" pitchFamily="18" charset="0"/>
              </a:rPr>
              <a:t>routers</a:t>
            </a:r>
            <a:r>
              <a:rPr lang="es-MX" sz="2000" kern="100" dirty="0">
                <a:effectLst/>
                <a:latin typeface="Calibri" panose="020F0502020204030204" pitchFamily="34" charset="0"/>
                <a:ea typeface="Calibri" panose="020F0502020204030204" pitchFamily="34" charset="0"/>
                <a:cs typeface="Times New Roman" panose="02020603050405020304" pitchFamily="18" charset="0"/>
              </a:rPr>
              <a:t> como los dispositivos responsables de procesar tramas que se envían a la dirección MAC o IP de un único </a:t>
            </a:r>
            <a:r>
              <a:rPr lang="es-MX" sz="2000" kern="100" dirty="0" err="1">
                <a:effectLst/>
                <a:latin typeface="Calibri" panose="020F0502020204030204" pitchFamily="34" charset="0"/>
                <a:ea typeface="Calibri" panose="020F0502020204030204" pitchFamily="34" charset="0"/>
                <a:cs typeface="Times New Roman" panose="02020603050405020304" pitchFamily="18" charset="0"/>
              </a:rPr>
              <a:t>router</a:t>
            </a:r>
            <a:r>
              <a:rPr lang="es-MX" sz="2000" kern="100" dirty="0">
                <a:effectLst/>
                <a:latin typeface="Calibri" panose="020F0502020204030204" pitchFamily="34" charset="0"/>
                <a:ea typeface="Calibri" panose="020F0502020204030204" pitchFamily="34" charset="0"/>
                <a:cs typeface="Times New Roman" panose="02020603050405020304" pitchFamily="18" charset="0"/>
              </a:rPr>
              <a:t> virtual. Los dispositivos host envían el tráfico a la dirección del </a:t>
            </a:r>
            <a:r>
              <a:rPr lang="es-MX" sz="2000" kern="100" dirty="0" err="1">
                <a:effectLst/>
                <a:latin typeface="Calibri" panose="020F0502020204030204" pitchFamily="34" charset="0"/>
                <a:ea typeface="Calibri" panose="020F0502020204030204" pitchFamily="34" charset="0"/>
                <a:cs typeface="Times New Roman" panose="02020603050405020304" pitchFamily="18" charset="0"/>
              </a:rPr>
              <a:t>router</a:t>
            </a:r>
            <a:r>
              <a:rPr lang="es-MX" sz="2000" kern="100" dirty="0">
                <a:effectLst/>
                <a:latin typeface="Calibri" panose="020F0502020204030204" pitchFamily="34" charset="0"/>
                <a:ea typeface="Calibri" panose="020F0502020204030204" pitchFamily="34" charset="0"/>
                <a:cs typeface="Times New Roman" panose="02020603050405020304" pitchFamily="18" charset="0"/>
              </a:rPr>
              <a:t> virtual. El </a:t>
            </a:r>
            <a:r>
              <a:rPr lang="es-MX" sz="2000" kern="100" dirty="0" err="1">
                <a:effectLst/>
                <a:latin typeface="Calibri" panose="020F0502020204030204" pitchFamily="34" charset="0"/>
                <a:ea typeface="Calibri" panose="020F0502020204030204" pitchFamily="34" charset="0"/>
                <a:cs typeface="Times New Roman" panose="02020603050405020304" pitchFamily="18" charset="0"/>
              </a:rPr>
              <a:t>router</a:t>
            </a:r>
            <a:r>
              <a:rPr lang="es-MX" sz="2000" kern="100" dirty="0">
                <a:effectLst/>
                <a:latin typeface="Calibri" panose="020F0502020204030204" pitchFamily="34" charset="0"/>
                <a:ea typeface="Calibri" panose="020F0502020204030204" pitchFamily="34" charset="0"/>
                <a:cs typeface="Times New Roman" panose="02020603050405020304" pitchFamily="18" charset="0"/>
              </a:rPr>
              <a:t> físico que reenvía este tráfico es transparente para los dispositivos host.</a:t>
            </a:r>
          </a:p>
          <a:p>
            <a:pPr>
              <a:lnSpc>
                <a:spcPct val="107000"/>
              </a:lnSpc>
              <a:spcAft>
                <a:spcPts val="800"/>
              </a:spcAft>
            </a:pPr>
            <a:endParaRPr lang="es-MX" sz="2000" kern="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s-MX" sz="2000" kern="100" dirty="0">
                <a:latin typeface="Calibri" panose="020F0502020204030204" pitchFamily="34" charset="0"/>
                <a:ea typeface="Calibri" panose="020F0502020204030204" pitchFamily="34" charset="0"/>
                <a:cs typeface="Times New Roman" panose="02020603050405020304" pitchFamily="18" charset="0"/>
              </a:rPr>
              <a:t>Un protocolo de redundancia proporciona el mecanismo para determinar qué </a:t>
            </a:r>
            <a:r>
              <a:rPr lang="es-MX" sz="2000" kern="100" dirty="0" err="1">
                <a:latin typeface="Calibri" panose="020F0502020204030204" pitchFamily="34" charset="0"/>
                <a:ea typeface="Calibri" panose="020F0502020204030204" pitchFamily="34" charset="0"/>
                <a:cs typeface="Times New Roman" panose="02020603050405020304" pitchFamily="18" charset="0"/>
              </a:rPr>
              <a:t>router</a:t>
            </a:r>
            <a:r>
              <a:rPr lang="es-MX" sz="2000" kern="100" dirty="0">
                <a:latin typeface="Calibri" panose="020F0502020204030204" pitchFamily="34" charset="0"/>
                <a:ea typeface="Calibri" panose="020F0502020204030204" pitchFamily="34" charset="0"/>
                <a:cs typeface="Times New Roman" panose="02020603050405020304" pitchFamily="18" charset="0"/>
              </a:rPr>
              <a:t> debe cumplir la función activa en el reenvío de tráfico. Además, determina cuándo un </a:t>
            </a:r>
            <a:r>
              <a:rPr lang="es-MX" sz="2000" kern="100" dirty="0" err="1">
                <a:latin typeface="Calibri" panose="020F0502020204030204" pitchFamily="34" charset="0"/>
                <a:ea typeface="Calibri" panose="020F0502020204030204" pitchFamily="34" charset="0"/>
                <a:cs typeface="Times New Roman" panose="02020603050405020304" pitchFamily="18" charset="0"/>
              </a:rPr>
              <a:t>router</a:t>
            </a:r>
            <a:r>
              <a:rPr lang="es-MX" sz="2000" kern="100" dirty="0">
                <a:latin typeface="Calibri" panose="020F0502020204030204" pitchFamily="34" charset="0"/>
                <a:ea typeface="Calibri" panose="020F0502020204030204" pitchFamily="34" charset="0"/>
                <a:cs typeface="Times New Roman" panose="02020603050405020304" pitchFamily="18" charset="0"/>
              </a:rPr>
              <a:t> de reserva debe asumir la función de reenvío. La transición entre los </a:t>
            </a:r>
            <a:r>
              <a:rPr lang="es-MX" sz="2000" kern="100" dirty="0" err="1">
                <a:latin typeface="Calibri" panose="020F0502020204030204" pitchFamily="34" charset="0"/>
                <a:ea typeface="Calibri" panose="020F0502020204030204" pitchFamily="34" charset="0"/>
                <a:cs typeface="Times New Roman" panose="02020603050405020304" pitchFamily="18" charset="0"/>
              </a:rPr>
              <a:t>routers</a:t>
            </a:r>
            <a:r>
              <a:rPr lang="es-MX" sz="2000" kern="100" dirty="0">
                <a:latin typeface="Calibri" panose="020F0502020204030204" pitchFamily="34" charset="0"/>
                <a:ea typeface="Calibri" panose="020F0502020204030204" pitchFamily="34" charset="0"/>
                <a:cs typeface="Times New Roman" panose="02020603050405020304" pitchFamily="18" charset="0"/>
              </a:rPr>
              <a:t> de reenvío es transparente para los dispositivos finales.</a:t>
            </a:r>
          </a:p>
        </p:txBody>
      </p:sp>
    </p:spTree>
    <p:extLst>
      <p:ext uri="{BB962C8B-B14F-4D97-AF65-F5344CB8AC3E}">
        <p14:creationId xmlns:p14="http://schemas.microsoft.com/office/powerpoint/2010/main" val="16880725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470958" y="558522"/>
            <a:ext cx="11056024" cy="5639749"/>
          </a:xfrm>
          <a:prstGeom prst="rect">
            <a:avLst/>
          </a:prstGeom>
        </p:spPr>
        <p:txBody>
          <a:bodyPr wrap="square">
            <a:spAutoFit/>
          </a:bodyPr>
          <a:lstStyle/>
          <a:p>
            <a:pPr>
              <a:lnSpc>
                <a:spcPct val="107000"/>
              </a:lnSpc>
              <a:spcAft>
                <a:spcPts val="800"/>
              </a:spcAft>
            </a:pPr>
            <a:r>
              <a:rPr lang="es-MX" sz="2200" b="1" kern="100" dirty="0">
                <a:latin typeface="Calibri" panose="020F0502020204030204" pitchFamily="34" charset="0"/>
                <a:ea typeface="Calibri" panose="020F0502020204030204" pitchFamily="34" charset="0"/>
                <a:cs typeface="Times New Roman" panose="02020603050405020304" pitchFamily="18" charset="0"/>
              </a:rPr>
              <a:t>Determinación de la Ruta</a:t>
            </a:r>
          </a:p>
          <a:p>
            <a:pPr>
              <a:lnSpc>
                <a:spcPct val="107000"/>
              </a:lnSpc>
              <a:spcAft>
                <a:spcPts val="800"/>
              </a:spcAft>
            </a:pPr>
            <a:endParaRPr lang="es-MX" sz="2200" b="1" kern="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s-MX" sz="2000" kern="100" dirty="0">
                <a:effectLst/>
                <a:latin typeface="Calibri" panose="020F0502020204030204" pitchFamily="34" charset="0"/>
                <a:ea typeface="Calibri" panose="020F0502020204030204" pitchFamily="34" charset="0"/>
                <a:cs typeface="Times New Roman" panose="02020603050405020304" pitchFamily="18" charset="0"/>
              </a:rPr>
              <a:t>La capacidad que tiene una red para recuperarse dinámicamente de la falla de un dispositivo que funciona como </a:t>
            </a:r>
            <a:r>
              <a:rPr lang="es-MX" sz="2000" kern="100" dirty="0" err="1">
                <a:effectLst/>
                <a:latin typeface="Calibri" panose="020F0502020204030204" pitchFamily="34" charset="0"/>
                <a:ea typeface="Calibri" panose="020F0502020204030204" pitchFamily="34" charset="0"/>
                <a:cs typeface="Times New Roman" panose="02020603050405020304" pitchFamily="18" charset="0"/>
              </a:rPr>
              <a:t>gateway</a:t>
            </a:r>
            <a:r>
              <a:rPr lang="es-MX" sz="2000" kern="100" dirty="0">
                <a:effectLst/>
                <a:latin typeface="Calibri" panose="020F0502020204030204" pitchFamily="34" charset="0"/>
                <a:ea typeface="Calibri" panose="020F0502020204030204" pitchFamily="34" charset="0"/>
                <a:cs typeface="Times New Roman" panose="02020603050405020304" pitchFamily="18" charset="0"/>
              </a:rPr>
              <a:t> predeterminado se conoce como “</a:t>
            </a:r>
            <a:r>
              <a:rPr lang="es-MX" sz="2000" b="1" kern="100" dirty="0">
                <a:effectLst/>
                <a:latin typeface="Calibri" panose="020F0502020204030204" pitchFamily="34" charset="0"/>
                <a:ea typeface="Calibri" panose="020F0502020204030204" pitchFamily="34" charset="0"/>
                <a:cs typeface="Times New Roman" panose="02020603050405020304" pitchFamily="18" charset="0"/>
              </a:rPr>
              <a:t>redundancia de primer salto</a:t>
            </a:r>
            <a:r>
              <a:rPr lang="es-MX" sz="2000" kern="100" dirty="0">
                <a:effectLst/>
                <a:latin typeface="Calibri" panose="020F0502020204030204" pitchFamily="34" charset="0"/>
                <a:ea typeface="Calibri" panose="020F0502020204030204" pitchFamily="34" charset="0"/>
                <a:cs typeface="Times New Roman" panose="02020603050405020304" pitchFamily="18" charset="0"/>
              </a:rPr>
              <a:t>”.</a:t>
            </a:r>
          </a:p>
          <a:p>
            <a:pPr>
              <a:lnSpc>
                <a:spcPct val="107000"/>
              </a:lnSpc>
              <a:spcAft>
                <a:spcPts val="800"/>
              </a:spcAft>
            </a:pPr>
            <a:endParaRPr lang="es-MX" sz="2000" kern="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s-MX" sz="2000" b="1" kern="100" dirty="0">
                <a:effectLst/>
                <a:latin typeface="Calibri" panose="020F0502020204030204" pitchFamily="34" charset="0"/>
                <a:ea typeface="Calibri" panose="020F0502020204030204" pitchFamily="34" charset="0"/>
                <a:cs typeface="Times New Roman" panose="02020603050405020304" pitchFamily="18" charset="0"/>
              </a:rPr>
              <a:t>Pasos para Conmutación por Error del </a:t>
            </a:r>
            <a:r>
              <a:rPr lang="es-MX" sz="2000" b="1" kern="100" dirty="0" err="1">
                <a:effectLst/>
                <a:latin typeface="Calibri" panose="020F0502020204030204" pitchFamily="34" charset="0"/>
                <a:ea typeface="Calibri" panose="020F0502020204030204" pitchFamily="34" charset="0"/>
                <a:cs typeface="Times New Roman" panose="02020603050405020304" pitchFamily="18" charset="0"/>
              </a:rPr>
              <a:t>Router</a:t>
            </a:r>
            <a:endParaRPr lang="es-MX" sz="2000" b="1"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s-MX" sz="2000" kern="100" dirty="0">
                <a:effectLst/>
                <a:latin typeface="Calibri" panose="020F0502020204030204" pitchFamily="34" charset="0"/>
                <a:ea typeface="Calibri" panose="020F0502020204030204" pitchFamily="34" charset="0"/>
                <a:cs typeface="Times New Roman" panose="02020603050405020304" pitchFamily="18" charset="0"/>
              </a:rPr>
              <a:t>Cuando falla el </a:t>
            </a:r>
            <a:r>
              <a:rPr lang="es-MX" sz="2000" kern="100" dirty="0" err="1">
                <a:effectLst/>
                <a:latin typeface="Calibri" panose="020F0502020204030204" pitchFamily="34" charset="0"/>
                <a:ea typeface="Calibri" panose="020F0502020204030204" pitchFamily="34" charset="0"/>
                <a:cs typeface="Times New Roman" panose="02020603050405020304" pitchFamily="18" charset="0"/>
              </a:rPr>
              <a:t>router</a:t>
            </a:r>
            <a:r>
              <a:rPr lang="es-MX" sz="2000" kern="100" dirty="0">
                <a:effectLst/>
                <a:latin typeface="Calibri" panose="020F0502020204030204" pitchFamily="34" charset="0"/>
                <a:ea typeface="Calibri" panose="020F0502020204030204" pitchFamily="34" charset="0"/>
                <a:cs typeface="Times New Roman" panose="02020603050405020304" pitchFamily="18" charset="0"/>
              </a:rPr>
              <a:t> activo, el protocolo de redundancia hace que el </a:t>
            </a:r>
            <a:r>
              <a:rPr lang="es-MX" sz="2000" kern="100" dirty="0" err="1">
                <a:effectLst/>
                <a:latin typeface="Calibri" panose="020F0502020204030204" pitchFamily="34" charset="0"/>
                <a:ea typeface="Calibri" panose="020F0502020204030204" pitchFamily="34" charset="0"/>
                <a:cs typeface="Times New Roman" panose="02020603050405020304" pitchFamily="18" charset="0"/>
              </a:rPr>
              <a:t>router</a:t>
            </a:r>
            <a:r>
              <a:rPr lang="es-MX" sz="2000" kern="100" dirty="0">
                <a:effectLst/>
                <a:latin typeface="Calibri" panose="020F0502020204030204" pitchFamily="34" charset="0"/>
                <a:ea typeface="Calibri" panose="020F0502020204030204" pitchFamily="34" charset="0"/>
                <a:cs typeface="Times New Roman" panose="02020603050405020304" pitchFamily="18" charset="0"/>
              </a:rPr>
              <a:t> de reserva asuma el nuevo rol de </a:t>
            </a:r>
            <a:r>
              <a:rPr lang="es-MX" sz="2000" kern="100" dirty="0" err="1">
                <a:effectLst/>
                <a:latin typeface="Calibri" panose="020F0502020204030204" pitchFamily="34" charset="0"/>
                <a:ea typeface="Calibri" panose="020F0502020204030204" pitchFamily="34" charset="0"/>
                <a:cs typeface="Times New Roman" panose="02020603050405020304" pitchFamily="18" charset="0"/>
              </a:rPr>
              <a:t>router</a:t>
            </a:r>
            <a:r>
              <a:rPr lang="es-MX" sz="2000" kern="100" dirty="0">
                <a:effectLst/>
                <a:latin typeface="Calibri" panose="020F0502020204030204" pitchFamily="34" charset="0"/>
                <a:ea typeface="Calibri" panose="020F0502020204030204" pitchFamily="34" charset="0"/>
                <a:cs typeface="Times New Roman" panose="02020603050405020304" pitchFamily="18" charset="0"/>
              </a:rPr>
              <a:t> activo, como se muestra en la figura. Estos son los pasos que se llevan a cabo cuando falla el </a:t>
            </a:r>
            <a:r>
              <a:rPr lang="es-MX" sz="2000" kern="100" dirty="0" err="1">
                <a:effectLst/>
                <a:latin typeface="Calibri" panose="020F0502020204030204" pitchFamily="34" charset="0"/>
                <a:ea typeface="Calibri" panose="020F0502020204030204" pitchFamily="34" charset="0"/>
                <a:cs typeface="Times New Roman" panose="02020603050405020304" pitchFamily="18" charset="0"/>
              </a:rPr>
              <a:t>router</a:t>
            </a:r>
            <a:r>
              <a:rPr lang="es-MX" sz="2000" kern="100" dirty="0">
                <a:effectLst/>
                <a:latin typeface="Calibri" panose="020F0502020204030204" pitchFamily="34" charset="0"/>
                <a:ea typeface="Calibri" panose="020F0502020204030204" pitchFamily="34" charset="0"/>
                <a:cs typeface="Times New Roman" panose="02020603050405020304" pitchFamily="18" charset="0"/>
              </a:rPr>
              <a:t> activo:</a:t>
            </a:r>
          </a:p>
          <a:p>
            <a:pPr marL="342900" lvl="0" indent="-342900">
              <a:lnSpc>
                <a:spcPct val="107000"/>
              </a:lnSpc>
              <a:spcAft>
                <a:spcPts val="800"/>
              </a:spcAft>
              <a:buFont typeface="+mj-lt"/>
              <a:buAutoNum type="arabicPeriod"/>
              <a:tabLst>
                <a:tab pos="457200" algn="l"/>
              </a:tabLst>
            </a:pPr>
            <a:r>
              <a:rPr lang="es-MX" sz="2000" kern="100" dirty="0">
                <a:effectLst/>
                <a:latin typeface="Calibri" panose="020F0502020204030204" pitchFamily="34" charset="0"/>
                <a:ea typeface="Calibri" panose="020F0502020204030204" pitchFamily="34" charset="0"/>
                <a:cs typeface="Times New Roman" panose="02020603050405020304" pitchFamily="18" charset="0"/>
              </a:rPr>
              <a:t>El </a:t>
            </a:r>
            <a:r>
              <a:rPr lang="es-MX" sz="2000" kern="100" dirty="0" err="1">
                <a:effectLst/>
                <a:latin typeface="Calibri" panose="020F0502020204030204" pitchFamily="34" charset="0"/>
                <a:ea typeface="Calibri" panose="020F0502020204030204" pitchFamily="34" charset="0"/>
                <a:cs typeface="Times New Roman" panose="02020603050405020304" pitchFamily="18" charset="0"/>
              </a:rPr>
              <a:t>router</a:t>
            </a:r>
            <a:r>
              <a:rPr lang="es-MX" sz="2000" kern="100" dirty="0">
                <a:effectLst/>
                <a:latin typeface="Calibri" panose="020F0502020204030204" pitchFamily="34" charset="0"/>
                <a:ea typeface="Calibri" panose="020F0502020204030204" pitchFamily="34" charset="0"/>
                <a:cs typeface="Times New Roman" panose="02020603050405020304" pitchFamily="18" charset="0"/>
              </a:rPr>
              <a:t> de reserva deja de recibir los mensajes </a:t>
            </a:r>
            <a:r>
              <a:rPr lang="es-MX" sz="2000" kern="100" dirty="0" err="1">
                <a:effectLst/>
                <a:latin typeface="Calibri" panose="020F0502020204030204" pitchFamily="34" charset="0"/>
                <a:ea typeface="Calibri" panose="020F0502020204030204" pitchFamily="34" charset="0"/>
                <a:cs typeface="Times New Roman" panose="02020603050405020304" pitchFamily="18" charset="0"/>
              </a:rPr>
              <a:t>Hello</a:t>
            </a:r>
            <a:r>
              <a:rPr lang="es-MX" sz="2000" kern="100" dirty="0">
                <a:effectLst/>
                <a:latin typeface="Calibri" panose="020F0502020204030204" pitchFamily="34" charset="0"/>
                <a:ea typeface="Calibri" panose="020F0502020204030204" pitchFamily="34" charset="0"/>
                <a:cs typeface="Times New Roman" panose="02020603050405020304" pitchFamily="18" charset="0"/>
              </a:rPr>
              <a:t> del </a:t>
            </a:r>
            <a:r>
              <a:rPr lang="es-MX" sz="2000" kern="100" dirty="0" err="1">
                <a:effectLst/>
                <a:latin typeface="Calibri" panose="020F0502020204030204" pitchFamily="34" charset="0"/>
                <a:ea typeface="Calibri" panose="020F0502020204030204" pitchFamily="34" charset="0"/>
                <a:cs typeface="Times New Roman" panose="02020603050405020304" pitchFamily="18" charset="0"/>
              </a:rPr>
              <a:t>router</a:t>
            </a:r>
            <a:r>
              <a:rPr lang="es-MX" sz="2000" kern="100" dirty="0">
                <a:effectLst/>
                <a:latin typeface="Calibri" panose="020F0502020204030204" pitchFamily="34" charset="0"/>
                <a:ea typeface="Calibri" panose="020F0502020204030204" pitchFamily="34" charset="0"/>
                <a:cs typeface="Times New Roman" panose="02020603050405020304" pitchFamily="18" charset="0"/>
              </a:rPr>
              <a:t> de reenvío.</a:t>
            </a:r>
          </a:p>
          <a:p>
            <a:pPr marL="342900" lvl="0" indent="-342900">
              <a:lnSpc>
                <a:spcPct val="107000"/>
              </a:lnSpc>
              <a:spcAft>
                <a:spcPts val="800"/>
              </a:spcAft>
              <a:buFont typeface="+mj-lt"/>
              <a:buAutoNum type="arabicPeriod"/>
              <a:tabLst>
                <a:tab pos="457200" algn="l"/>
              </a:tabLst>
            </a:pPr>
            <a:r>
              <a:rPr lang="es-MX" sz="2000" kern="100" dirty="0">
                <a:effectLst/>
                <a:latin typeface="Calibri" panose="020F0502020204030204" pitchFamily="34" charset="0"/>
                <a:ea typeface="Calibri" panose="020F0502020204030204" pitchFamily="34" charset="0"/>
                <a:cs typeface="Times New Roman" panose="02020603050405020304" pitchFamily="18" charset="0"/>
              </a:rPr>
              <a:t>El </a:t>
            </a:r>
            <a:r>
              <a:rPr lang="es-MX" sz="2000" kern="100" dirty="0" err="1">
                <a:effectLst/>
                <a:latin typeface="Calibri" panose="020F0502020204030204" pitchFamily="34" charset="0"/>
                <a:ea typeface="Calibri" panose="020F0502020204030204" pitchFamily="34" charset="0"/>
                <a:cs typeface="Times New Roman" panose="02020603050405020304" pitchFamily="18" charset="0"/>
              </a:rPr>
              <a:t>router</a:t>
            </a:r>
            <a:r>
              <a:rPr lang="es-MX" sz="2000" kern="100" dirty="0">
                <a:effectLst/>
                <a:latin typeface="Calibri" panose="020F0502020204030204" pitchFamily="34" charset="0"/>
                <a:ea typeface="Calibri" panose="020F0502020204030204" pitchFamily="34" charset="0"/>
                <a:cs typeface="Times New Roman" panose="02020603050405020304" pitchFamily="18" charset="0"/>
              </a:rPr>
              <a:t> de reserva asume la función del </a:t>
            </a:r>
            <a:r>
              <a:rPr lang="es-MX" sz="2000" kern="100" dirty="0" err="1">
                <a:effectLst/>
                <a:latin typeface="Calibri" panose="020F0502020204030204" pitchFamily="34" charset="0"/>
                <a:ea typeface="Calibri" panose="020F0502020204030204" pitchFamily="34" charset="0"/>
                <a:cs typeface="Times New Roman" panose="02020603050405020304" pitchFamily="18" charset="0"/>
              </a:rPr>
              <a:t>router</a:t>
            </a:r>
            <a:r>
              <a:rPr lang="es-MX" sz="2000" kern="100" dirty="0">
                <a:effectLst/>
                <a:latin typeface="Calibri" panose="020F0502020204030204" pitchFamily="34" charset="0"/>
                <a:ea typeface="Calibri" panose="020F0502020204030204" pitchFamily="34" charset="0"/>
                <a:cs typeface="Times New Roman" panose="02020603050405020304" pitchFamily="18" charset="0"/>
              </a:rPr>
              <a:t> de reenvío.</a:t>
            </a:r>
          </a:p>
          <a:p>
            <a:pPr marL="342900" lvl="0" indent="-342900">
              <a:lnSpc>
                <a:spcPct val="107000"/>
              </a:lnSpc>
              <a:spcAft>
                <a:spcPts val="800"/>
              </a:spcAft>
              <a:buFont typeface="+mj-lt"/>
              <a:buAutoNum type="arabicPeriod"/>
              <a:tabLst>
                <a:tab pos="457200" algn="l"/>
              </a:tabLst>
            </a:pPr>
            <a:r>
              <a:rPr lang="es-MX" sz="2000" kern="100" dirty="0">
                <a:effectLst/>
                <a:latin typeface="Calibri" panose="020F0502020204030204" pitchFamily="34" charset="0"/>
                <a:ea typeface="Calibri" panose="020F0502020204030204" pitchFamily="34" charset="0"/>
                <a:cs typeface="Times New Roman" panose="02020603050405020304" pitchFamily="18" charset="0"/>
              </a:rPr>
              <a:t>Debido a que el nuevo </a:t>
            </a:r>
            <a:r>
              <a:rPr lang="es-MX" sz="2000" kern="100" dirty="0" err="1">
                <a:effectLst/>
                <a:latin typeface="Calibri" panose="020F0502020204030204" pitchFamily="34" charset="0"/>
                <a:ea typeface="Calibri" panose="020F0502020204030204" pitchFamily="34" charset="0"/>
                <a:cs typeface="Times New Roman" panose="02020603050405020304" pitchFamily="18" charset="0"/>
              </a:rPr>
              <a:t>router</a:t>
            </a:r>
            <a:r>
              <a:rPr lang="es-MX" sz="2000" kern="100" dirty="0">
                <a:effectLst/>
                <a:latin typeface="Calibri" panose="020F0502020204030204" pitchFamily="34" charset="0"/>
                <a:ea typeface="Calibri" panose="020F0502020204030204" pitchFamily="34" charset="0"/>
                <a:cs typeface="Times New Roman" panose="02020603050405020304" pitchFamily="18" charset="0"/>
              </a:rPr>
              <a:t> de reenvío asume tanto la dirección IPv4 como la dirección MAC del </a:t>
            </a:r>
            <a:r>
              <a:rPr lang="es-MX" sz="2000" kern="100" dirty="0" err="1">
                <a:effectLst/>
                <a:latin typeface="Calibri" panose="020F0502020204030204" pitchFamily="34" charset="0"/>
                <a:ea typeface="Calibri" panose="020F0502020204030204" pitchFamily="34" charset="0"/>
                <a:cs typeface="Times New Roman" panose="02020603050405020304" pitchFamily="18" charset="0"/>
              </a:rPr>
              <a:t>router</a:t>
            </a:r>
            <a:r>
              <a:rPr lang="es-MX" sz="2000" kern="100" dirty="0">
                <a:effectLst/>
                <a:latin typeface="Calibri" panose="020F0502020204030204" pitchFamily="34" charset="0"/>
                <a:ea typeface="Calibri" panose="020F0502020204030204" pitchFamily="34" charset="0"/>
                <a:cs typeface="Times New Roman" panose="02020603050405020304" pitchFamily="18" charset="0"/>
              </a:rPr>
              <a:t> virtual, los dispositivos host no perciben ninguna interrupción en el servicio.</a:t>
            </a:r>
          </a:p>
          <a:p>
            <a:pPr marL="342900" indent="-342900">
              <a:buFont typeface="+mj-lt"/>
              <a:buAutoNum type="arabicPeriod"/>
            </a:pPr>
            <a:endParaRPr lang="es-MX" b="1" dirty="0"/>
          </a:p>
        </p:txBody>
      </p:sp>
    </p:spTree>
    <p:extLst>
      <p:ext uri="{BB962C8B-B14F-4D97-AF65-F5344CB8AC3E}">
        <p14:creationId xmlns:p14="http://schemas.microsoft.com/office/powerpoint/2010/main" val="21468879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descr="Conmutación por Error del Router">
            <a:hlinkClick r:id="rId2"/>
            <a:extLst>
              <a:ext uri="{FF2B5EF4-FFF2-40B4-BE49-F238E27FC236}">
                <a16:creationId xmlns:a16="http://schemas.microsoft.com/office/drawing/2014/main" id="{7981DD2D-FF75-C9D8-21A9-24A72D15059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009274" y="286293"/>
            <a:ext cx="7542497" cy="6285414"/>
          </a:xfrm>
          <a:prstGeom prst="rect">
            <a:avLst/>
          </a:prstGeom>
          <a:noFill/>
          <a:ln>
            <a:noFill/>
          </a:ln>
        </p:spPr>
      </p:pic>
    </p:spTree>
    <p:extLst>
      <p:ext uri="{BB962C8B-B14F-4D97-AF65-F5344CB8AC3E}">
        <p14:creationId xmlns:p14="http://schemas.microsoft.com/office/powerpoint/2010/main" val="23088051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411941" y="429210"/>
            <a:ext cx="11368115" cy="1404039"/>
          </a:xfrm>
          <a:prstGeom prst="rect">
            <a:avLst/>
          </a:prstGeom>
        </p:spPr>
        <p:txBody>
          <a:bodyPr wrap="square">
            <a:spAutoFit/>
          </a:bodyPr>
          <a:lstStyle/>
          <a:p>
            <a:pPr>
              <a:lnSpc>
                <a:spcPct val="107000"/>
              </a:lnSpc>
              <a:spcAft>
                <a:spcPts val="800"/>
              </a:spcAft>
            </a:pPr>
            <a:r>
              <a:rPr lang="es-MX" sz="2200" b="1" kern="100" dirty="0">
                <a:latin typeface="Calibri" panose="020F0502020204030204" pitchFamily="34" charset="0"/>
                <a:ea typeface="Calibri" panose="020F0502020204030204" pitchFamily="34" charset="0"/>
                <a:cs typeface="Times New Roman" panose="02020603050405020304" pitchFamily="18" charset="0"/>
              </a:rPr>
              <a:t>Opciones de FHRP</a:t>
            </a:r>
          </a:p>
          <a:p>
            <a:pPr>
              <a:lnSpc>
                <a:spcPct val="107000"/>
              </a:lnSpc>
              <a:spcAft>
                <a:spcPts val="800"/>
              </a:spcAft>
            </a:pPr>
            <a:endParaRPr lang="es-MX" sz="1000" b="1" kern="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s-MX" kern="100" dirty="0">
                <a:solidFill>
                  <a:schemeClr val="dk1"/>
                </a:solidFill>
              </a:rPr>
              <a:t>La FHRP utilizada en un entorno de producción depende en gran medida del equipo y las necesidades de la red. La tabla muestra todas las opciones disponibles para FHRP.</a:t>
            </a:r>
          </a:p>
        </p:txBody>
      </p:sp>
      <p:graphicFrame>
        <p:nvGraphicFramePr>
          <p:cNvPr id="5" name="Tabla 4">
            <a:extLst>
              <a:ext uri="{FF2B5EF4-FFF2-40B4-BE49-F238E27FC236}">
                <a16:creationId xmlns:a16="http://schemas.microsoft.com/office/drawing/2014/main" id="{9FF1B10D-1115-0FBD-8E3F-D6727FCA2828}"/>
              </a:ext>
            </a:extLst>
          </p:cNvPr>
          <p:cNvGraphicFramePr>
            <a:graphicFrameLocks noGrp="1"/>
          </p:cNvGraphicFramePr>
          <p:nvPr>
            <p:extLst>
              <p:ext uri="{D42A27DB-BD31-4B8C-83A1-F6EECF244321}">
                <p14:modId xmlns:p14="http://schemas.microsoft.com/office/powerpoint/2010/main" val="1347612181"/>
              </p:ext>
            </p:extLst>
          </p:nvPr>
        </p:nvGraphicFramePr>
        <p:xfrm>
          <a:off x="411942" y="1947742"/>
          <a:ext cx="11368116" cy="4622580"/>
        </p:xfrm>
        <a:graphic>
          <a:graphicData uri="http://schemas.openxmlformats.org/drawingml/2006/table">
            <a:tbl>
              <a:tblPr firstRow="1" firstCol="1" bandRow="1">
                <a:tableStyleId>{5C22544A-7EE6-4342-B048-85BDC9FD1C3A}</a:tableStyleId>
              </a:tblPr>
              <a:tblGrid>
                <a:gridCol w="2358967">
                  <a:extLst>
                    <a:ext uri="{9D8B030D-6E8A-4147-A177-3AD203B41FA5}">
                      <a16:colId xmlns:a16="http://schemas.microsoft.com/office/drawing/2014/main" val="1578304985"/>
                    </a:ext>
                  </a:extLst>
                </a:gridCol>
                <a:gridCol w="9009149">
                  <a:extLst>
                    <a:ext uri="{9D8B030D-6E8A-4147-A177-3AD203B41FA5}">
                      <a16:colId xmlns:a16="http://schemas.microsoft.com/office/drawing/2014/main" val="1684130298"/>
                    </a:ext>
                  </a:extLst>
                </a:gridCol>
              </a:tblGrid>
              <a:tr h="426086">
                <a:tc>
                  <a:txBody>
                    <a:bodyPr/>
                    <a:lstStyle/>
                    <a:p>
                      <a:pPr>
                        <a:lnSpc>
                          <a:spcPct val="107000"/>
                        </a:lnSpc>
                        <a:spcAft>
                          <a:spcPts val="800"/>
                        </a:spcAft>
                      </a:pPr>
                      <a:r>
                        <a:rPr lang="es-MX" sz="1800" kern="100" dirty="0">
                          <a:effectLst/>
                        </a:rPr>
                        <a:t>Opciones de FHRP</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88768" marR="88768" marT="133152" marB="133152" anchor="ctr"/>
                </a:tc>
                <a:tc>
                  <a:txBody>
                    <a:bodyPr/>
                    <a:lstStyle/>
                    <a:p>
                      <a:pPr>
                        <a:lnSpc>
                          <a:spcPct val="107000"/>
                        </a:lnSpc>
                        <a:spcAft>
                          <a:spcPts val="800"/>
                        </a:spcAft>
                      </a:pPr>
                      <a:r>
                        <a:rPr lang="es-MX" sz="1800" kern="100">
                          <a:effectLst/>
                        </a:rPr>
                        <a:t>Descripción</a:t>
                      </a:r>
                      <a:endParaRPr lang="es-MX"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88768" marR="88768" marT="133152" marB="133152" anchor="ctr"/>
                </a:tc>
                <a:extLst>
                  <a:ext uri="{0D108BD9-81ED-4DB2-BD59-A6C34878D82A}">
                    <a16:rowId xmlns:a16="http://schemas.microsoft.com/office/drawing/2014/main" val="1198081975"/>
                  </a:ext>
                </a:extLst>
              </a:tr>
              <a:tr h="3769676">
                <a:tc>
                  <a:txBody>
                    <a:bodyPr/>
                    <a:lstStyle/>
                    <a:p>
                      <a:pPr>
                        <a:lnSpc>
                          <a:spcPct val="107000"/>
                        </a:lnSpc>
                        <a:spcAft>
                          <a:spcPts val="800"/>
                        </a:spcAft>
                      </a:pPr>
                      <a:r>
                        <a:rPr lang="es-MX" sz="1800" kern="100" dirty="0">
                          <a:effectLst/>
                        </a:rPr>
                        <a:t>Protocolo de </a:t>
                      </a:r>
                      <a:r>
                        <a:rPr lang="es-MX" sz="1800" kern="100" dirty="0" err="1">
                          <a:effectLst/>
                        </a:rPr>
                        <a:t>Router</a:t>
                      </a:r>
                      <a:r>
                        <a:rPr lang="es-MX" sz="1800" kern="100" dirty="0">
                          <a:effectLst/>
                        </a:rPr>
                        <a:t> de Reserva Directa (HSRP, Hot </a:t>
                      </a:r>
                      <a:r>
                        <a:rPr lang="es-MX" sz="1800" kern="100" dirty="0" err="1">
                          <a:effectLst/>
                        </a:rPr>
                        <a:t>Standby</a:t>
                      </a:r>
                      <a:r>
                        <a:rPr lang="es-MX" sz="1800" kern="100" dirty="0">
                          <a:effectLst/>
                        </a:rPr>
                        <a:t> </a:t>
                      </a:r>
                      <a:r>
                        <a:rPr lang="es-MX" sz="1800" kern="100" dirty="0" err="1">
                          <a:effectLst/>
                        </a:rPr>
                        <a:t>Router</a:t>
                      </a:r>
                      <a:r>
                        <a:rPr lang="es-MX" sz="1800" kern="100" dirty="0">
                          <a:effectLst/>
                        </a:rPr>
                        <a:t> </a:t>
                      </a:r>
                      <a:r>
                        <a:rPr lang="es-MX" sz="1800" kern="100" dirty="0" err="1">
                          <a:effectLst/>
                        </a:rPr>
                        <a:t>Protocol</a:t>
                      </a:r>
                      <a:r>
                        <a:rPr lang="es-MX" sz="1800" kern="100" dirty="0">
                          <a:effectLst/>
                        </a:rPr>
                        <a:t>)</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88768" marR="88768" marT="133152" marB="133152" anchor="ctr"/>
                </a:tc>
                <a:tc>
                  <a:txBody>
                    <a:bodyPr/>
                    <a:lstStyle/>
                    <a:p>
                      <a:pPr>
                        <a:lnSpc>
                          <a:spcPct val="107000"/>
                        </a:lnSpc>
                        <a:spcAft>
                          <a:spcPts val="800"/>
                        </a:spcAft>
                      </a:pPr>
                      <a:r>
                        <a:rPr lang="es-MX" sz="1800" kern="100" dirty="0">
                          <a:effectLst/>
                        </a:rPr>
                        <a:t>HSRP es un FHRP propietario de Cisco que está diseñado para permitir </a:t>
                      </a:r>
                      <a:r>
                        <a:rPr lang="es-MX" sz="1800" kern="100" dirty="0" err="1">
                          <a:effectLst/>
                        </a:rPr>
                        <a:t>conmu</a:t>
                      </a:r>
                      <a:r>
                        <a:rPr lang="es-MX" sz="1800" kern="100" dirty="0">
                          <a:effectLst/>
                        </a:rPr>
                        <a:t>- </a:t>
                      </a:r>
                      <a:r>
                        <a:rPr lang="es-MX" sz="1800" kern="100" dirty="0" err="1">
                          <a:effectLst/>
                        </a:rPr>
                        <a:t>tación</a:t>
                      </a:r>
                      <a:r>
                        <a:rPr lang="es-MX" sz="1800" kern="100" dirty="0">
                          <a:effectLst/>
                        </a:rPr>
                        <a:t> por error (</a:t>
                      </a:r>
                      <a:r>
                        <a:rPr lang="es-MX" sz="1800" kern="100" dirty="0" err="1">
                          <a:effectLst/>
                        </a:rPr>
                        <a:t>failover</a:t>
                      </a:r>
                      <a:r>
                        <a:rPr lang="es-MX" sz="1800" kern="100" dirty="0">
                          <a:effectLst/>
                        </a:rPr>
                        <a:t>) transparente de un dispositivo IPv4 de primer salto.</a:t>
                      </a:r>
                    </a:p>
                    <a:p>
                      <a:pPr>
                        <a:lnSpc>
                          <a:spcPct val="107000"/>
                        </a:lnSpc>
                        <a:spcAft>
                          <a:spcPts val="800"/>
                        </a:spcAft>
                      </a:pPr>
                      <a:r>
                        <a:rPr lang="es-MX" sz="1800" kern="100" dirty="0">
                          <a:effectLst/>
                        </a:rPr>
                        <a:t>HSRP proporciona alta disponibilidad de red al proporcionar redundancia de enrutamiento de primer salto para hosts en redes configuradas con una dirección de puerta de enlace predeterminada IPv4. </a:t>
                      </a:r>
                    </a:p>
                    <a:p>
                      <a:pPr>
                        <a:lnSpc>
                          <a:spcPct val="107000"/>
                        </a:lnSpc>
                        <a:spcAft>
                          <a:spcPts val="800"/>
                        </a:spcAft>
                      </a:pPr>
                      <a:r>
                        <a:rPr lang="es-MX" sz="1800" kern="100" dirty="0">
                          <a:effectLst/>
                        </a:rPr>
                        <a:t>HSRP se utiliza en un grupo de </a:t>
                      </a:r>
                      <a:r>
                        <a:rPr lang="es-MX" sz="1800" kern="100" dirty="0" err="1">
                          <a:effectLst/>
                        </a:rPr>
                        <a:t>routers</a:t>
                      </a:r>
                      <a:r>
                        <a:rPr lang="es-MX" sz="1800" kern="100" dirty="0">
                          <a:effectLst/>
                        </a:rPr>
                        <a:t> para seleccionar un dispositivo activo y un dispositivo de espera. El dispositivo activo se utiliza para el enrutamiento de paquetes; el dispositivo de reserva toma el control cuando el dispositivo activo falla o cuando se cumplen las condiciones preestablecidas. </a:t>
                      </a:r>
                    </a:p>
                    <a:p>
                      <a:pPr>
                        <a:lnSpc>
                          <a:spcPct val="107000"/>
                        </a:lnSpc>
                        <a:spcAft>
                          <a:spcPts val="800"/>
                        </a:spcAft>
                      </a:pPr>
                      <a:r>
                        <a:rPr lang="es-MX" sz="1800" kern="100" dirty="0">
                          <a:effectLst/>
                        </a:rPr>
                        <a:t>La función del </a:t>
                      </a:r>
                      <a:r>
                        <a:rPr lang="es-MX" sz="1800" kern="100" dirty="0" err="1">
                          <a:effectLst/>
                        </a:rPr>
                        <a:t>router</a:t>
                      </a:r>
                      <a:r>
                        <a:rPr lang="es-MX" sz="1800" kern="100" dirty="0">
                          <a:effectLst/>
                        </a:rPr>
                        <a:t> de reserva del HSRP es supervisar el estado operativo del grupo HSRP y asumir rápidamente la responsabilidad del reenvío de paquetes si el </a:t>
                      </a:r>
                      <a:r>
                        <a:rPr lang="es-MX" sz="1800" kern="100" dirty="0" err="1">
                          <a:effectLst/>
                        </a:rPr>
                        <a:t>router</a:t>
                      </a:r>
                      <a:r>
                        <a:rPr lang="es-MX" sz="1800" kern="100" dirty="0">
                          <a:effectLst/>
                        </a:rPr>
                        <a:t> activo falla.</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88768" marR="88768" marT="133152" marB="133152" anchor="ctr"/>
                </a:tc>
                <a:extLst>
                  <a:ext uri="{0D108BD9-81ED-4DB2-BD59-A6C34878D82A}">
                    <a16:rowId xmlns:a16="http://schemas.microsoft.com/office/drawing/2014/main" val="2661988321"/>
                  </a:ext>
                </a:extLst>
              </a:tr>
            </a:tbl>
          </a:graphicData>
        </a:graphic>
      </p:graphicFrame>
    </p:spTree>
    <p:extLst>
      <p:ext uri="{BB962C8B-B14F-4D97-AF65-F5344CB8AC3E}">
        <p14:creationId xmlns:p14="http://schemas.microsoft.com/office/powerpoint/2010/main" val="29647286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a 4">
            <a:extLst>
              <a:ext uri="{FF2B5EF4-FFF2-40B4-BE49-F238E27FC236}">
                <a16:creationId xmlns:a16="http://schemas.microsoft.com/office/drawing/2014/main" id="{9FF1B10D-1115-0FBD-8E3F-D6727FCA2828}"/>
              </a:ext>
            </a:extLst>
          </p:cNvPr>
          <p:cNvGraphicFramePr>
            <a:graphicFrameLocks noGrp="1"/>
          </p:cNvGraphicFramePr>
          <p:nvPr>
            <p:extLst>
              <p:ext uri="{D42A27DB-BD31-4B8C-83A1-F6EECF244321}">
                <p14:modId xmlns:p14="http://schemas.microsoft.com/office/powerpoint/2010/main" val="661124227"/>
              </p:ext>
            </p:extLst>
          </p:nvPr>
        </p:nvGraphicFramePr>
        <p:xfrm>
          <a:off x="411942" y="1358732"/>
          <a:ext cx="11368116" cy="4664060"/>
        </p:xfrm>
        <a:graphic>
          <a:graphicData uri="http://schemas.openxmlformats.org/drawingml/2006/table">
            <a:tbl>
              <a:tblPr firstRow="1" firstCol="1" bandRow="1">
                <a:tableStyleId>{5C22544A-7EE6-4342-B048-85BDC9FD1C3A}</a:tableStyleId>
              </a:tblPr>
              <a:tblGrid>
                <a:gridCol w="2358967">
                  <a:extLst>
                    <a:ext uri="{9D8B030D-6E8A-4147-A177-3AD203B41FA5}">
                      <a16:colId xmlns:a16="http://schemas.microsoft.com/office/drawing/2014/main" val="1578304985"/>
                    </a:ext>
                  </a:extLst>
                </a:gridCol>
                <a:gridCol w="9009149">
                  <a:extLst>
                    <a:ext uri="{9D8B030D-6E8A-4147-A177-3AD203B41FA5}">
                      <a16:colId xmlns:a16="http://schemas.microsoft.com/office/drawing/2014/main" val="1684130298"/>
                    </a:ext>
                  </a:extLst>
                </a:gridCol>
              </a:tblGrid>
              <a:tr h="481418">
                <a:tc>
                  <a:txBody>
                    <a:bodyPr/>
                    <a:lstStyle/>
                    <a:p>
                      <a:pPr>
                        <a:lnSpc>
                          <a:spcPct val="107000"/>
                        </a:lnSpc>
                        <a:spcAft>
                          <a:spcPts val="800"/>
                        </a:spcAft>
                      </a:pPr>
                      <a:r>
                        <a:rPr lang="es-MX" sz="1800" kern="100" dirty="0">
                          <a:effectLst/>
                        </a:rPr>
                        <a:t>Opciones de FHRP</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88768" marR="88768" marT="133152" marB="133152" anchor="ctr"/>
                </a:tc>
                <a:tc>
                  <a:txBody>
                    <a:bodyPr/>
                    <a:lstStyle/>
                    <a:p>
                      <a:pPr>
                        <a:lnSpc>
                          <a:spcPct val="107000"/>
                        </a:lnSpc>
                        <a:spcAft>
                          <a:spcPts val="800"/>
                        </a:spcAft>
                      </a:pPr>
                      <a:r>
                        <a:rPr lang="es-MX" sz="1800" kern="100" dirty="0">
                          <a:effectLst/>
                        </a:rPr>
                        <a:t>Descripción</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88768" marR="88768" marT="133152" marB="133152" anchor="ctr"/>
                </a:tc>
                <a:extLst>
                  <a:ext uri="{0D108BD9-81ED-4DB2-BD59-A6C34878D82A}">
                    <a16:rowId xmlns:a16="http://schemas.microsoft.com/office/drawing/2014/main" val="1198081975"/>
                  </a:ext>
                </a:extLst>
              </a:tr>
              <a:tr h="802962">
                <a:tc>
                  <a:txBody>
                    <a:bodyPr/>
                    <a:lstStyle/>
                    <a:p>
                      <a:pPr>
                        <a:lnSpc>
                          <a:spcPct val="107000"/>
                        </a:lnSpc>
                        <a:spcAft>
                          <a:spcPts val="800"/>
                        </a:spcAft>
                      </a:pPr>
                      <a:r>
                        <a:rPr lang="es-MX" sz="1800" b="1" kern="100" dirty="0">
                          <a:solidFill>
                            <a:schemeClr val="lt1"/>
                          </a:solidFill>
                          <a:effectLst/>
                          <a:latin typeface="+mn-lt"/>
                          <a:ea typeface="+mn-ea"/>
                          <a:cs typeface="+mn-cs"/>
                        </a:rPr>
                        <a:t>HSRP para IPv6</a:t>
                      </a:r>
                    </a:p>
                  </a:txBody>
                  <a:tcPr marL="95250" marR="95250" marT="142875" marB="142875" anchor="ctr"/>
                </a:tc>
                <a:tc>
                  <a:txBody>
                    <a:bodyPr/>
                    <a:lstStyle/>
                    <a:p>
                      <a:pPr>
                        <a:lnSpc>
                          <a:spcPct val="107000"/>
                        </a:lnSpc>
                        <a:spcAft>
                          <a:spcPts val="800"/>
                        </a:spcAft>
                      </a:pPr>
                      <a:r>
                        <a:rPr lang="es-MX" sz="1800" kern="100" dirty="0">
                          <a:solidFill>
                            <a:schemeClr val="dk1"/>
                          </a:solidFill>
                          <a:effectLst/>
                          <a:latin typeface="+mn-lt"/>
                          <a:ea typeface="+mn-ea"/>
                          <a:cs typeface="+mn-cs"/>
                        </a:rPr>
                        <a:t>Es un FHRP de Cisco que proporciona la misma funcionalidad que el HSRP, pero en un entorno IPv6. </a:t>
                      </a:r>
                    </a:p>
                  </a:txBody>
                  <a:tcPr marL="95250" marR="95250" marT="142875" marB="142875" anchor="ctr"/>
                </a:tc>
                <a:extLst>
                  <a:ext uri="{0D108BD9-81ED-4DB2-BD59-A6C34878D82A}">
                    <a16:rowId xmlns:a16="http://schemas.microsoft.com/office/drawing/2014/main" val="2661988321"/>
                  </a:ext>
                </a:extLst>
              </a:tr>
              <a:tr h="1376321">
                <a:tc>
                  <a:txBody>
                    <a:bodyPr/>
                    <a:lstStyle/>
                    <a:p>
                      <a:pPr>
                        <a:lnSpc>
                          <a:spcPct val="107000"/>
                        </a:lnSpc>
                        <a:spcAft>
                          <a:spcPts val="800"/>
                        </a:spcAft>
                      </a:pPr>
                      <a:r>
                        <a:rPr lang="es-MX" sz="1800" b="1" kern="100" dirty="0">
                          <a:solidFill>
                            <a:schemeClr val="lt1"/>
                          </a:solidFill>
                          <a:effectLst/>
                          <a:latin typeface="+mn-lt"/>
                          <a:ea typeface="+mn-ea"/>
                          <a:cs typeface="+mn-cs"/>
                        </a:rPr>
                        <a:t>Virtual </a:t>
                      </a:r>
                      <a:r>
                        <a:rPr lang="es-MX" sz="1800" b="1" kern="100" dirty="0" err="1">
                          <a:solidFill>
                            <a:schemeClr val="lt1"/>
                          </a:solidFill>
                          <a:effectLst/>
                          <a:latin typeface="+mn-lt"/>
                          <a:ea typeface="+mn-ea"/>
                          <a:cs typeface="+mn-cs"/>
                        </a:rPr>
                        <a:t>Router</a:t>
                      </a:r>
                      <a:r>
                        <a:rPr lang="es-MX" sz="1800" b="1" kern="100" dirty="0">
                          <a:solidFill>
                            <a:schemeClr val="lt1"/>
                          </a:solidFill>
                          <a:effectLst/>
                          <a:latin typeface="+mn-lt"/>
                          <a:ea typeface="+mn-ea"/>
                          <a:cs typeface="+mn-cs"/>
                        </a:rPr>
                        <a:t> </a:t>
                      </a:r>
                      <a:r>
                        <a:rPr lang="es-MX" sz="1800" b="1" kern="100" dirty="0" err="1">
                          <a:solidFill>
                            <a:schemeClr val="lt1"/>
                          </a:solidFill>
                          <a:effectLst/>
                          <a:latin typeface="+mn-lt"/>
                          <a:ea typeface="+mn-ea"/>
                          <a:cs typeface="+mn-cs"/>
                        </a:rPr>
                        <a:t>Redundancy</a:t>
                      </a:r>
                      <a:r>
                        <a:rPr lang="es-MX" sz="1800" b="1" kern="100" dirty="0">
                          <a:solidFill>
                            <a:schemeClr val="lt1"/>
                          </a:solidFill>
                          <a:effectLst/>
                          <a:latin typeface="+mn-lt"/>
                          <a:ea typeface="+mn-ea"/>
                          <a:cs typeface="+mn-cs"/>
                        </a:rPr>
                        <a:t> </a:t>
                      </a:r>
                      <a:r>
                        <a:rPr lang="es-MX" sz="1800" b="1" kern="100" dirty="0" err="1">
                          <a:solidFill>
                            <a:schemeClr val="lt1"/>
                          </a:solidFill>
                          <a:effectLst/>
                          <a:latin typeface="+mn-lt"/>
                          <a:ea typeface="+mn-ea"/>
                          <a:cs typeface="+mn-cs"/>
                        </a:rPr>
                        <a:t>Protocol</a:t>
                      </a:r>
                      <a:r>
                        <a:rPr lang="es-MX" sz="1800" b="1" kern="100" dirty="0">
                          <a:solidFill>
                            <a:schemeClr val="lt1"/>
                          </a:solidFill>
                          <a:effectLst/>
                          <a:latin typeface="+mn-lt"/>
                          <a:ea typeface="+mn-ea"/>
                          <a:cs typeface="+mn-cs"/>
                        </a:rPr>
                        <a:t> </a:t>
                      </a:r>
                      <a:r>
                        <a:rPr lang="es-MX" sz="1800" b="1" kern="100" dirty="0" err="1">
                          <a:solidFill>
                            <a:schemeClr val="lt1"/>
                          </a:solidFill>
                          <a:effectLst/>
                          <a:latin typeface="+mn-lt"/>
                          <a:ea typeface="+mn-ea"/>
                          <a:cs typeface="+mn-cs"/>
                        </a:rPr>
                        <a:t>version</a:t>
                      </a:r>
                      <a:r>
                        <a:rPr lang="es-MX" sz="1800" b="1" kern="100" dirty="0">
                          <a:solidFill>
                            <a:schemeClr val="lt1"/>
                          </a:solidFill>
                          <a:effectLst/>
                          <a:latin typeface="+mn-lt"/>
                          <a:ea typeface="+mn-ea"/>
                          <a:cs typeface="+mn-cs"/>
                        </a:rPr>
                        <a:t> 2 (VRRPv2)</a:t>
                      </a:r>
                    </a:p>
                  </a:txBody>
                  <a:tcPr marL="95250" marR="95250" marT="142875" marB="142875" anchor="ctr"/>
                </a:tc>
                <a:tc>
                  <a:txBody>
                    <a:bodyPr/>
                    <a:lstStyle/>
                    <a:p>
                      <a:pPr>
                        <a:lnSpc>
                          <a:spcPct val="107000"/>
                        </a:lnSpc>
                        <a:spcAft>
                          <a:spcPts val="800"/>
                        </a:spcAft>
                      </a:pPr>
                      <a:r>
                        <a:rPr lang="es-MX" sz="1800" kern="100" dirty="0">
                          <a:solidFill>
                            <a:schemeClr val="dk1"/>
                          </a:solidFill>
                          <a:effectLst/>
                          <a:latin typeface="+mn-lt"/>
                          <a:ea typeface="+mn-ea"/>
                          <a:cs typeface="+mn-cs"/>
                        </a:rPr>
                        <a:t>Es un protocolo de elección no patentado que asigna dinámicamente la responsabilidad de uno o más </a:t>
                      </a:r>
                      <a:r>
                        <a:rPr lang="es-MX" sz="1800" kern="100" dirty="0" err="1">
                          <a:solidFill>
                            <a:schemeClr val="dk1"/>
                          </a:solidFill>
                          <a:effectLst/>
                          <a:latin typeface="+mn-lt"/>
                          <a:ea typeface="+mn-ea"/>
                          <a:cs typeface="+mn-cs"/>
                        </a:rPr>
                        <a:t>routers</a:t>
                      </a:r>
                      <a:r>
                        <a:rPr lang="es-MX" sz="1800" kern="100" dirty="0">
                          <a:solidFill>
                            <a:schemeClr val="dk1"/>
                          </a:solidFill>
                          <a:effectLst/>
                          <a:latin typeface="+mn-lt"/>
                          <a:ea typeface="+mn-ea"/>
                          <a:cs typeface="+mn-cs"/>
                        </a:rPr>
                        <a:t> virtuales a los </a:t>
                      </a:r>
                      <a:r>
                        <a:rPr lang="es-MX" sz="1800" kern="100" dirty="0" err="1">
                          <a:solidFill>
                            <a:schemeClr val="dk1"/>
                          </a:solidFill>
                          <a:effectLst/>
                          <a:latin typeface="+mn-lt"/>
                          <a:ea typeface="+mn-ea"/>
                          <a:cs typeface="+mn-cs"/>
                        </a:rPr>
                        <a:t>routers</a:t>
                      </a:r>
                      <a:r>
                        <a:rPr lang="es-MX" sz="1800" kern="100" dirty="0">
                          <a:solidFill>
                            <a:schemeClr val="dk1"/>
                          </a:solidFill>
                          <a:effectLst/>
                          <a:latin typeface="+mn-lt"/>
                          <a:ea typeface="+mn-ea"/>
                          <a:cs typeface="+mn-cs"/>
                        </a:rPr>
                        <a:t> VRRP en una LAN IPv4. </a:t>
                      </a:r>
                    </a:p>
                    <a:p>
                      <a:pPr>
                        <a:lnSpc>
                          <a:spcPct val="107000"/>
                        </a:lnSpc>
                        <a:spcAft>
                          <a:spcPts val="800"/>
                        </a:spcAft>
                      </a:pPr>
                      <a:r>
                        <a:rPr lang="es-MX" sz="1800" kern="100" dirty="0">
                          <a:solidFill>
                            <a:schemeClr val="dk1"/>
                          </a:solidFill>
                          <a:effectLst/>
                          <a:latin typeface="+mn-lt"/>
                          <a:ea typeface="+mn-ea"/>
                          <a:cs typeface="+mn-cs"/>
                        </a:rPr>
                        <a:t>Esto permite que varios </a:t>
                      </a:r>
                      <a:r>
                        <a:rPr lang="es-MX" sz="1800" kern="100" dirty="0" err="1">
                          <a:solidFill>
                            <a:schemeClr val="dk1"/>
                          </a:solidFill>
                          <a:effectLst/>
                          <a:latin typeface="+mn-lt"/>
                          <a:ea typeface="+mn-ea"/>
                          <a:cs typeface="+mn-cs"/>
                        </a:rPr>
                        <a:t>routers</a:t>
                      </a:r>
                      <a:r>
                        <a:rPr lang="es-MX" sz="1800" kern="100" dirty="0">
                          <a:solidFill>
                            <a:schemeClr val="dk1"/>
                          </a:solidFill>
                          <a:effectLst/>
                          <a:latin typeface="+mn-lt"/>
                          <a:ea typeface="+mn-ea"/>
                          <a:cs typeface="+mn-cs"/>
                        </a:rPr>
                        <a:t> en un enlace multiacceso utilicen la misma dirección IPv4 virtual. En una configuración VRRP, se elige un </a:t>
                      </a:r>
                      <a:r>
                        <a:rPr lang="es-MX" sz="1800" kern="100" dirty="0" err="1">
                          <a:solidFill>
                            <a:schemeClr val="dk1"/>
                          </a:solidFill>
                          <a:effectLst/>
                          <a:latin typeface="+mn-lt"/>
                          <a:ea typeface="+mn-ea"/>
                          <a:cs typeface="+mn-cs"/>
                        </a:rPr>
                        <a:t>router</a:t>
                      </a:r>
                      <a:r>
                        <a:rPr lang="es-MX" sz="1800" kern="100" dirty="0">
                          <a:solidFill>
                            <a:schemeClr val="dk1"/>
                          </a:solidFill>
                          <a:effectLst/>
                          <a:latin typeface="+mn-lt"/>
                          <a:ea typeface="+mn-ea"/>
                          <a:cs typeface="+mn-cs"/>
                        </a:rPr>
                        <a:t> como maestro del </a:t>
                      </a:r>
                      <a:r>
                        <a:rPr lang="es-MX" sz="1800" kern="100" dirty="0" err="1">
                          <a:solidFill>
                            <a:schemeClr val="dk1"/>
                          </a:solidFill>
                          <a:effectLst/>
                          <a:latin typeface="+mn-lt"/>
                          <a:ea typeface="+mn-ea"/>
                          <a:cs typeface="+mn-cs"/>
                        </a:rPr>
                        <a:t>router</a:t>
                      </a:r>
                      <a:r>
                        <a:rPr lang="es-MX" sz="1800" kern="100" dirty="0">
                          <a:solidFill>
                            <a:schemeClr val="dk1"/>
                          </a:solidFill>
                          <a:effectLst/>
                          <a:latin typeface="+mn-lt"/>
                          <a:ea typeface="+mn-ea"/>
                          <a:cs typeface="+mn-cs"/>
                        </a:rPr>
                        <a:t> virtual, y los otros </a:t>
                      </a:r>
                      <a:r>
                        <a:rPr lang="es-MX" sz="1800" kern="100" dirty="0" err="1">
                          <a:solidFill>
                            <a:schemeClr val="dk1"/>
                          </a:solidFill>
                          <a:effectLst/>
                          <a:latin typeface="+mn-lt"/>
                          <a:ea typeface="+mn-ea"/>
                          <a:cs typeface="+mn-cs"/>
                        </a:rPr>
                        <a:t>routers</a:t>
                      </a:r>
                      <a:r>
                        <a:rPr lang="es-MX" sz="1800" kern="100" dirty="0">
                          <a:solidFill>
                            <a:schemeClr val="dk1"/>
                          </a:solidFill>
                          <a:effectLst/>
                          <a:latin typeface="+mn-lt"/>
                          <a:ea typeface="+mn-ea"/>
                          <a:cs typeface="+mn-cs"/>
                        </a:rPr>
                        <a:t> actúan como copias de seguridad, en caso de que el maestro del </a:t>
                      </a:r>
                      <a:r>
                        <a:rPr lang="es-MX" sz="1800" kern="100" dirty="0" err="1">
                          <a:solidFill>
                            <a:schemeClr val="dk1"/>
                          </a:solidFill>
                          <a:effectLst/>
                          <a:latin typeface="+mn-lt"/>
                          <a:ea typeface="+mn-ea"/>
                          <a:cs typeface="+mn-cs"/>
                        </a:rPr>
                        <a:t>router</a:t>
                      </a:r>
                      <a:r>
                        <a:rPr lang="es-MX" sz="1800" kern="100" dirty="0">
                          <a:solidFill>
                            <a:schemeClr val="dk1"/>
                          </a:solidFill>
                          <a:effectLst/>
                          <a:latin typeface="+mn-lt"/>
                          <a:ea typeface="+mn-ea"/>
                          <a:cs typeface="+mn-cs"/>
                        </a:rPr>
                        <a:t> virtual falle.</a:t>
                      </a:r>
                    </a:p>
                  </a:txBody>
                  <a:tcPr marL="95250" marR="95250" marT="142875" marB="142875" anchor="ctr"/>
                </a:tc>
                <a:extLst>
                  <a:ext uri="{0D108BD9-81ED-4DB2-BD59-A6C34878D82A}">
                    <a16:rowId xmlns:a16="http://schemas.microsoft.com/office/drawing/2014/main" val="636436861"/>
                  </a:ext>
                </a:extLst>
              </a:tr>
              <a:tr h="820624">
                <a:tc>
                  <a:txBody>
                    <a:bodyPr/>
                    <a:lstStyle/>
                    <a:p>
                      <a:pPr>
                        <a:lnSpc>
                          <a:spcPct val="107000"/>
                        </a:lnSpc>
                        <a:spcAft>
                          <a:spcPts val="800"/>
                        </a:spcAft>
                      </a:pPr>
                      <a:r>
                        <a:rPr lang="es-MX" sz="1800" b="1" kern="100" dirty="0">
                          <a:solidFill>
                            <a:schemeClr val="lt1"/>
                          </a:solidFill>
                          <a:effectLst/>
                          <a:latin typeface="+mn-lt"/>
                          <a:ea typeface="+mn-ea"/>
                          <a:cs typeface="+mn-cs"/>
                        </a:rPr>
                        <a:t>VRRPv3</a:t>
                      </a:r>
                    </a:p>
                  </a:txBody>
                  <a:tcPr marL="95250" marR="95250" marT="142875" marB="142875" anchor="ctr"/>
                </a:tc>
                <a:tc>
                  <a:txBody>
                    <a:bodyPr/>
                    <a:lstStyle/>
                    <a:p>
                      <a:pPr>
                        <a:lnSpc>
                          <a:spcPct val="107000"/>
                        </a:lnSpc>
                        <a:spcAft>
                          <a:spcPts val="800"/>
                        </a:spcAft>
                      </a:pPr>
                      <a:r>
                        <a:rPr lang="es-MX" sz="1800" kern="100" dirty="0">
                          <a:solidFill>
                            <a:schemeClr val="dk1"/>
                          </a:solidFill>
                          <a:effectLst/>
                          <a:latin typeface="+mn-lt"/>
                          <a:ea typeface="+mn-ea"/>
                          <a:cs typeface="+mn-cs"/>
                        </a:rPr>
                        <a:t>Proporciona la capacidad de admitir direcciones IPv4 e IPv6. VRRPv3 Funciona en entornos de varios proveedores y es más escalable que VRRPv2.</a:t>
                      </a:r>
                    </a:p>
                  </a:txBody>
                  <a:tcPr marL="95250" marR="95250" marT="142875" marB="142875" anchor="ctr"/>
                </a:tc>
                <a:extLst>
                  <a:ext uri="{0D108BD9-81ED-4DB2-BD59-A6C34878D82A}">
                    <a16:rowId xmlns:a16="http://schemas.microsoft.com/office/drawing/2014/main" val="2394481774"/>
                  </a:ext>
                </a:extLst>
              </a:tr>
            </a:tbl>
          </a:graphicData>
        </a:graphic>
      </p:graphicFrame>
    </p:spTree>
    <p:extLst>
      <p:ext uri="{BB962C8B-B14F-4D97-AF65-F5344CB8AC3E}">
        <p14:creationId xmlns:p14="http://schemas.microsoft.com/office/powerpoint/2010/main" val="35451793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a 4">
            <a:extLst>
              <a:ext uri="{FF2B5EF4-FFF2-40B4-BE49-F238E27FC236}">
                <a16:creationId xmlns:a16="http://schemas.microsoft.com/office/drawing/2014/main" id="{9FF1B10D-1115-0FBD-8E3F-D6727FCA2828}"/>
              </a:ext>
            </a:extLst>
          </p:cNvPr>
          <p:cNvGraphicFramePr>
            <a:graphicFrameLocks noGrp="1"/>
          </p:cNvGraphicFramePr>
          <p:nvPr>
            <p:extLst>
              <p:ext uri="{D42A27DB-BD31-4B8C-83A1-F6EECF244321}">
                <p14:modId xmlns:p14="http://schemas.microsoft.com/office/powerpoint/2010/main" val="1829665302"/>
              </p:ext>
            </p:extLst>
          </p:nvPr>
        </p:nvGraphicFramePr>
        <p:xfrm>
          <a:off x="319580" y="980041"/>
          <a:ext cx="11368116" cy="5544551"/>
        </p:xfrm>
        <a:graphic>
          <a:graphicData uri="http://schemas.openxmlformats.org/drawingml/2006/table">
            <a:tbl>
              <a:tblPr firstRow="1" firstCol="1" bandRow="1">
                <a:tableStyleId>{5C22544A-7EE6-4342-B048-85BDC9FD1C3A}</a:tableStyleId>
              </a:tblPr>
              <a:tblGrid>
                <a:gridCol w="2358967">
                  <a:extLst>
                    <a:ext uri="{9D8B030D-6E8A-4147-A177-3AD203B41FA5}">
                      <a16:colId xmlns:a16="http://schemas.microsoft.com/office/drawing/2014/main" val="1578304985"/>
                    </a:ext>
                  </a:extLst>
                </a:gridCol>
                <a:gridCol w="9009149">
                  <a:extLst>
                    <a:ext uri="{9D8B030D-6E8A-4147-A177-3AD203B41FA5}">
                      <a16:colId xmlns:a16="http://schemas.microsoft.com/office/drawing/2014/main" val="1684130298"/>
                    </a:ext>
                  </a:extLst>
                </a:gridCol>
              </a:tblGrid>
              <a:tr h="481418">
                <a:tc>
                  <a:txBody>
                    <a:bodyPr/>
                    <a:lstStyle/>
                    <a:p>
                      <a:pPr>
                        <a:lnSpc>
                          <a:spcPct val="107000"/>
                        </a:lnSpc>
                        <a:spcAft>
                          <a:spcPts val="800"/>
                        </a:spcAft>
                      </a:pPr>
                      <a:r>
                        <a:rPr lang="es-MX" sz="1800" kern="100" dirty="0">
                          <a:effectLst/>
                        </a:rPr>
                        <a:t>Opciones de FHRP</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88768" marR="88768" marT="133152" marB="133152" anchor="ctr"/>
                </a:tc>
                <a:tc>
                  <a:txBody>
                    <a:bodyPr/>
                    <a:lstStyle/>
                    <a:p>
                      <a:pPr>
                        <a:lnSpc>
                          <a:spcPct val="107000"/>
                        </a:lnSpc>
                        <a:spcAft>
                          <a:spcPts val="800"/>
                        </a:spcAft>
                      </a:pPr>
                      <a:r>
                        <a:rPr lang="es-MX" sz="1800" kern="100" dirty="0">
                          <a:effectLst/>
                        </a:rPr>
                        <a:t>Descripción</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88768" marR="88768" marT="133152" marB="133152" anchor="ctr"/>
                </a:tc>
                <a:extLst>
                  <a:ext uri="{0D108BD9-81ED-4DB2-BD59-A6C34878D82A}">
                    <a16:rowId xmlns:a16="http://schemas.microsoft.com/office/drawing/2014/main" val="1198081975"/>
                  </a:ext>
                </a:extLst>
              </a:tr>
              <a:tr h="1013434">
                <a:tc>
                  <a:txBody>
                    <a:bodyPr/>
                    <a:lstStyle/>
                    <a:p>
                      <a:pPr>
                        <a:lnSpc>
                          <a:spcPct val="107000"/>
                        </a:lnSpc>
                        <a:spcAft>
                          <a:spcPts val="800"/>
                        </a:spcAft>
                      </a:pPr>
                      <a:r>
                        <a:rPr lang="es-MX" sz="1800" b="1" kern="100" dirty="0">
                          <a:solidFill>
                            <a:schemeClr val="lt1"/>
                          </a:solidFill>
                          <a:effectLst/>
                          <a:latin typeface="+mn-lt"/>
                          <a:ea typeface="+mn-ea"/>
                          <a:cs typeface="+mn-cs"/>
                        </a:rPr>
                        <a:t>Protocolo de Equilibrio de Carga del Gateway </a:t>
                      </a:r>
                    </a:p>
                  </a:txBody>
                  <a:tcPr marL="95250" marR="95250" marT="142875" marB="142875" anchor="ctr"/>
                </a:tc>
                <a:tc>
                  <a:txBody>
                    <a:bodyPr/>
                    <a:lstStyle/>
                    <a:p>
                      <a:pPr>
                        <a:lnSpc>
                          <a:spcPct val="107000"/>
                        </a:lnSpc>
                        <a:spcAft>
                          <a:spcPts val="800"/>
                        </a:spcAft>
                      </a:pPr>
                      <a:r>
                        <a:rPr lang="es-MX" sz="1800" kern="100" dirty="0">
                          <a:solidFill>
                            <a:schemeClr val="dk1"/>
                          </a:solidFill>
                          <a:effectLst/>
                          <a:latin typeface="+mn-lt"/>
                          <a:ea typeface="+mn-ea"/>
                          <a:cs typeface="+mn-cs"/>
                        </a:rPr>
                        <a:t>(Gateway Load </a:t>
                      </a:r>
                      <a:r>
                        <a:rPr lang="es-MX" sz="1800" kern="100" dirty="0" err="1">
                          <a:solidFill>
                            <a:schemeClr val="dk1"/>
                          </a:solidFill>
                          <a:effectLst/>
                          <a:latin typeface="+mn-lt"/>
                          <a:ea typeface="+mn-ea"/>
                          <a:cs typeface="+mn-cs"/>
                        </a:rPr>
                        <a:t>Balancing</a:t>
                      </a:r>
                      <a:r>
                        <a:rPr lang="es-MX" sz="1800" kern="100" dirty="0">
                          <a:solidFill>
                            <a:schemeClr val="dk1"/>
                          </a:solidFill>
                          <a:effectLst/>
                          <a:latin typeface="+mn-lt"/>
                          <a:ea typeface="+mn-ea"/>
                          <a:cs typeface="+mn-cs"/>
                        </a:rPr>
                        <a:t> </a:t>
                      </a:r>
                      <a:r>
                        <a:rPr lang="es-MX" sz="1800" kern="100" dirty="0" err="1">
                          <a:solidFill>
                            <a:schemeClr val="dk1"/>
                          </a:solidFill>
                          <a:effectLst/>
                          <a:latin typeface="+mn-lt"/>
                          <a:ea typeface="+mn-ea"/>
                          <a:cs typeface="+mn-cs"/>
                        </a:rPr>
                        <a:t>Protocol</a:t>
                      </a:r>
                      <a:r>
                        <a:rPr lang="es-MX" sz="1800" kern="100" dirty="0">
                          <a:solidFill>
                            <a:schemeClr val="dk1"/>
                          </a:solidFill>
                          <a:effectLst/>
                          <a:latin typeface="+mn-lt"/>
                          <a:ea typeface="+mn-ea"/>
                          <a:cs typeface="+mn-cs"/>
                        </a:rPr>
                        <a:t>, GLBP), es un FHRP de Cisco que protege el tráfico de datos de un </a:t>
                      </a:r>
                      <a:r>
                        <a:rPr lang="es-MX" sz="1800" kern="100" dirty="0" err="1">
                          <a:solidFill>
                            <a:schemeClr val="dk1"/>
                          </a:solidFill>
                          <a:effectLst/>
                          <a:latin typeface="+mn-lt"/>
                          <a:ea typeface="+mn-ea"/>
                          <a:cs typeface="+mn-cs"/>
                        </a:rPr>
                        <a:t>router</a:t>
                      </a:r>
                      <a:r>
                        <a:rPr lang="es-MX" sz="1800" kern="100" dirty="0">
                          <a:solidFill>
                            <a:schemeClr val="dk1"/>
                          </a:solidFill>
                          <a:effectLst/>
                          <a:latin typeface="+mn-lt"/>
                          <a:ea typeface="+mn-ea"/>
                          <a:cs typeface="+mn-cs"/>
                        </a:rPr>
                        <a:t> o circuito fallido, como HSRP y VRRP, mientras que también permite la carga equilibrada (también llamado uso compartido de carga) entre un grupo de </a:t>
                      </a:r>
                      <a:r>
                        <a:rPr lang="es-MX" sz="1800" kern="100" dirty="0" err="1">
                          <a:solidFill>
                            <a:schemeClr val="dk1"/>
                          </a:solidFill>
                          <a:effectLst/>
                          <a:latin typeface="+mn-lt"/>
                          <a:ea typeface="+mn-ea"/>
                          <a:cs typeface="+mn-cs"/>
                        </a:rPr>
                        <a:t>routers</a:t>
                      </a:r>
                      <a:r>
                        <a:rPr lang="es-MX" sz="1800" kern="100" dirty="0">
                          <a:solidFill>
                            <a:schemeClr val="dk1"/>
                          </a:solidFill>
                          <a:effectLst/>
                          <a:latin typeface="+mn-lt"/>
                          <a:ea typeface="+mn-ea"/>
                          <a:cs typeface="+mn-cs"/>
                        </a:rPr>
                        <a:t>.</a:t>
                      </a:r>
                    </a:p>
                  </a:txBody>
                  <a:tcPr marL="95250" marR="95250" marT="142875" marB="142875" anchor="ctr"/>
                </a:tc>
                <a:extLst>
                  <a:ext uri="{0D108BD9-81ED-4DB2-BD59-A6C34878D82A}">
                    <a16:rowId xmlns:a16="http://schemas.microsoft.com/office/drawing/2014/main" val="2811172247"/>
                  </a:ext>
                </a:extLst>
              </a:tr>
              <a:tr h="1013434">
                <a:tc>
                  <a:txBody>
                    <a:bodyPr/>
                    <a:lstStyle/>
                    <a:p>
                      <a:pPr>
                        <a:lnSpc>
                          <a:spcPct val="107000"/>
                        </a:lnSpc>
                        <a:spcAft>
                          <a:spcPts val="800"/>
                        </a:spcAft>
                      </a:pPr>
                      <a:r>
                        <a:rPr lang="es-MX" sz="1800" b="1" kern="100" dirty="0">
                          <a:solidFill>
                            <a:schemeClr val="lt1"/>
                          </a:solidFill>
                          <a:effectLst/>
                          <a:latin typeface="+mn-lt"/>
                          <a:ea typeface="+mn-ea"/>
                          <a:cs typeface="+mn-cs"/>
                        </a:rPr>
                        <a:t>GLBP para IPv6</a:t>
                      </a:r>
                    </a:p>
                  </a:txBody>
                  <a:tcPr marL="95250" marR="95250" marT="142875" marB="142875" anchor="ctr"/>
                </a:tc>
                <a:tc>
                  <a:txBody>
                    <a:bodyPr/>
                    <a:lstStyle/>
                    <a:p>
                      <a:pPr>
                        <a:lnSpc>
                          <a:spcPct val="107000"/>
                        </a:lnSpc>
                        <a:spcAft>
                          <a:spcPts val="800"/>
                        </a:spcAft>
                      </a:pPr>
                      <a:r>
                        <a:rPr lang="es-MX" sz="1800" kern="100" dirty="0">
                          <a:solidFill>
                            <a:schemeClr val="dk1"/>
                          </a:solidFill>
                          <a:effectLst/>
                          <a:latin typeface="+mn-lt"/>
                          <a:ea typeface="+mn-ea"/>
                          <a:cs typeface="+mn-cs"/>
                        </a:rPr>
                        <a:t>Esta es una FHRP propietaria de Cisco que proporciona la misma funcionalidad de GLBP, pero en un entorno IPv6. GLBP para IPv6 proporciona automáticamente un respaldo de </a:t>
                      </a:r>
                      <a:r>
                        <a:rPr lang="es-MX" sz="1800" kern="100" dirty="0" err="1">
                          <a:solidFill>
                            <a:schemeClr val="dk1"/>
                          </a:solidFill>
                          <a:effectLst/>
                          <a:latin typeface="+mn-lt"/>
                          <a:ea typeface="+mn-ea"/>
                          <a:cs typeface="+mn-cs"/>
                        </a:rPr>
                        <a:t>router</a:t>
                      </a:r>
                      <a:r>
                        <a:rPr lang="es-MX" sz="1800" kern="100" dirty="0">
                          <a:solidFill>
                            <a:schemeClr val="dk1"/>
                          </a:solidFill>
                          <a:effectLst/>
                          <a:latin typeface="+mn-lt"/>
                          <a:ea typeface="+mn-ea"/>
                          <a:cs typeface="+mn-cs"/>
                        </a:rPr>
                        <a:t> para los hosts IPv6 configurados con un único </a:t>
                      </a:r>
                      <a:r>
                        <a:rPr lang="es-MX" sz="1800" kern="100" dirty="0" err="1">
                          <a:solidFill>
                            <a:schemeClr val="dk1"/>
                          </a:solidFill>
                          <a:effectLst/>
                          <a:latin typeface="+mn-lt"/>
                          <a:ea typeface="+mn-ea"/>
                          <a:cs typeface="+mn-cs"/>
                        </a:rPr>
                        <a:t>gateway</a:t>
                      </a:r>
                      <a:r>
                        <a:rPr lang="es-MX" sz="1800" kern="100" dirty="0">
                          <a:solidFill>
                            <a:schemeClr val="dk1"/>
                          </a:solidFill>
                          <a:effectLst/>
                          <a:latin typeface="+mn-lt"/>
                          <a:ea typeface="+mn-ea"/>
                          <a:cs typeface="+mn-cs"/>
                        </a:rPr>
                        <a:t> predeterminado en una LAN. Múltiples </a:t>
                      </a:r>
                      <a:r>
                        <a:rPr lang="es-MX" sz="1800" kern="100" dirty="0" err="1">
                          <a:solidFill>
                            <a:schemeClr val="dk1"/>
                          </a:solidFill>
                          <a:effectLst/>
                          <a:latin typeface="+mn-lt"/>
                          <a:ea typeface="+mn-ea"/>
                          <a:cs typeface="+mn-cs"/>
                        </a:rPr>
                        <a:t>routers</a:t>
                      </a:r>
                      <a:r>
                        <a:rPr lang="es-MX" sz="1800" kern="100" dirty="0">
                          <a:solidFill>
                            <a:schemeClr val="dk1"/>
                          </a:solidFill>
                          <a:effectLst/>
                          <a:latin typeface="+mn-lt"/>
                          <a:ea typeface="+mn-ea"/>
                          <a:cs typeface="+mn-cs"/>
                        </a:rPr>
                        <a:t> de primer salto en la LAN se combinan para ofrecer un solo </a:t>
                      </a:r>
                      <a:r>
                        <a:rPr lang="es-MX" sz="1800" kern="100" dirty="0" err="1">
                          <a:solidFill>
                            <a:schemeClr val="dk1"/>
                          </a:solidFill>
                          <a:effectLst/>
                          <a:latin typeface="+mn-lt"/>
                          <a:ea typeface="+mn-ea"/>
                          <a:cs typeface="+mn-cs"/>
                        </a:rPr>
                        <a:t>router</a:t>
                      </a:r>
                      <a:r>
                        <a:rPr lang="es-MX" sz="1800" kern="100" dirty="0">
                          <a:solidFill>
                            <a:schemeClr val="dk1"/>
                          </a:solidFill>
                          <a:effectLst/>
                          <a:latin typeface="+mn-lt"/>
                          <a:ea typeface="+mn-ea"/>
                          <a:cs typeface="+mn-cs"/>
                        </a:rPr>
                        <a:t> virtual de primer salto IPv6 mientras se comparte la carga de reenvío de paquetes IPv6.</a:t>
                      </a:r>
                    </a:p>
                  </a:txBody>
                  <a:tcPr marL="95250" marR="95250" marT="142875" marB="142875" anchor="ctr"/>
                </a:tc>
                <a:extLst>
                  <a:ext uri="{0D108BD9-81ED-4DB2-BD59-A6C34878D82A}">
                    <a16:rowId xmlns:a16="http://schemas.microsoft.com/office/drawing/2014/main" val="2661988321"/>
                  </a:ext>
                </a:extLst>
              </a:tr>
              <a:tr h="1376321">
                <a:tc>
                  <a:txBody>
                    <a:bodyPr/>
                    <a:lstStyle/>
                    <a:p>
                      <a:pPr>
                        <a:lnSpc>
                          <a:spcPct val="107000"/>
                        </a:lnSpc>
                        <a:spcAft>
                          <a:spcPts val="800"/>
                        </a:spcAft>
                      </a:pPr>
                      <a:r>
                        <a:rPr lang="es-MX" sz="1800" b="1" kern="100" dirty="0">
                          <a:solidFill>
                            <a:schemeClr val="lt1"/>
                          </a:solidFill>
                          <a:effectLst/>
                          <a:latin typeface="+mn-lt"/>
                          <a:ea typeface="+mn-ea"/>
                          <a:cs typeface="+mn-cs"/>
                        </a:rPr>
                        <a:t>Protocolo de descubrimiento del </a:t>
                      </a:r>
                      <a:r>
                        <a:rPr lang="es-MX" sz="1800" b="1" kern="100" dirty="0" err="1">
                          <a:solidFill>
                            <a:schemeClr val="lt1"/>
                          </a:solidFill>
                          <a:effectLst/>
                          <a:latin typeface="+mn-lt"/>
                          <a:ea typeface="+mn-ea"/>
                          <a:cs typeface="+mn-cs"/>
                        </a:rPr>
                        <a:t>router</a:t>
                      </a:r>
                      <a:r>
                        <a:rPr lang="es-MX" sz="1800" b="1" kern="100" dirty="0">
                          <a:solidFill>
                            <a:schemeClr val="lt1"/>
                          </a:solidFill>
                          <a:effectLst/>
                          <a:latin typeface="+mn-lt"/>
                          <a:ea typeface="+mn-ea"/>
                          <a:cs typeface="+mn-cs"/>
                        </a:rPr>
                        <a:t> ICMP </a:t>
                      </a:r>
                    </a:p>
                  </a:txBody>
                  <a:tcPr marL="95250" marR="95250" marT="142875" marB="142875" anchor="ctr"/>
                </a:tc>
                <a:tc>
                  <a:txBody>
                    <a:bodyPr/>
                    <a:lstStyle/>
                    <a:p>
                      <a:pPr>
                        <a:lnSpc>
                          <a:spcPct val="107000"/>
                        </a:lnSpc>
                        <a:spcAft>
                          <a:spcPts val="800"/>
                        </a:spcAft>
                      </a:pPr>
                      <a:r>
                        <a:rPr lang="es-MX" sz="1800" kern="100" dirty="0">
                          <a:solidFill>
                            <a:schemeClr val="dk1"/>
                          </a:solidFill>
                          <a:effectLst/>
                          <a:latin typeface="+mn-lt"/>
                          <a:ea typeface="+mn-ea"/>
                          <a:cs typeface="+mn-cs"/>
                        </a:rPr>
                        <a:t>(IRDP, ICMP </a:t>
                      </a:r>
                      <a:r>
                        <a:rPr lang="es-MX" sz="1800" kern="100" dirty="0" err="1">
                          <a:solidFill>
                            <a:schemeClr val="dk1"/>
                          </a:solidFill>
                          <a:effectLst/>
                          <a:latin typeface="+mn-lt"/>
                          <a:ea typeface="+mn-ea"/>
                          <a:cs typeface="+mn-cs"/>
                        </a:rPr>
                        <a:t>Router</a:t>
                      </a:r>
                      <a:r>
                        <a:rPr lang="es-MX" sz="1800" kern="100" dirty="0">
                          <a:solidFill>
                            <a:schemeClr val="dk1"/>
                          </a:solidFill>
                          <a:effectLst/>
                          <a:latin typeface="+mn-lt"/>
                          <a:ea typeface="+mn-ea"/>
                          <a:cs typeface="+mn-cs"/>
                        </a:rPr>
                        <a:t> Discovery </a:t>
                      </a:r>
                      <a:r>
                        <a:rPr lang="es-MX" sz="1800" kern="100" dirty="0" err="1">
                          <a:solidFill>
                            <a:schemeClr val="dk1"/>
                          </a:solidFill>
                          <a:effectLst/>
                          <a:latin typeface="+mn-lt"/>
                          <a:ea typeface="+mn-ea"/>
                          <a:cs typeface="+mn-cs"/>
                        </a:rPr>
                        <a:t>Protocol</a:t>
                      </a:r>
                      <a:r>
                        <a:rPr lang="es-MX" sz="1800" kern="100" dirty="0">
                          <a:solidFill>
                            <a:schemeClr val="dk1"/>
                          </a:solidFill>
                          <a:effectLst/>
                          <a:latin typeface="+mn-lt"/>
                          <a:ea typeface="+mn-ea"/>
                          <a:cs typeface="+mn-cs"/>
                        </a:rPr>
                        <a:t>) </a:t>
                      </a:r>
                    </a:p>
                    <a:p>
                      <a:pPr>
                        <a:lnSpc>
                          <a:spcPct val="107000"/>
                        </a:lnSpc>
                        <a:spcAft>
                          <a:spcPts val="800"/>
                        </a:spcAft>
                      </a:pPr>
                      <a:r>
                        <a:rPr lang="es-MX" sz="1800" kern="100" dirty="0">
                          <a:solidFill>
                            <a:schemeClr val="dk1"/>
                          </a:solidFill>
                          <a:effectLst/>
                          <a:latin typeface="+mn-lt"/>
                          <a:ea typeface="+mn-ea"/>
                          <a:cs typeface="+mn-cs"/>
                        </a:rPr>
                        <a:t>Especificado en la RFC 1256, el IRDP es una solución FHRP heredada. IRDP permite a los hosts IPv4 localizar los </a:t>
                      </a:r>
                      <a:r>
                        <a:rPr lang="es-MX" sz="1800" kern="100" dirty="0" err="1">
                          <a:solidFill>
                            <a:schemeClr val="dk1"/>
                          </a:solidFill>
                          <a:effectLst/>
                          <a:latin typeface="+mn-lt"/>
                          <a:ea typeface="+mn-ea"/>
                          <a:cs typeface="+mn-cs"/>
                        </a:rPr>
                        <a:t>routers</a:t>
                      </a:r>
                      <a:r>
                        <a:rPr lang="es-MX" sz="1800" kern="100" dirty="0">
                          <a:solidFill>
                            <a:schemeClr val="dk1"/>
                          </a:solidFill>
                          <a:effectLst/>
                          <a:latin typeface="+mn-lt"/>
                          <a:ea typeface="+mn-ea"/>
                          <a:cs typeface="+mn-cs"/>
                        </a:rPr>
                        <a:t> que proporcionan conectividad IPv4 a otras redes IP (no locales).</a:t>
                      </a:r>
                    </a:p>
                  </a:txBody>
                  <a:tcPr marL="95250" marR="95250" marT="142875" marB="142875" anchor="ctr"/>
                </a:tc>
                <a:extLst>
                  <a:ext uri="{0D108BD9-81ED-4DB2-BD59-A6C34878D82A}">
                    <a16:rowId xmlns:a16="http://schemas.microsoft.com/office/drawing/2014/main" val="636436861"/>
                  </a:ext>
                </a:extLst>
              </a:tr>
            </a:tbl>
          </a:graphicData>
        </a:graphic>
      </p:graphicFrame>
    </p:spTree>
    <p:extLst>
      <p:ext uri="{BB962C8B-B14F-4D97-AF65-F5344CB8AC3E}">
        <p14:creationId xmlns:p14="http://schemas.microsoft.com/office/powerpoint/2010/main" val="26867770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470958" y="346085"/>
            <a:ext cx="11056024" cy="6162841"/>
          </a:xfrm>
          <a:prstGeom prst="rect">
            <a:avLst/>
          </a:prstGeom>
        </p:spPr>
        <p:txBody>
          <a:bodyPr wrap="square">
            <a:spAutoFit/>
          </a:bodyPr>
          <a:lstStyle/>
          <a:p>
            <a:pPr>
              <a:lnSpc>
                <a:spcPct val="107000"/>
              </a:lnSpc>
              <a:spcAft>
                <a:spcPts val="800"/>
              </a:spcAft>
            </a:pPr>
            <a:r>
              <a:rPr lang="es-MX" sz="2200" b="1" kern="100" dirty="0">
                <a:latin typeface="Calibri" panose="020F0502020204030204" pitchFamily="34" charset="0"/>
                <a:ea typeface="Calibri" panose="020F0502020204030204" pitchFamily="34" charset="0"/>
                <a:cs typeface="Times New Roman" panose="02020603050405020304" pitchFamily="18" charset="0"/>
              </a:rPr>
              <a:t>Cisco - HSRP: Descripción general</a:t>
            </a:r>
          </a:p>
          <a:p>
            <a:pPr>
              <a:lnSpc>
                <a:spcPct val="107000"/>
              </a:lnSpc>
              <a:spcAft>
                <a:spcPts val="800"/>
              </a:spcAft>
            </a:pPr>
            <a:endParaRPr lang="es-MX" sz="2000" kern="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s-MX" sz="2000" kern="100" dirty="0">
                <a:latin typeface="Calibri" panose="020F0502020204030204" pitchFamily="34" charset="0"/>
                <a:ea typeface="Calibri" panose="020F0502020204030204" pitchFamily="34" charset="0"/>
                <a:cs typeface="Times New Roman" panose="02020603050405020304" pitchFamily="18" charset="0"/>
              </a:rPr>
              <a:t>HSRP proporciona una alta disponibilidad de red, ya que proporciona redundancia de </a:t>
            </a:r>
            <a:r>
              <a:rPr lang="es-MX" sz="2000" kern="100" dirty="0" err="1">
                <a:latin typeface="Calibri" panose="020F0502020204030204" pitchFamily="34" charset="0"/>
                <a:ea typeface="Calibri" panose="020F0502020204030204" pitchFamily="34" charset="0"/>
                <a:cs typeface="Times New Roman" panose="02020603050405020304" pitchFamily="18" charset="0"/>
              </a:rPr>
              <a:t>routing</a:t>
            </a:r>
            <a:r>
              <a:rPr lang="es-MX" sz="2000" kern="100" dirty="0">
                <a:latin typeface="Calibri" panose="020F0502020204030204" pitchFamily="34" charset="0"/>
                <a:ea typeface="Calibri" panose="020F0502020204030204" pitchFamily="34" charset="0"/>
                <a:cs typeface="Times New Roman" panose="02020603050405020304" pitchFamily="18" charset="0"/>
              </a:rPr>
              <a:t> de primer salto para los hosts IPv4 en las redes configuradas con una dirección IPv4 de </a:t>
            </a:r>
            <a:r>
              <a:rPr lang="es-MX" sz="2000" kern="100" dirty="0" err="1">
                <a:latin typeface="Calibri" panose="020F0502020204030204" pitchFamily="34" charset="0"/>
                <a:ea typeface="Calibri" panose="020F0502020204030204" pitchFamily="34" charset="0"/>
                <a:cs typeface="Times New Roman" panose="02020603050405020304" pitchFamily="18" charset="0"/>
              </a:rPr>
              <a:t>gateway</a:t>
            </a:r>
            <a:r>
              <a:rPr lang="es-MX" sz="2000" kern="100" dirty="0">
                <a:latin typeface="Calibri" panose="020F0502020204030204" pitchFamily="34" charset="0"/>
                <a:ea typeface="Calibri" panose="020F0502020204030204" pitchFamily="34" charset="0"/>
                <a:cs typeface="Times New Roman" panose="02020603050405020304" pitchFamily="18" charset="0"/>
              </a:rPr>
              <a:t> predeterminado. HSRP se utiliza en un grupo de </a:t>
            </a:r>
            <a:r>
              <a:rPr lang="es-MX" sz="2000" kern="100" dirty="0" err="1">
                <a:latin typeface="Calibri" panose="020F0502020204030204" pitchFamily="34" charset="0"/>
                <a:ea typeface="Calibri" panose="020F0502020204030204" pitchFamily="34" charset="0"/>
                <a:cs typeface="Times New Roman" panose="02020603050405020304" pitchFamily="18" charset="0"/>
              </a:rPr>
              <a:t>routers</a:t>
            </a:r>
            <a:r>
              <a:rPr lang="es-MX" sz="2000" kern="100" dirty="0">
                <a:latin typeface="Calibri" panose="020F0502020204030204" pitchFamily="34" charset="0"/>
                <a:ea typeface="Calibri" panose="020F0502020204030204" pitchFamily="34" charset="0"/>
                <a:cs typeface="Times New Roman" panose="02020603050405020304" pitchFamily="18" charset="0"/>
              </a:rPr>
              <a:t> para seleccionar un dispositivo activo y un dispositivo de reserva.</a:t>
            </a:r>
          </a:p>
          <a:p>
            <a:pPr>
              <a:lnSpc>
                <a:spcPct val="107000"/>
              </a:lnSpc>
              <a:spcAft>
                <a:spcPts val="800"/>
              </a:spcAft>
            </a:pPr>
            <a:r>
              <a:rPr lang="es-MX" sz="2000" kern="100" dirty="0">
                <a:latin typeface="Calibri" panose="020F0502020204030204" pitchFamily="34" charset="0"/>
                <a:ea typeface="Calibri" panose="020F0502020204030204" pitchFamily="34" charset="0"/>
                <a:cs typeface="Times New Roman" panose="02020603050405020304" pitchFamily="18" charset="0"/>
              </a:rPr>
              <a:t>El dispositivo activo es aquel que se utiliza para enrutar paquetes, y el dispositivo de reserva es el que toma el control cuando falla el dispositivo activo o cuando se cumplen condiciones previamente establecidas. La función del </a:t>
            </a:r>
            <a:r>
              <a:rPr lang="es-MX" sz="2000" kern="100" dirty="0" err="1">
                <a:latin typeface="Calibri" panose="020F0502020204030204" pitchFamily="34" charset="0"/>
                <a:ea typeface="Calibri" panose="020F0502020204030204" pitchFamily="34" charset="0"/>
                <a:cs typeface="Times New Roman" panose="02020603050405020304" pitchFamily="18" charset="0"/>
              </a:rPr>
              <a:t>router</a:t>
            </a:r>
            <a:r>
              <a:rPr lang="es-MX" sz="2000" kern="100" dirty="0">
                <a:latin typeface="Calibri" panose="020F0502020204030204" pitchFamily="34" charset="0"/>
                <a:ea typeface="Calibri" panose="020F0502020204030204" pitchFamily="34" charset="0"/>
                <a:cs typeface="Times New Roman" panose="02020603050405020304" pitchFamily="18" charset="0"/>
              </a:rPr>
              <a:t> de reserva del HSRP es supervisar el estado operativo del grupo HSRP y asumir rápidamente la responsabilidad del reenvío de paquetes si el </a:t>
            </a:r>
            <a:r>
              <a:rPr lang="es-MX" sz="2000" kern="100" dirty="0" err="1">
                <a:latin typeface="Calibri" panose="020F0502020204030204" pitchFamily="34" charset="0"/>
                <a:ea typeface="Calibri" panose="020F0502020204030204" pitchFamily="34" charset="0"/>
                <a:cs typeface="Times New Roman" panose="02020603050405020304" pitchFamily="18" charset="0"/>
              </a:rPr>
              <a:t>router</a:t>
            </a:r>
            <a:r>
              <a:rPr lang="es-MX" sz="2000" kern="100" dirty="0">
                <a:latin typeface="Calibri" panose="020F0502020204030204" pitchFamily="34" charset="0"/>
                <a:ea typeface="Calibri" panose="020F0502020204030204" pitchFamily="34" charset="0"/>
                <a:cs typeface="Times New Roman" panose="02020603050405020304" pitchFamily="18" charset="0"/>
              </a:rPr>
              <a:t> activo falla.</a:t>
            </a:r>
          </a:p>
          <a:p>
            <a:pPr>
              <a:lnSpc>
                <a:spcPct val="107000"/>
              </a:lnSpc>
              <a:spcAft>
                <a:spcPts val="800"/>
              </a:spcAft>
            </a:pPr>
            <a:r>
              <a:rPr lang="es-MX" sz="2000" kern="100" dirty="0">
                <a:latin typeface="Calibri" panose="020F0502020204030204" pitchFamily="34" charset="0"/>
                <a:ea typeface="Calibri" panose="020F0502020204030204" pitchFamily="34" charset="0"/>
                <a:cs typeface="Times New Roman" panose="02020603050405020304" pitchFamily="18" charset="0"/>
              </a:rPr>
              <a:t> </a:t>
            </a:r>
          </a:p>
          <a:p>
            <a:pPr>
              <a:lnSpc>
                <a:spcPct val="107000"/>
              </a:lnSpc>
              <a:spcAft>
                <a:spcPts val="800"/>
              </a:spcAft>
            </a:pPr>
            <a:r>
              <a:rPr lang="es-MX" sz="2000" kern="100" dirty="0">
                <a:latin typeface="Calibri" panose="020F0502020204030204" pitchFamily="34" charset="0"/>
                <a:ea typeface="Calibri" panose="020F0502020204030204" pitchFamily="34" charset="0"/>
                <a:cs typeface="Times New Roman" panose="02020603050405020304" pitchFamily="18" charset="0"/>
              </a:rPr>
              <a:t>Prioridad HSRP</a:t>
            </a:r>
          </a:p>
          <a:p>
            <a:pPr>
              <a:lnSpc>
                <a:spcPct val="107000"/>
              </a:lnSpc>
              <a:spcAft>
                <a:spcPts val="800"/>
              </a:spcAft>
            </a:pPr>
            <a:r>
              <a:rPr lang="es-MX" sz="2000" kern="100" dirty="0">
                <a:latin typeface="Calibri" panose="020F0502020204030204" pitchFamily="34" charset="0"/>
                <a:ea typeface="Calibri" panose="020F0502020204030204" pitchFamily="34" charset="0"/>
                <a:cs typeface="Times New Roman" panose="02020603050405020304" pitchFamily="18" charset="0"/>
              </a:rPr>
              <a:t>La prioridad HSRP se puede utilizar para determinar el </a:t>
            </a:r>
            <a:r>
              <a:rPr lang="es-MX" sz="2000" kern="100" dirty="0" err="1">
                <a:latin typeface="Calibri" panose="020F0502020204030204" pitchFamily="34" charset="0"/>
                <a:ea typeface="Calibri" panose="020F0502020204030204" pitchFamily="34" charset="0"/>
                <a:cs typeface="Times New Roman" panose="02020603050405020304" pitchFamily="18" charset="0"/>
              </a:rPr>
              <a:t>router</a:t>
            </a:r>
            <a:r>
              <a:rPr lang="es-MX" sz="2000" kern="100" dirty="0">
                <a:latin typeface="Calibri" panose="020F0502020204030204" pitchFamily="34" charset="0"/>
                <a:ea typeface="Calibri" panose="020F0502020204030204" pitchFamily="34" charset="0"/>
                <a:cs typeface="Times New Roman" panose="02020603050405020304" pitchFamily="18" charset="0"/>
              </a:rPr>
              <a:t> activo. El </a:t>
            </a:r>
            <a:r>
              <a:rPr lang="es-MX" sz="2000" kern="100" dirty="0" err="1">
                <a:latin typeface="Calibri" panose="020F0502020204030204" pitchFamily="34" charset="0"/>
                <a:ea typeface="Calibri" panose="020F0502020204030204" pitchFamily="34" charset="0"/>
                <a:cs typeface="Times New Roman" panose="02020603050405020304" pitchFamily="18" charset="0"/>
              </a:rPr>
              <a:t>router</a:t>
            </a:r>
            <a:r>
              <a:rPr lang="es-MX" sz="2000" kern="100" dirty="0">
                <a:latin typeface="Calibri" panose="020F0502020204030204" pitchFamily="34" charset="0"/>
                <a:ea typeface="Calibri" panose="020F0502020204030204" pitchFamily="34" charset="0"/>
                <a:cs typeface="Times New Roman" panose="02020603050405020304" pitchFamily="18" charset="0"/>
              </a:rPr>
              <a:t> con la prioridad HSRP más alta será el </a:t>
            </a:r>
            <a:r>
              <a:rPr lang="es-MX" sz="2000" kern="100" dirty="0" err="1">
                <a:latin typeface="Calibri" panose="020F0502020204030204" pitchFamily="34" charset="0"/>
                <a:ea typeface="Calibri" panose="020F0502020204030204" pitchFamily="34" charset="0"/>
                <a:cs typeface="Times New Roman" panose="02020603050405020304" pitchFamily="18" charset="0"/>
              </a:rPr>
              <a:t>router</a:t>
            </a:r>
            <a:r>
              <a:rPr lang="es-MX" sz="2000" kern="100" dirty="0">
                <a:latin typeface="Calibri" panose="020F0502020204030204" pitchFamily="34" charset="0"/>
                <a:ea typeface="Calibri" panose="020F0502020204030204" pitchFamily="34" charset="0"/>
                <a:cs typeface="Times New Roman" panose="02020603050405020304" pitchFamily="18" charset="0"/>
              </a:rPr>
              <a:t> activo. De manera predeterminada, la prioridad HSRP es 100. </a:t>
            </a:r>
          </a:p>
          <a:p>
            <a:pPr>
              <a:lnSpc>
                <a:spcPct val="107000"/>
              </a:lnSpc>
              <a:spcAft>
                <a:spcPts val="800"/>
              </a:spcAft>
            </a:pPr>
            <a:r>
              <a:rPr lang="es-MX" sz="2000" kern="100" dirty="0">
                <a:latin typeface="Calibri" panose="020F0502020204030204" pitchFamily="34" charset="0"/>
                <a:ea typeface="Calibri" panose="020F0502020204030204" pitchFamily="34" charset="0"/>
                <a:cs typeface="Times New Roman" panose="02020603050405020304" pitchFamily="18" charset="0"/>
              </a:rPr>
              <a:t>Si las prioridades son iguales, el </a:t>
            </a:r>
            <a:r>
              <a:rPr lang="es-MX" sz="2000" kern="100" dirty="0" err="1">
                <a:latin typeface="Calibri" panose="020F0502020204030204" pitchFamily="34" charset="0"/>
                <a:ea typeface="Calibri" panose="020F0502020204030204" pitchFamily="34" charset="0"/>
                <a:cs typeface="Times New Roman" panose="02020603050405020304" pitchFamily="18" charset="0"/>
              </a:rPr>
              <a:t>router</a:t>
            </a:r>
            <a:r>
              <a:rPr lang="es-MX" sz="2000" kern="100" dirty="0">
                <a:latin typeface="Calibri" panose="020F0502020204030204" pitchFamily="34" charset="0"/>
                <a:ea typeface="Calibri" panose="020F0502020204030204" pitchFamily="34" charset="0"/>
                <a:cs typeface="Times New Roman" panose="02020603050405020304" pitchFamily="18" charset="0"/>
              </a:rPr>
              <a:t> con la dirección IPv4 numéricamente más alta es elegido como </a:t>
            </a:r>
            <a:r>
              <a:rPr lang="es-MX" sz="2000" kern="100" dirty="0" err="1">
                <a:latin typeface="Calibri" panose="020F0502020204030204" pitchFamily="34" charset="0"/>
                <a:ea typeface="Calibri" panose="020F0502020204030204" pitchFamily="34" charset="0"/>
                <a:cs typeface="Times New Roman" panose="02020603050405020304" pitchFamily="18" charset="0"/>
              </a:rPr>
              <a:t>router</a:t>
            </a:r>
            <a:r>
              <a:rPr lang="es-MX" sz="2000" kern="100" dirty="0">
                <a:latin typeface="Calibri" panose="020F0502020204030204" pitchFamily="34" charset="0"/>
                <a:ea typeface="Calibri" panose="020F0502020204030204" pitchFamily="34" charset="0"/>
                <a:cs typeface="Times New Roman" panose="02020603050405020304" pitchFamily="18" charset="0"/>
              </a:rPr>
              <a:t> activo.</a:t>
            </a:r>
          </a:p>
          <a:p>
            <a:endParaRPr lang="es-MX" b="1" dirty="0"/>
          </a:p>
        </p:txBody>
      </p:sp>
    </p:spTree>
    <p:extLst>
      <p:ext uri="{BB962C8B-B14F-4D97-AF65-F5344CB8AC3E}">
        <p14:creationId xmlns:p14="http://schemas.microsoft.com/office/powerpoint/2010/main" val="40434058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470958" y="558522"/>
            <a:ext cx="11056024" cy="5303760"/>
          </a:xfrm>
          <a:prstGeom prst="rect">
            <a:avLst/>
          </a:prstGeom>
        </p:spPr>
        <p:txBody>
          <a:bodyPr wrap="square">
            <a:spAutoFit/>
          </a:bodyPr>
          <a:lstStyle/>
          <a:p>
            <a:pPr>
              <a:lnSpc>
                <a:spcPct val="107000"/>
              </a:lnSpc>
              <a:spcAft>
                <a:spcPts val="800"/>
              </a:spcAft>
            </a:pPr>
            <a:r>
              <a:rPr lang="es-MX" sz="2000" kern="100" dirty="0">
                <a:latin typeface="Calibri" panose="020F0502020204030204" pitchFamily="34" charset="0"/>
                <a:ea typeface="Calibri" panose="020F0502020204030204" pitchFamily="34" charset="0"/>
                <a:cs typeface="Times New Roman" panose="02020603050405020304" pitchFamily="18" charset="0"/>
              </a:rPr>
              <a:t>Para configurar un </a:t>
            </a:r>
            <a:r>
              <a:rPr lang="es-MX" sz="2000" kern="100" dirty="0" err="1">
                <a:latin typeface="Calibri" panose="020F0502020204030204" pitchFamily="34" charset="0"/>
                <a:ea typeface="Calibri" panose="020F0502020204030204" pitchFamily="34" charset="0"/>
                <a:cs typeface="Times New Roman" panose="02020603050405020304" pitchFamily="18" charset="0"/>
              </a:rPr>
              <a:t>router</a:t>
            </a:r>
            <a:r>
              <a:rPr lang="es-MX" sz="2000" kern="100" dirty="0">
                <a:latin typeface="Calibri" panose="020F0502020204030204" pitchFamily="34" charset="0"/>
                <a:ea typeface="Calibri" panose="020F0502020204030204" pitchFamily="34" charset="0"/>
                <a:cs typeface="Times New Roman" panose="02020603050405020304" pitchFamily="18" charset="0"/>
              </a:rPr>
              <a:t> para que sea el </a:t>
            </a:r>
            <a:r>
              <a:rPr lang="es-MX" sz="2000" kern="100" dirty="0" err="1">
                <a:latin typeface="Calibri" panose="020F0502020204030204" pitchFamily="34" charset="0"/>
                <a:ea typeface="Calibri" panose="020F0502020204030204" pitchFamily="34" charset="0"/>
                <a:cs typeface="Times New Roman" panose="02020603050405020304" pitchFamily="18" charset="0"/>
              </a:rPr>
              <a:t>router</a:t>
            </a:r>
            <a:r>
              <a:rPr lang="es-MX" sz="2000" kern="100" dirty="0">
                <a:latin typeface="Calibri" panose="020F0502020204030204" pitchFamily="34" charset="0"/>
                <a:ea typeface="Calibri" panose="020F0502020204030204" pitchFamily="34" charset="0"/>
                <a:cs typeface="Times New Roman" panose="02020603050405020304" pitchFamily="18" charset="0"/>
              </a:rPr>
              <a:t> activo, utiliza el comando de interfaz  </a:t>
            </a:r>
            <a:r>
              <a:rPr lang="es-MX" sz="2000" kern="100" dirty="0" err="1">
                <a:latin typeface="Calibri" panose="020F0502020204030204" pitchFamily="34" charset="0"/>
                <a:ea typeface="Calibri" panose="020F0502020204030204" pitchFamily="34" charset="0"/>
                <a:cs typeface="Times New Roman" panose="02020603050405020304" pitchFamily="18" charset="0"/>
              </a:rPr>
              <a:t>standby</a:t>
            </a:r>
            <a:r>
              <a:rPr lang="es-MX" sz="2000" kern="100" dirty="0">
                <a:latin typeface="Calibri" panose="020F0502020204030204" pitchFamily="34" charset="0"/>
                <a:ea typeface="Calibri" panose="020F0502020204030204" pitchFamily="34" charset="0"/>
                <a:cs typeface="Times New Roman" panose="02020603050405020304" pitchFamily="18" charset="0"/>
              </a:rPr>
              <a:t>       </a:t>
            </a:r>
            <a:r>
              <a:rPr lang="es-MX" sz="2000" kern="100" dirty="0" err="1">
                <a:latin typeface="Calibri" panose="020F0502020204030204" pitchFamily="34" charset="0"/>
                <a:ea typeface="Calibri" panose="020F0502020204030204" pitchFamily="34" charset="0"/>
                <a:cs typeface="Times New Roman" panose="02020603050405020304" pitchFamily="18" charset="0"/>
              </a:rPr>
              <a:t>priority</a:t>
            </a:r>
            <a:r>
              <a:rPr lang="es-MX" sz="2000" kern="100" dirty="0">
                <a:latin typeface="Calibri" panose="020F0502020204030204" pitchFamily="34" charset="0"/>
                <a:ea typeface="Calibri" panose="020F0502020204030204" pitchFamily="34" charset="0"/>
                <a:cs typeface="Times New Roman" panose="02020603050405020304" pitchFamily="18" charset="0"/>
              </a:rPr>
              <a:t>. El rango de prioridad HSRP es de 0 a 255.</a:t>
            </a:r>
          </a:p>
          <a:p>
            <a:pPr>
              <a:lnSpc>
                <a:spcPct val="107000"/>
              </a:lnSpc>
              <a:spcAft>
                <a:spcPts val="800"/>
              </a:spcAft>
            </a:pPr>
            <a:endParaRPr lang="es-MX" sz="2000" kern="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s-MX" sz="2000" b="1" kern="100" dirty="0">
                <a:latin typeface="Calibri" panose="020F0502020204030204" pitchFamily="34" charset="0"/>
                <a:ea typeface="Calibri" panose="020F0502020204030204" pitchFamily="34" charset="0"/>
                <a:cs typeface="Times New Roman" panose="02020603050405020304" pitchFamily="18" charset="0"/>
              </a:rPr>
              <a:t>Intento de Prioridad HSRP</a:t>
            </a:r>
          </a:p>
          <a:p>
            <a:pPr>
              <a:lnSpc>
                <a:spcPct val="107000"/>
              </a:lnSpc>
              <a:spcAft>
                <a:spcPts val="800"/>
              </a:spcAft>
            </a:pPr>
            <a:r>
              <a:rPr lang="es-MX" sz="2000" kern="100" dirty="0">
                <a:latin typeface="Calibri" panose="020F0502020204030204" pitchFamily="34" charset="0"/>
                <a:ea typeface="Calibri" panose="020F0502020204030204" pitchFamily="34" charset="0"/>
                <a:cs typeface="Times New Roman" panose="02020603050405020304" pitchFamily="18" charset="0"/>
              </a:rPr>
              <a:t>De forma predeterminada, después de que un </a:t>
            </a:r>
            <a:r>
              <a:rPr lang="es-MX" sz="2000" kern="100" dirty="0" err="1">
                <a:latin typeface="Calibri" panose="020F0502020204030204" pitchFamily="34" charset="0"/>
                <a:ea typeface="Calibri" panose="020F0502020204030204" pitchFamily="34" charset="0"/>
                <a:cs typeface="Times New Roman" panose="02020603050405020304" pitchFamily="18" charset="0"/>
              </a:rPr>
              <a:t>router</a:t>
            </a:r>
            <a:r>
              <a:rPr lang="es-MX" sz="2000" kern="100" dirty="0">
                <a:latin typeface="Calibri" panose="020F0502020204030204" pitchFamily="34" charset="0"/>
                <a:ea typeface="Calibri" panose="020F0502020204030204" pitchFamily="34" charset="0"/>
                <a:cs typeface="Times New Roman" panose="02020603050405020304" pitchFamily="18" charset="0"/>
              </a:rPr>
              <a:t> se convierte en el </a:t>
            </a:r>
            <a:r>
              <a:rPr lang="es-MX" sz="2000" kern="100" dirty="0" err="1">
                <a:latin typeface="Calibri" panose="020F0502020204030204" pitchFamily="34" charset="0"/>
                <a:ea typeface="Calibri" panose="020F0502020204030204" pitchFamily="34" charset="0"/>
                <a:cs typeface="Times New Roman" panose="02020603050405020304" pitchFamily="18" charset="0"/>
              </a:rPr>
              <a:t>router</a:t>
            </a:r>
            <a:r>
              <a:rPr lang="es-MX" sz="2000" kern="100" dirty="0">
                <a:latin typeface="Calibri" panose="020F0502020204030204" pitchFamily="34" charset="0"/>
                <a:ea typeface="Calibri" panose="020F0502020204030204" pitchFamily="34" charset="0"/>
                <a:cs typeface="Times New Roman" panose="02020603050405020304" pitchFamily="18" charset="0"/>
              </a:rPr>
              <a:t> activo, seguirá siendo el </a:t>
            </a:r>
            <a:r>
              <a:rPr lang="es-MX" sz="2000" kern="100" dirty="0" err="1">
                <a:latin typeface="Calibri" panose="020F0502020204030204" pitchFamily="34" charset="0"/>
                <a:ea typeface="Calibri" panose="020F0502020204030204" pitchFamily="34" charset="0"/>
                <a:cs typeface="Times New Roman" panose="02020603050405020304" pitchFamily="18" charset="0"/>
              </a:rPr>
              <a:t>router</a:t>
            </a:r>
            <a:r>
              <a:rPr lang="es-MX" sz="2000" kern="100" dirty="0">
                <a:latin typeface="Calibri" panose="020F0502020204030204" pitchFamily="34" charset="0"/>
                <a:ea typeface="Calibri" panose="020F0502020204030204" pitchFamily="34" charset="0"/>
                <a:cs typeface="Times New Roman" panose="02020603050405020304" pitchFamily="18" charset="0"/>
              </a:rPr>
              <a:t> activo incluso si otro </a:t>
            </a:r>
            <a:r>
              <a:rPr lang="es-MX" sz="2000" kern="100" dirty="0" err="1">
                <a:latin typeface="Calibri" panose="020F0502020204030204" pitchFamily="34" charset="0"/>
                <a:ea typeface="Calibri" panose="020F0502020204030204" pitchFamily="34" charset="0"/>
                <a:cs typeface="Times New Roman" panose="02020603050405020304" pitchFamily="18" charset="0"/>
              </a:rPr>
              <a:t>router</a:t>
            </a:r>
            <a:r>
              <a:rPr lang="es-MX" sz="2000" kern="100" dirty="0">
                <a:latin typeface="Calibri" panose="020F0502020204030204" pitchFamily="34" charset="0"/>
                <a:ea typeface="Calibri" panose="020F0502020204030204" pitchFamily="34" charset="0"/>
                <a:cs typeface="Times New Roman" panose="02020603050405020304" pitchFamily="18" charset="0"/>
              </a:rPr>
              <a:t> está disponible en línea con una prioridad HSRP más alta.</a:t>
            </a:r>
          </a:p>
          <a:p>
            <a:pPr>
              <a:lnSpc>
                <a:spcPct val="107000"/>
              </a:lnSpc>
              <a:spcAft>
                <a:spcPts val="800"/>
              </a:spcAft>
            </a:pPr>
            <a:r>
              <a:rPr lang="es-MX" sz="2000" kern="100" dirty="0">
                <a:latin typeface="Calibri" panose="020F0502020204030204" pitchFamily="34" charset="0"/>
                <a:ea typeface="Calibri" panose="020F0502020204030204" pitchFamily="34" charset="0"/>
                <a:cs typeface="Times New Roman" panose="02020603050405020304" pitchFamily="18" charset="0"/>
              </a:rPr>
              <a:t>Para forzar un nuevo proceso de elección HSRP a tener lugar cuando un </a:t>
            </a:r>
            <a:r>
              <a:rPr lang="es-MX" sz="2000" kern="100" dirty="0" err="1">
                <a:latin typeface="Calibri" panose="020F0502020204030204" pitchFamily="34" charset="0"/>
                <a:ea typeface="Calibri" panose="020F0502020204030204" pitchFamily="34" charset="0"/>
                <a:cs typeface="Times New Roman" panose="02020603050405020304" pitchFamily="18" charset="0"/>
              </a:rPr>
              <a:t>router</a:t>
            </a:r>
            <a:r>
              <a:rPr lang="es-MX" sz="2000" kern="100" dirty="0">
                <a:latin typeface="Calibri" panose="020F0502020204030204" pitchFamily="34" charset="0"/>
                <a:ea typeface="Calibri" panose="020F0502020204030204" pitchFamily="34" charset="0"/>
                <a:cs typeface="Times New Roman" panose="02020603050405020304" pitchFamily="18" charset="0"/>
              </a:rPr>
              <a:t> de mayor prioridad entra en línea, el intento de prioridad debe habilitarse mediante el comando de interface </a:t>
            </a:r>
            <a:r>
              <a:rPr lang="es-MX" sz="2000" kern="100" dirty="0" err="1">
                <a:latin typeface="Calibri" panose="020F0502020204030204" pitchFamily="34" charset="0"/>
                <a:ea typeface="Calibri" panose="020F0502020204030204" pitchFamily="34" charset="0"/>
                <a:cs typeface="Times New Roman" panose="02020603050405020304" pitchFamily="18" charset="0"/>
              </a:rPr>
              <a:t>standby</a:t>
            </a:r>
            <a:r>
              <a:rPr lang="es-MX" sz="2000" kern="100" dirty="0">
                <a:latin typeface="Calibri" panose="020F0502020204030204" pitchFamily="34" charset="0"/>
                <a:ea typeface="Calibri" panose="020F0502020204030204" pitchFamily="34" charset="0"/>
                <a:cs typeface="Times New Roman" panose="02020603050405020304" pitchFamily="18" charset="0"/>
              </a:rPr>
              <a:t> </a:t>
            </a:r>
            <a:r>
              <a:rPr lang="es-MX" sz="2000" kern="100" dirty="0" err="1">
                <a:latin typeface="Calibri" panose="020F0502020204030204" pitchFamily="34" charset="0"/>
                <a:ea typeface="Calibri" panose="020F0502020204030204" pitchFamily="34" charset="0"/>
                <a:cs typeface="Times New Roman" panose="02020603050405020304" pitchFamily="18" charset="0"/>
              </a:rPr>
              <a:t>preempt</a:t>
            </a:r>
            <a:r>
              <a:rPr lang="es-MX" sz="2000" kern="100" dirty="0">
                <a:latin typeface="Calibri" panose="020F0502020204030204" pitchFamily="34" charset="0"/>
                <a:ea typeface="Calibri" panose="020F0502020204030204" pitchFamily="34" charset="0"/>
                <a:cs typeface="Times New Roman" panose="02020603050405020304" pitchFamily="18" charset="0"/>
              </a:rPr>
              <a:t>. El intento de prioridad es la capacidad de un </a:t>
            </a:r>
            <a:r>
              <a:rPr lang="es-MX" sz="2000" kern="100" dirty="0" err="1">
                <a:latin typeface="Calibri" panose="020F0502020204030204" pitchFamily="34" charset="0"/>
                <a:ea typeface="Calibri" panose="020F0502020204030204" pitchFamily="34" charset="0"/>
                <a:cs typeface="Times New Roman" panose="02020603050405020304" pitchFamily="18" charset="0"/>
              </a:rPr>
              <a:t>router</a:t>
            </a:r>
            <a:r>
              <a:rPr lang="es-MX" sz="2000" kern="100" dirty="0">
                <a:latin typeface="Calibri" panose="020F0502020204030204" pitchFamily="34" charset="0"/>
                <a:ea typeface="Calibri" panose="020F0502020204030204" pitchFamily="34" charset="0"/>
                <a:cs typeface="Times New Roman" panose="02020603050405020304" pitchFamily="18" charset="0"/>
              </a:rPr>
              <a:t> HSRP de activar el proceso de la nueva elección. Con este intento de prioridad activado, un </a:t>
            </a:r>
            <a:r>
              <a:rPr lang="es-MX" sz="2000" kern="100" dirty="0" err="1">
                <a:latin typeface="Calibri" panose="020F0502020204030204" pitchFamily="34" charset="0"/>
                <a:ea typeface="Calibri" panose="020F0502020204030204" pitchFamily="34" charset="0"/>
                <a:cs typeface="Times New Roman" panose="02020603050405020304" pitchFamily="18" charset="0"/>
              </a:rPr>
              <a:t>router</a:t>
            </a:r>
            <a:r>
              <a:rPr lang="es-MX" sz="2000" kern="100" dirty="0">
                <a:latin typeface="Calibri" panose="020F0502020204030204" pitchFamily="34" charset="0"/>
                <a:ea typeface="Calibri" panose="020F0502020204030204" pitchFamily="34" charset="0"/>
                <a:cs typeface="Times New Roman" panose="02020603050405020304" pitchFamily="18" charset="0"/>
              </a:rPr>
              <a:t> disponible en línea con una prioridad HSRP más alta asume el rol de </a:t>
            </a:r>
            <a:r>
              <a:rPr lang="es-MX" sz="2000" kern="100" dirty="0" err="1">
                <a:latin typeface="Calibri" panose="020F0502020204030204" pitchFamily="34" charset="0"/>
                <a:ea typeface="Calibri" panose="020F0502020204030204" pitchFamily="34" charset="0"/>
                <a:cs typeface="Times New Roman" panose="02020603050405020304" pitchFamily="18" charset="0"/>
              </a:rPr>
              <a:t>router</a:t>
            </a:r>
            <a:r>
              <a:rPr lang="es-MX" sz="2000" kern="100" dirty="0">
                <a:latin typeface="Calibri" panose="020F0502020204030204" pitchFamily="34" charset="0"/>
                <a:ea typeface="Calibri" panose="020F0502020204030204" pitchFamily="34" charset="0"/>
                <a:cs typeface="Times New Roman" panose="02020603050405020304" pitchFamily="18" charset="0"/>
              </a:rPr>
              <a:t> activo.</a:t>
            </a:r>
          </a:p>
          <a:p>
            <a:pPr>
              <a:lnSpc>
                <a:spcPct val="107000"/>
              </a:lnSpc>
              <a:spcAft>
                <a:spcPts val="800"/>
              </a:spcAft>
            </a:pPr>
            <a:r>
              <a:rPr lang="es-MX" sz="2000" kern="100" dirty="0">
                <a:latin typeface="Calibri" panose="020F0502020204030204" pitchFamily="34" charset="0"/>
                <a:ea typeface="Calibri" panose="020F0502020204030204" pitchFamily="34" charset="0"/>
                <a:cs typeface="Times New Roman" panose="02020603050405020304" pitchFamily="18" charset="0"/>
              </a:rPr>
              <a:t>El intento de prioridad solo permite que un </a:t>
            </a:r>
            <a:r>
              <a:rPr lang="es-MX" sz="2000" kern="100" dirty="0" err="1">
                <a:latin typeface="Calibri" panose="020F0502020204030204" pitchFamily="34" charset="0"/>
                <a:ea typeface="Calibri" panose="020F0502020204030204" pitchFamily="34" charset="0"/>
                <a:cs typeface="Times New Roman" panose="02020603050405020304" pitchFamily="18" charset="0"/>
              </a:rPr>
              <a:t>router</a:t>
            </a:r>
            <a:r>
              <a:rPr lang="es-MX" sz="2000" kern="100" dirty="0">
                <a:latin typeface="Calibri" panose="020F0502020204030204" pitchFamily="34" charset="0"/>
                <a:ea typeface="Calibri" panose="020F0502020204030204" pitchFamily="34" charset="0"/>
                <a:cs typeface="Times New Roman" panose="02020603050405020304" pitchFamily="18" charset="0"/>
              </a:rPr>
              <a:t> se convierta en </a:t>
            </a:r>
            <a:r>
              <a:rPr lang="es-MX" sz="2000" kern="100" dirty="0" err="1">
                <a:latin typeface="Calibri" panose="020F0502020204030204" pitchFamily="34" charset="0"/>
                <a:ea typeface="Calibri" panose="020F0502020204030204" pitchFamily="34" charset="0"/>
                <a:cs typeface="Times New Roman" panose="02020603050405020304" pitchFamily="18" charset="0"/>
              </a:rPr>
              <a:t>router</a:t>
            </a:r>
            <a:r>
              <a:rPr lang="es-MX" sz="2000" kern="100" dirty="0">
                <a:latin typeface="Calibri" panose="020F0502020204030204" pitchFamily="34" charset="0"/>
                <a:ea typeface="Calibri" panose="020F0502020204030204" pitchFamily="34" charset="0"/>
                <a:cs typeface="Times New Roman" panose="02020603050405020304" pitchFamily="18" charset="0"/>
              </a:rPr>
              <a:t> activo si tiene una prioridad más alta. Un </a:t>
            </a:r>
            <a:r>
              <a:rPr lang="es-MX" sz="2000" kern="100" dirty="0" err="1">
                <a:latin typeface="Calibri" panose="020F0502020204030204" pitchFamily="34" charset="0"/>
                <a:ea typeface="Calibri" panose="020F0502020204030204" pitchFamily="34" charset="0"/>
                <a:cs typeface="Times New Roman" panose="02020603050405020304" pitchFamily="18" charset="0"/>
              </a:rPr>
              <a:t>router</a:t>
            </a:r>
            <a:r>
              <a:rPr lang="es-MX" sz="2000" kern="100" dirty="0">
                <a:latin typeface="Calibri" panose="020F0502020204030204" pitchFamily="34" charset="0"/>
                <a:ea typeface="Calibri" panose="020F0502020204030204" pitchFamily="34" charset="0"/>
                <a:cs typeface="Times New Roman" panose="02020603050405020304" pitchFamily="18" charset="0"/>
              </a:rPr>
              <a:t> habilitado para intento de prioridad, con una prioridad equivalente pero una dirección IPv4 más alta, no desplazará la prioridad de un </a:t>
            </a:r>
            <a:r>
              <a:rPr lang="es-MX" sz="2000" kern="100" dirty="0" err="1">
                <a:latin typeface="Calibri" panose="020F0502020204030204" pitchFamily="34" charset="0"/>
                <a:ea typeface="Calibri" panose="020F0502020204030204" pitchFamily="34" charset="0"/>
                <a:cs typeface="Times New Roman" panose="02020603050405020304" pitchFamily="18" charset="0"/>
              </a:rPr>
              <a:t>router</a:t>
            </a:r>
            <a:r>
              <a:rPr lang="es-MX" sz="2000" kern="100" dirty="0">
                <a:latin typeface="Calibri" panose="020F0502020204030204" pitchFamily="34" charset="0"/>
                <a:ea typeface="Calibri" panose="020F0502020204030204" pitchFamily="34" charset="0"/>
                <a:cs typeface="Times New Roman" panose="02020603050405020304" pitchFamily="18" charset="0"/>
              </a:rPr>
              <a:t> activo. Consulta la topología de la figura.</a:t>
            </a:r>
          </a:p>
        </p:txBody>
      </p:sp>
    </p:spTree>
    <p:extLst>
      <p:ext uri="{BB962C8B-B14F-4D97-AF65-F5344CB8AC3E}">
        <p14:creationId xmlns:p14="http://schemas.microsoft.com/office/powerpoint/2010/main" val="192850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descr="Prioridad e Intento de Prioridad del HSRP">
            <a:hlinkClick r:id="rId2"/>
            <a:extLst>
              <a:ext uri="{FF2B5EF4-FFF2-40B4-BE49-F238E27FC236}">
                <a16:creationId xmlns:a16="http://schemas.microsoft.com/office/drawing/2014/main" id="{B44BE85B-D6D6-472F-36C3-BC04D21EFB8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554257" y="339931"/>
            <a:ext cx="7531768" cy="6276474"/>
          </a:xfrm>
          <a:prstGeom prst="rect">
            <a:avLst/>
          </a:prstGeom>
          <a:noFill/>
          <a:ln>
            <a:noFill/>
          </a:ln>
        </p:spPr>
      </p:pic>
      <p:sp>
        <p:nvSpPr>
          <p:cNvPr id="6" name="CuadroTexto 5">
            <a:extLst>
              <a:ext uri="{FF2B5EF4-FFF2-40B4-BE49-F238E27FC236}">
                <a16:creationId xmlns:a16="http://schemas.microsoft.com/office/drawing/2014/main" id="{D13801A6-E54D-889E-B251-8AEFAEA3CDF3}"/>
              </a:ext>
            </a:extLst>
          </p:cNvPr>
          <p:cNvSpPr txBox="1"/>
          <p:nvPr/>
        </p:nvSpPr>
        <p:spPr>
          <a:xfrm>
            <a:off x="213166" y="463528"/>
            <a:ext cx="4341091" cy="6029279"/>
          </a:xfrm>
          <a:prstGeom prst="rect">
            <a:avLst/>
          </a:prstGeom>
          <a:noFill/>
        </p:spPr>
        <p:txBody>
          <a:bodyPr wrap="square">
            <a:spAutoFit/>
          </a:bodyPr>
          <a:lstStyle/>
          <a:p>
            <a:pPr>
              <a:lnSpc>
                <a:spcPct val="107000"/>
              </a:lnSpc>
              <a:spcAft>
                <a:spcPts val="800"/>
              </a:spcAft>
            </a:pP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R1 se configuró con la prioridad de HSRP de 150, R2 con  la prioridad de 100. </a:t>
            </a:r>
          </a:p>
          <a:p>
            <a:pPr>
              <a:lnSpc>
                <a:spcPct val="107000"/>
              </a:lnSpc>
              <a:spcAft>
                <a:spcPts val="800"/>
              </a:spcAft>
            </a:pP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El </a:t>
            </a:r>
            <a:r>
              <a:rPr lang="es-MX" sz="1800" b="1" kern="100" dirty="0">
                <a:effectLst/>
                <a:latin typeface="Calibri" panose="020F0502020204030204" pitchFamily="34" charset="0"/>
                <a:ea typeface="Calibri" panose="020F0502020204030204" pitchFamily="34" charset="0"/>
                <a:cs typeface="Times New Roman" panose="02020603050405020304" pitchFamily="18" charset="0"/>
              </a:rPr>
              <a:t>intento de prioridad </a:t>
            </a: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está habilitado en el R1. Con una prioridad más alta.</a:t>
            </a:r>
          </a:p>
          <a:p>
            <a:pPr>
              <a:lnSpc>
                <a:spcPct val="107000"/>
              </a:lnSpc>
              <a:spcAft>
                <a:spcPts val="800"/>
              </a:spcAft>
            </a:pP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R1 es el </a:t>
            </a:r>
            <a:r>
              <a:rPr lang="es-MX" sz="1800" kern="100" dirty="0" err="1">
                <a:effectLst/>
                <a:latin typeface="Calibri" panose="020F0502020204030204" pitchFamily="34" charset="0"/>
                <a:ea typeface="Calibri" panose="020F0502020204030204" pitchFamily="34" charset="0"/>
                <a:cs typeface="Times New Roman" panose="02020603050405020304" pitchFamily="18" charset="0"/>
              </a:rPr>
              <a:t>router</a:t>
            </a: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 activo y el R2 es el </a:t>
            </a:r>
            <a:r>
              <a:rPr lang="es-MX" sz="1800" kern="100" dirty="0" err="1">
                <a:effectLst/>
                <a:latin typeface="Calibri" panose="020F0502020204030204" pitchFamily="34" charset="0"/>
                <a:ea typeface="Calibri" panose="020F0502020204030204" pitchFamily="34" charset="0"/>
                <a:cs typeface="Times New Roman" panose="02020603050405020304" pitchFamily="18" charset="0"/>
              </a:rPr>
              <a:t>router</a:t>
            </a: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 de reserva. </a:t>
            </a:r>
          </a:p>
          <a:p>
            <a:pPr>
              <a:lnSpc>
                <a:spcPct val="107000"/>
              </a:lnSpc>
              <a:spcAft>
                <a:spcPts val="800"/>
              </a:spcAft>
            </a:pPr>
            <a:r>
              <a:rPr lang="es-MX" kern="100" dirty="0">
                <a:latin typeface="Calibri" panose="020F0502020204030204" pitchFamily="34" charset="0"/>
                <a:ea typeface="Calibri" panose="020F0502020204030204" pitchFamily="34" charset="0"/>
                <a:cs typeface="Times New Roman" panose="02020603050405020304" pitchFamily="18" charset="0"/>
              </a:rPr>
              <a:t>Si</a:t>
            </a: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 R1, ya no está disponible, el </a:t>
            </a:r>
            <a:r>
              <a:rPr lang="es-MX" sz="1800" kern="100" dirty="0" err="1">
                <a:effectLst/>
                <a:latin typeface="Calibri" panose="020F0502020204030204" pitchFamily="34" charset="0"/>
                <a:ea typeface="Calibri" panose="020F0502020204030204" pitchFamily="34" charset="0"/>
                <a:cs typeface="Times New Roman" panose="02020603050405020304" pitchFamily="18" charset="0"/>
              </a:rPr>
              <a:t>router</a:t>
            </a: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 de reserva R2 asume el rol de </a:t>
            </a:r>
            <a:r>
              <a:rPr lang="es-MX" sz="1800" kern="100" dirty="0" err="1">
                <a:effectLst/>
                <a:latin typeface="Calibri" panose="020F0502020204030204" pitchFamily="34" charset="0"/>
                <a:ea typeface="Calibri" panose="020F0502020204030204" pitchFamily="34" charset="0"/>
                <a:cs typeface="Times New Roman" panose="02020603050405020304" pitchFamily="18" charset="0"/>
              </a:rPr>
              <a:t>router</a:t>
            </a: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 activo. </a:t>
            </a:r>
          </a:p>
          <a:p>
            <a:pPr>
              <a:lnSpc>
                <a:spcPct val="107000"/>
              </a:lnSpc>
              <a:spcAft>
                <a:spcPts val="800"/>
              </a:spcAft>
            </a:pP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Si  R1 vuelve a estar en línea. Dado que R1 tiene una prioridad más alta y el intento de prioridad se encuentra habilitado, forzará un nuevo proceso de elección. R1 reanudará su rol de </a:t>
            </a:r>
            <a:r>
              <a:rPr lang="es-MX" sz="1800" kern="100" dirty="0" err="1">
                <a:effectLst/>
                <a:latin typeface="Calibri" panose="020F0502020204030204" pitchFamily="34" charset="0"/>
                <a:ea typeface="Calibri" panose="020F0502020204030204" pitchFamily="34" charset="0"/>
                <a:cs typeface="Times New Roman" panose="02020603050405020304" pitchFamily="18" charset="0"/>
              </a:rPr>
              <a:t>router</a:t>
            </a: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 activo y el R2 de </a:t>
            </a:r>
            <a:r>
              <a:rPr lang="es-MX" sz="1800" kern="100" dirty="0" err="1">
                <a:effectLst/>
                <a:latin typeface="Calibri" panose="020F0502020204030204" pitchFamily="34" charset="0"/>
                <a:ea typeface="Calibri" panose="020F0502020204030204" pitchFamily="34" charset="0"/>
                <a:cs typeface="Times New Roman" panose="02020603050405020304" pitchFamily="18" charset="0"/>
              </a:rPr>
              <a:t>router</a:t>
            </a: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 de reserva.</a:t>
            </a:r>
          </a:p>
          <a:p>
            <a:pPr>
              <a:lnSpc>
                <a:spcPct val="107000"/>
              </a:lnSpc>
              <a:spcAft>
                <a:spcPts val="800"/>
              </a:spcAft>
            </a:pPr>
            <a:r>
              <a:rPr lang="es-MX" sz="1800" b="1" kern="100" dirty="0">
                <a:effectLst/>
                <a:latin typeface="Calibri" panose="020F0502020204030204" pitchFamily="34" charset="0"/>
                <a:ea typeface="Calibri" panose="020F0502020204030204" pitchFamily="34" charset="0"/>
                <a:cs typeface="Times New Roman" panose="02020603050405020304" pitchFamily="18" charset="0"/>
              </a:rPr>
              <a:t>Nota</a:t>
            </a: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 Si el intento de prioridad está desactivado, el </a:t>
            </a:r>
            <a:r>
              <a:rPr lang="es-MX" sz="1800" kern="100" dirty="0" err="1">
                <a:effectLst/>
                <a:latin typeface="Calibri" panose="020F0502020204030204" pitchFamily="34" charset="0"/>
                <a:ea typeface="Calibri" panose="020F0502020204030204" pitchFamily="34" charset="0"/>
                <a:cs typeface="Times New Roman" panose="02020603050405020304" pitchFamily="18" charset="0"/>
              </a:rPr>
              <a:t>router</a:t>
            </a: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 que arranque primero será el </a:t>
            </a:r>
            <a:r>
              <a:rPr lang="es-MX" sz="1800" kern="100" dirty="0" err="1">
                <a:effectLst/>
                <a:latin typeface="Calibri" panose="020F0502020204030204" pitchFamily="34" charset="0"/>
                <a:ea typeface="Calibri" panose="020F0502020204030204" pitchFamily="34" charset="0"/>
                <a:cs typeface="Times New Roman" panose="02020603050405020304" pitchFamily="18" charset="0"/>
              </a:rPr>
              <a:t>router</a:t>
            </a: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 activo si no hay otros </a:t>
            </a:r>
            <a:r>
              <a:rPr lang="es-MX" sz="1800" kern="100" dirty="0" err="1">
                <a:effectLst/>
                <a:latin typeface="Calibri" panose="020F0502020204030204" pitchFamily="34" charset="0"/>
                <a:ea typeface="Calibri" panose="020F0502020204030204" pitchFamily="34" charset="0"/>
                <a:cs typeface="Times New Roman" panose="02020603050405020304" pitchFamily="18" charset="0"/>
              </a:rPr>
              <a:t>routers</a:t>
            </a: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 en línea durante el proceso de elección.</a:t>
            </a:r>
          </a:p>
        </p:txBody>
      </p:sp>
    </p:spTree>
    <p:extLst>
      <p:ext uri="{BB962C8B-B14F-4D97-AF65-F5344CB8AC3E}">
        <p14:creationId xmlns:p14="http://schemas.microsoft.com/office/powerpoint/2010/main" val="16451108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470958" y="346085"/>
            <a:ext cx="11056024" cy="3050515"/>
          </a:xfrm>
          <a:prstGeom prst="rect">
            <a:avLst/>
          </a:prstGeom>
        </p:spPr>
        <p:txBody>
          <a:bodyPr wrap="square">
            <a:spAutoFit/>
          </a:bodyPr>
          <a:lstStyle/>
          <a:p>
            <a:pPr>
              <a:lnSpc>
                <a:spcPct val="107000"/>
              </a:lnSpc>
              <a:spcAft>
                <a:spcPts val="800"/>
              </a:spcAft>
            </a:pPr>
            <a:r>
              <a:rPr lang="es-MX" sz="2200" b="1" kern="100" dirty="0">
                <a:latin typeface="Calibri" panose="020F0502020204030204" pitchFamily="34" charset="0"/>
                <a:ea typeface="Calibri" panose="020F0502020204030204" pitchFamily="34" charset="0"/>
                <a:cs typeface="Times New Roman" panose="02020603050405020304" pitchFamily="18" charset="0"/>
              </a:rPr>
              <a:t>Estados y Temporizadores HSRP</a:t>
            </a:r>
          </a:p>
          <a:p>
            <a:pPr>
              <a:lnSpc>
                <a:spcPct val="107000"/>
              </a:lnSpc>
              <a:spcAft>
                <a:spcPts val="800"/>
              </a:spcAft>
            </a:pPr>
            <a:endParaRPr lang="es-MX"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s-MX" sz="2000" kern="100" dirty="0">
                <a:effectLst/>
                <a:latin typeface="Calibri" panose="020F0502020204030204" pitchFamily="34" charset="0"/>
                <a:ea typeface="Calibri" panose="020F0502020204030204" pitchFamily="34" charset="0"/>
                <a:cs typeface="Times New Roman" panose="02020603050405020304" pitchFamily="18" charset="0"/>
              </a:rPr>
              <a:t>Un </a:t>
            </a:r>
            <a:r>
              <a:rPr lang="es-MX" sz="2000" kern="100" dirty="0" err="1">
                <a:effectLst/>
                <a:latin typeface="Calibri" panose="020F0502020204030204" pitchFamily="34" charset="0"/>
                <a:ea typeface="Calibri" panose="020F0502020204030204" pitchFamily="34" charset="0"/>
                <a:cs typeface="Times New Roman" panose="02020603050405020304" pitchFamily="18" charset="0"/>
              </a:rPr>
              <a:t>router</a:t>
            </a:r>
            <a:r>
              <a:rPr lang="es-MX" sz="2000" kern="100" dirty="0">
                <a:effectLst/>
                <a:latin typeface="Calibri" panose="020F0502020204030204" pitchFamily="34" charset="0"/>
                <a:ea typeface="Calibri" panose="020F0502020204030204" pitchFamily="34" charset="0"/>
                <a:cs typeface="Times New Roman" panose="02020603050405020304" pitchFamily="18" charset="0"/>
              </a:rPr>
              <a:t> puede ser el </a:t>
            </a:r>
            <a:r>
              <a:rPr lang="es-MX" sz="2000" kern="100" dirty="0" err="1">
                <a:effectLst/>
                <a:latin typeface="Calibri" panose="020F0502020204030204" pitchFamily="34" charset="0"/>
                <a:ea typeface="Calibri" panose="020F0502020204030204" pitchFamily="34" charset="0"/>
                <a:cs typeface="Times New Roman" panose="02020603050405020304" pitchFamily="18" charset="0"/>
              </a:rPr>
              <a:t>router</a:t>
            </a:r>
            <a:r>
              <a:rPr lang="es-MX" sz="2000" kern="100" dirty="0">
                <a:effectLst/>
                <a:latin typeface="Calibri" panose="020F0502020204030204" pitchFamily="34" charset="0"/>
                <a:ea typeface="Calibri" panose="020F0502020204030204" pitchFamily="34" charset="0"/>
                <a:cs typeface="Times New Roman" panose="02020603050405020304" pitchFamily="18" charset="0"/>
              </a:rPr>
              <a:t> HSRP activo responsable de reenviar el tráfico del segmento, o puede ser un </a:t>
            </a:r>
            <a:r>
              <a:rPr lang="es-MX" sz="2000" kern="100" dirty="0" err="1">
                <a:effectLst/>
                <a:latin typeface="Calibri" panose="020F0502020204030204" pitchFamily="34" charset="0"/>
                <a:ea typeface="Calibri" panose="020F0502020204030204" pitchFamily="34" charset="0"/>
                <a:cs typeface="Times New Roman" panose="02020603050405020304" pitchFamily="18" charset="0"/>
              </a:rPr>
              <a:t>router</a:t>
            </a:r>
            <a:r>
              <a:rPr lang="es-MX" sz="2000" kern="100" dirty="0">
                <a:effectLst/>
                <a:latin typeface="Calibri" panose="020F0502020204030204" pitchFamily="34" charset="0"/>
                <a:ea typeface="Calibri" panose="020F0502020204030204" pitchFamily="34" charset="0"/>
                <a:cs typeface="Times New Roman" panose="02020603050405020304" pitchFamily="18" charset="0"/>
              </a:rPr>
              <a:t> HSRP pasivo en reserva, listo para asumir el papel activo si el </a:t>
            </a:r>
            <a:r>
              <a:rPr lang="es-MX" sz="2000" kern="100" dirty="0" err="1">
                <a:effectLst/>
                <a:latin typeface="Calibri" panose="020F0502020204030204" pitchFamily="34" charset="0"/>
                <a:ea typeface="Calibri" panose="020F0502020204030204" pitchFamily="34" charset="0"/>
                <a:cs typeface="Times New Roman" panose="02020603050405020304" pitchFamily="18" charset="0"/>
              </a:rPr>
              <a:t>router</a:t>
            </a:r>
            <a:r>
              <a:rPr lang="es-MX" sz="2000" kern="100" dirty="0">
                <a:effectLst/>
                <a:latin typeface="Calibri" panose="020F0502020204030204" pitchFamily="34" charset="0"/>
                <a:ea typeface="Calibri" panose="020F0502020204030204" pitchFamily="34" charset="0"/>
                <a:cs typeface="Times New Roman" panose="02020603050405020304" pitchFamily="18" charset="0"/>
              </a:rPr>
              <a:t> activo falla. Cuando una interfaz está configurada con HSRP o se activa por primera vez con una configuración HSRP existente, el </a:t>
            </a:r>
            <a:r>
              <a:rPr lang="es-MX" sz="2000" kern="100" dirty="0" err="1">
                <a:effectLst/>
                <a:latin typeface="Calibri" panose="020F0502020204030204" pitchFamily="34" charset="0"/>
                <a:ea typeface="Calibri" panose="020F0502020204030204" pitchFamily="34" charset="0"/>
                <a:cs typeface="Times New Roman" panose="02020603050405020304" pitchFamily="18" charset="0"/>
              </a:rPr>
              <a:t>router</a:t>
            </a:r>
            <a:r>
              <a:rPr lang="es-MX" sz="2000" kern="100" dirty="0">
                <a:effectLst/>
                <a:latin typeface="Calibri" panose="020F0502020204030204" pitchFamily="34" charset="0"/>
                <a:ea typeface="Calibri" panose="020F0502020204030204" pitchFamily="34" charset="0"/>
                <a:cs typeface="Times New Roman" panose="02020603050405020304" pitchFamily="18" charset="0"/>
              </a:rPr>
              <a:t> envía y recibe paquetes </a:t>
            </a:r>
            <a:r>
              <a:rPr lang="es-MX" sz="2000" kern="100" dirty="0" err="1">
                <a:effectLst/>
                <a:latin typeface="Calibri" panose="020F0502020204030204" pitchFamily="34" charset="0"/>
                <a:ea typeface="Calibri" panose="020F0502020204030204" pitchFamily="34" charset="0"/>
                <a:cs typeface="Times New Roman" panose="02020603050405020304" pitchFamily="18" charset="0"/>
              </a:rPr>
              <a:t>hello</a:t>
            </a:r>
            <a:r>
              <a:rPr lang="es-MX" sz="2000" kern="100" dirty="0">
                <a:effectLst/>
                <a:latin typeface="Calibri" panose="020F0502020204030204" pitchFamily="34" charset="0"/>
                <a:ea typeface="Calibri" panose="020F0502020204030204" pitchFamily="34" charset="0"/>
                <a:cs typeface="Times New Roman" panose="02020603050405020304" pitchFamily="18" charset="0"/>
              </a:rPr>
              <a:t> HSRP para comenzar el proceso de determinar qué estado asumirá en el grupo HSRP.</a:t>
            </a:r>
          </a:p>
          <a:p>
            <a:pPr>
              <a:lnSpc>
                <a:spcPct val="107000"/>
              </a:lnSpc>
              <a:spcAft>
                <a:spcPts val="800"/>
              </a:spcAft>
            </a:pPr>
            <a:r>
              <a:rPr lang="es-MX" sz="2000" kern="100" dirty="0">
                <a:effectLst/>
                <a:latin typeface="Calibri" panose="020F0502020204030204" pitchFamily="34" charset="0"/>
                <a:ea typeface="Calibri" panose="020F0502020204030204" pitchFamily="34" charset="0"/>
                <a:cs typeface="Times New Roman" panose="02020603050405020304" pitchFamily="18" charset="0"/>
              </a:rPr>
              <a:t>La Tabla 1 resume los estados de HSRP. </a:t>
            </a:r>
            <a:endParaRPr lang="es-MX" b="1" dirty="0"/>
          </a:p>
        </p:txBody>
      </p:sp>
      <p:graphicFrame>
        <p:nvGraphicFramePr>
          <p:cNvPr id="3" name="Tabla 2">
            <a:extLst>
              <a:ext uri="{FF2B5EF4-FFF2-40B4-BE49-F238E27FC236}">
                <a16:creationId xmlns:a16="http://schemas.microsoft.com/office/drawing/2014/main" id="{88D49FCE-2239-7CB4-1837-A20DE4D5D722}"/>
              </a:ext>
            </a:extLst>
          </p:cNvPr>
          <p:cNvGraphicFramePr>
            <a:graphicFrameLocks noGrp="1"/>
          </p:cNvGraphicFramePr>
          <p:nvPr>
            <p:extLst>
              <p:ext uri="{D42A27DB-BD31-4B8C-83A1-F6EECF244321}">
                <p14:modId xmlns:p14="http://schemas.microsoft.com/office/powerpoint/2010/main" val="1552571124"/>
              </p:ext>
            </p:extLst>
          </p:nvPr>
        </p:nvGraphicFramePr>
        <p:xfrm>
          <a:off x="462815" y="3814010"/>
          <a:ext cx="11266369" cy="2834225"/>
        </p:xfrm>
        <a:graphic>
          <a:graphicData uri="http://schemas.openxmlformats.org/drawingml/2006/table">
            <a:tbl>
              <a:tblPr firstRow="1" bandRow="1">
                <a:tableStyleId>{5C22544A-7EE6-4342-B048-85BDC9FD1C3A}</a:tableStyleId>
              </a:tblPr>
              <a:tblGrid>
                <a:gridCol w="2059806">
                  <a:extLst>
                    <a:ext uri="{9D8B030D-6E8A-4147-A177-3AD203B41FA5}">
                      <a16:colId xmlns:a16="http://schemas.microsoft.com/office/drawing/2014/main" val="2090072351"/>
                    </a:ext>
                  </a:extLst>
                </a:gridCol>
                <a:gridCol w="9206563">
                  <a:extLst>
                    <a:ext uri="{9D8B030D-6E8A-4147-A177-3AD203B41FA5}">
                      <a16:colId xmlns:a16="http://schemas.microsoft.com/office/drawing/2014/main" val="3492576615"/>
                    </a:ext>
                  </a:extLst>
                </a:gridCol>
              </a:tblGrid>
              <a:tr h="573425">
                <a:tc>
                  <a:txBody>
                    <a:bodyPr/>
                    <a:lstStyle/>
                    <a:p>
                      <a:pPr>
                        <a:lnSpc>
                          <a:spcPct val="100000"/>
                        </a:lnSpc>
                        <a:spcAft>
                          <a:spcPts val="0"/>
                        </a:spcAft>
                      </a:pPr>
                      <a:r>
                        <a:rPr lang="es-MX" sz="2000" b="1"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Estado de HSRP</a:t>
                      </a:r>
                      <a:endParaRPr lang="es-MX" sz="20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72000" marB="72000" anchor="ctr"/>
                </a:tc>
                <a:tc>
                  <a:txBody>
                    <a:bodyPr/>
                    <a:lstStyle/>
                    <a:p>
                      <a:pPr>
                        <a:lnSpc>
                          <a:spcPct val="100000"/>
                        </a:lnSpc>
                        <a:spcAft>
                          <a:spcPts val="0"/>
                        </a:spcAft>
                      </a:pPr>
                      <a:r>
                        <a:rPr lang="es-MX" sz="2000" b="1"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Descripción</a:t>
                      </a:r>
                      <a:endParaRPr lang="es-MX" sz="20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72000" marB="72000" anchor="ctr"/>
                </a:tc>
                <a:extLst>
                  <a:ext uri="{0D108BD9-81ED-4DB2-BD59-A6C34878D82A}">
                    <a16:rowId xmlns:a16="http://schemas.microsoft.com/office/drawing/2014/main" val="3885032398"/>
                  </a:ext>
                </a:extLst>
              </a:tr>
              <a:tr h="0">
                <a:tc>
                  <a:txBody>
                    <a:bodyPr/>
                    <a:lstStyle/>
                    <a:p>
                      <a:pPr>
                        <a:lnSpc>
                          <a:spcPct val="100000"/>
                        </a:lnSpc>
                        <a:spcAft>
                          <a:spcPts val="0"/>
                        </a:spcAft>
                      </a:pPr>
                      <a:r>
                        <a:rPr lang="es-MX" sz="2000" kern="100" dirty="0" err="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Initial</a:t>
                      </a:r>
                      <a:endParaRPr lang="es-MX"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72000" marB="72000" anchor="ctr"/>
                </a:tc>
                <a:tc>
                  <a:txBody>
                    <a:bodyPr/>
                    <a:lstStyle/>
                    <a:p>
                      <a:pPr>
                        <a:lnSpc>
                          <a:spcPct val="100000"/>
                        </a:lnSpc>
                        <a:spcAft>
                          <a:spcPts val="0"/>
                        </a:spcAft>
                      </a:pPr>
                      <a:r>
                        <a:rPr lang="es-MX" sz="20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Este estado se introduce a través de un cambio de configuración o cuando una interfaz está disponible por primera vez.</a:t>
                      </a:r>
                      <a:endParaRPr lang="es-MX"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72000" marB="72000" anchor="ctr"/>
                </a:tc>
                <a:extLst>
                  <a:ext uri="{0D108BD9-81ED-4DB2-BD59-A6C34878D82A}">
                    <a16:rowId xmlns:a16="http://schemas.microsoft.com/office/drawing/2014/main" val="2938203905"/>
                  </a:ext>
                </a:extLst>
              </a:tr>
              <a:tr h="335842">
                <a:tc>
                  <a:txBody>
                    <a:bodyPr/>
                    <a:lstStyle/>
                    <a:p>
                      <a:pPr>
                        <a:lnSpc>
                          <a:spcPct val="100000"/>
                        </a:lnSpc>
                        <a:spcAft>
                          <a:spcPts val="0"/>
                        </a:spcAft>
                      </a:pPr>
                      <a:r>
                        <a:rPr lang="es-MX" sz="2000" kern="100" dirty="0" err="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Learn</a:t>
                      </a:r>
                      <a:endParaRPr lang="es-MX" sz="20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72000" marB="72000" anchor="ctr"/>
                </a:tc>
                <a:tc>
                  <a:txBody>
                    <a:bodyPr/>
                    <a:lstStyle/>
                    <a:p>
                      <a:pPr>
                        <a:lnSpc>
                          <a:spcPct val="100000"/>
                        </a:lnSpc>
                        <a:spcAft>
                          <a:spcPts val="0"/>
                        </a:spcAft>
                      </a:pPr>
                      <a:r>
                        <a:rPr lang="es-MX" sz="20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El </a:t>
                      </a:r>
                      <a:r>
                        <a:rPr lang="es-MX" sz="2000" kern="100" dirty="0" err="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router</a:t>
                      </a:r>
                      <a:r>
                        <a:rPr lang="es-MX" sz="20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no ha determinado la dirección IP virtual y aún no ha visto un mensaje </a:t>
                      </a:r>
                      <a:r>
                        <a:rPr lang="es-MX" sz="2000" kern="100" dirty="0" err="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hello</a:t>
                      </a:r>
                      <a:r>
                        <a:rPr lang="es-MX" sz="20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del </a:t>
                      </a:r>
                      <a:r>
                        <a:rPr lang="es-MX" sz="2000" kern="100" dirty="0" err="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router</a:t>
                      </a:r>
                      <a:r>
                        <a:rPr lang="es-MX" sz="20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activo. En este estado, el </a:t>
                      </a:r>
                      <a:r>
                        <a:rPr lang="es-MX" sz="2000" kern="100" dirty="0" err="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router</a:t>
                      </a:r>
                      <a:r>
                        <a:rPr lang="es-MX" sz="20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espera a tener noticias del </a:t>
                      </a:r>
                      <a:r>
                        <a:rPr lang="es-MX" sz="2000" kern="100" dirty="0" err="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router</a:t>
                      </a:r>
                      <a:r>
                        <a:rPr lang="es-MX" sz="20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activo.</a:t>
                      </a:r>
                    </a:p>
                  </a:txBody>
                  <a:tcPr marL="95250" marR="95250" marT="72000" marB="72000" anchor="ctr"/>
                </a:tc>
                <a:extLst>
                  <a:ext uri="{0D108BD9-81ED-4DB2-BD59-A6C34878D82A}">
                    <a16:rowId xmlns:a16="http://schemas.microsoft.com/office/drawing/2014/main" val="4163909405"/>
                  </a:ext>
                </a:extLst>
              </a:tr>
              <a:tr h="335842">
                <a:tc>
                  <a:txBody>
                    <a:bodyPr/>
                    <a:lstStyle/>
                    <a:p>
                      <a:pPr>
                        <a:lnSpc>
                          <a:spcPct val="100000"/>
                        </a:lnSpc>
                        <a:spcAft>
                          <a:spcPts val="0"/>
                        </a:spcAft>
                      </a:pPr>
                      <a:r>
                        <a:rPr lang="es-MX" sz="20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Listen</a:t>
                      </a:r>
                    </a:p>
                  </a:txBody>
                  <a:tcPr marL="95250" marR="95250" marT="72000" marB="72000" anchor="ctr"/>
                </a:tc>
                <a:tc>
                  <a:txBody>
                    <a:bodyPr/>
                    <a:lstStyle/>
                    <a:p>
                      <a:pPr>
                        <a:lnSpc>
                          <a:spcPct val="100000"/>
                        </a:lnSpc>
                        <a:spcAft>
                          <a:spcPts val="0"/>
                        </a:spcAft>
                      </a:pPr>
                      <a:r>
                        <a:rPr lang="es-MX" sz="20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El </a:t>
                      </a:r>
                      <a:r>
                        <a:rPr lang="es-MX" sz="2000" kern="100" dirty="0" err="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router</a:t>
                      </a:r>
                      <a:r>
                        <a:rPr lang="es-MX" sz="20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conoce la dirección IP virtual, pero no es ni el </a:t>
                      </a:r>
                      <a:r>
                        <a:rPr lang="es-MX" sz="2000" kern="100" dirty="0" err="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router</a:t>
                      </a:r>
                      <a:r>
                        <a:rPr lang="es-MX" sz="20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activo ni el de reserva. Escucha los mensajes </a:t>
                      </a:r>
                      <a:r>
                        <a:rPr lang="es-MX" sz="2000" kern="100" dirty="0" err="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hello</a:t>
                      </a:r>
                      <a:r>
                        <a:rPr lang="es-MX" sz="20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de esos </a:t>
                      </a:r>
                      <a:r>
                        <a:rPr lang="es-MX" sz="2000" kern="100" dirty="0" err="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routers</a:t>
                      </a:r>
                      <a:r>
                        <a:rPr lang="es-MX" sz="20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t>
                      </a:r>
                    </a:p>
                  </a:txBody>
                  <a:tcPr marL="95250" marR="95250" marT="72000" marB="72000" anchor="ctr"/>
                </a:tc>
                <a:extLst>
                  <a:ext uri="{0D108BD9-81ED-4DB2-BD59-A6C34878D82A}">
                    <a16:rowId xmlns:a16="http://schemas.microsoft.com/office/drawing/2014/main" val="940921343"/>
                  </a:ext>
                </a:extLst>
              </a:tr>
            </a:tbl>
          </a:graphicData>
        </a:graphic>
      </p:graphicFrame>
    </p:spTree>
    <p:extLst>
      <p:ext uri="{BB962C8B-B14F-4D97-AF65-F5344CB8AC3E}">
        <p14:creationId xmlns:p14="http://schemas.microsoft.com/office/powerpoint/2010/main" val="3056236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a 2">
            <a:extLst>
              <a:ext uri="{FF2B5EF4-FFF2-40B4-BE49-F238E27FC236}">
                <a16:creationId xmlns:a16="http://schemas.microsoft.com/office/drawing/2014/main" id="{88D49FCE-2239-7CB4-1837-A20DE4D5D722}"/>
              </a:ext>
            </a:extLst>
          </p:cNvPr>
          <p:cNvGraphicFramePr>
            <a:graphicFrameLocks noGrp="1"/>
          </p:cNvGraphicFramePr>
          <p:nvPr>
            <p:extLst>
              <p:ext uri="{D42A27DB-BD31-4B8C-83A1-F6EECF244321}">
                <p14:modId xmlns:p14="http://schemas.microsoft.com/office/powerpoint/2010/main" val="4237441240"/>
              </p:ext>
            </p:extLst>
          </p:nvPr>
        </p:nvGraphicFramePr>
        <p:xfrm>
          <a:off x="462815" y="1263315"/>
          <a:ext cx="11266369" cy="2420513"/>
        </p:xfrm>
        <a:graphic>
          <a:graphicData uri="http://schemas.openxmlformats.org/drawingml/2006/table">
            <a:tbl>
              <a:tblPr firstRow="1" bandRow="1">
                <a:tableStyleId>{5C22544A-7EE6-4342-B048-85BDC9FD1C3A}</a:tableStyleId>
              </a:tblPr>
              <a:tblGrid>
                <a:gridCol w="2059806">
                  <a:extLst>
                    <a:ext uri="{9D8B030D-6E8A-4147-A177-3AD203B41FA5}">
                      <a16:colId xmlns:a16="http://schemas.microsoft.com/office/drawing/2014/main" val="2090072351"/>
                    </a:ext>
                  </a:extLst>
                </a:gridCol>
                <a:gridCol w="9206563">
                  <a:extLst>
                    <a:ext uri="{9D8B030D-6E8A-4147-A177-3AD203B41FA5}">
                      <a16:colId xmlns:a16="http://schemas.microsoft.com/office/drawing/2014/main" val="3492576615"/>
                    </a:ext>
                  </a:extLst>
                </a:gridCol>
              </a:tblGrid>
              <a:tr h="573425">
                <a:tc>
                  <a:txBody>
                    <a:bodyPr/>
                    <a:lstStyle/>
                    <a:p>
                      <a:pPr>
                        <a:lnSpc>
                          <a:spcPct val="100000"/>
                        </a:lnSpc>
                        <a:spcAft>
                          <a:spcPts val="0"/>
                        </a:spcAft>
                      </a:pPr>
                      <a:r>
                        <a:rPr lang="es-MX" sz="2000" b="1"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Estado de HSRP</a:t>
                      </a:r>
                      <a:endParaRPr lang="es-MX" sz="20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72000" marB="72000" anchor="ctr"/>
                </a:tc>
                <a:tc>
                  <a:txBody>
                    <a:bodyPr/>
                    <a:lstStyle/>
                    <a:p>
                      <a:pPr>
                        <a:lnSpc>
                          <a:spcPct val="100000"/>
                        </a:lnSpc>
                        <a:spcAft>
                          <a:spcPts val="0"/>
                        </a:spcAft>
                      </a:pPr>
                      <a:r>
                        <a:rPr lang="es-MX" sz="2000" b="1"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Descripción</a:t>
                      </a:r>
                      <a:endParaRPr lang="es-MX" sz="20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72000" marB="72000" anchor="ctr"/>
                </a:tc>
                <a:extLst>
                  <a:ext uri="{0D108BD9-81ED-4DB2-BD59-A6C34878D82A}">
                    <a16:rowId xmlns:a16="http://schemas.microsoft.com/office/drawing/2014/main" val="3885032398"/>
                  </a:ext>
                </a:extLst>
              </a:tr>
              <a:tr h="0">
                <a:tc>
                  <a:txBody>
                    <a:bodyPr/>
                    <a:lstStyle/>
                    <a:p>
                      <a:pPr>
                        <a:lnSpc>
                          <a:spcPct val="107000"/>
                        </a:lnSpc>
                        <a:spcAft>
                          <a:spcPts val="800"/>
                        </a:spcAft>
                      </a:pPr>
                      <a:r>
                        <a:rPr lang="es-MX" sz="2000" kern="100" dirty="0" err="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Speak</a:t>
                      </a:r>
                      <a:endParaRPr lang="es-MX" sz="20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142875" marB="142875" anchor="ctr"/>
                </a:tc>
                <a:tc>
                  <a:txBody>
                    <a:bodyPr/>
                    <a:lstStyle/>
                    <a:p>
                      <a:pPr>
                        <a:lnSpc>
                          <a:spcPct val="107000"/>
                        </a:lnSpc>
                        <a:spcAft>
                          <a:spcPts val="800"/>
                        </a:spcAft>
                      </a:pPr>
                      <a:r>
                        <a:rPr lang="es-MX" sz="20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El </a:t>
                      </a:r>
                      <a:r>
                        <a:rPr lang="es-MX" sz="2000" kern="100" dirty="0" err="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router</a:t>
                      </a:r>
                      <a:r>
                        <a:rPr lang="es-MX" sz="20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envía periódicamente mensajes </a:t>
                      </a:r>
                      <a:r>
                        <a:rPr lang="es-MX" sz="2000" kern="100" dirty="0" err="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hello</a:t>
                      </a:r>
                      <a:r>
                        <a:rPr lang="es-MX" sz="20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y participa activamente en la elección del </a:t>
                      </a:r>
                      <a:r>
                        <a:rPr lang="es-MX" sz="2000" kern="100" dirty="0" err="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router</a:t>
                      </a:r>
                      <a:r>
                        <a:rPr lang="es-MX" sz="20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activo y/o de reserva.</a:t>
                      </a:r>
                    </a:p>
                  </a:txBody>
                  <a:tcPr marL="95250" marR="95250" marT="142875" marB="142875" anchor="ctr"/>
                </a:tc>
                <a:extLst>
                  <a:ext uri="{0D108BD9-81ED-4DB2-BD59-A6C34878D82A}">
                    <a16:rowId xmlns:a16="http://schemas.microsoft.com/office/drawing/2014/main" val="2938203905"/>
                  </a:ext>
                </a:extLst>
              </a:tr>
              <a:tr h="335842">
                <a:tc>
                  <a:txBody>
                    <a:bodyPr/>
                    <a:lstStyle/>
                    <a:p>
                      <a:pPr>
                        <a:lnSpc>
                          <a:spcPct val="107000"/>
                        </a:lnSpc>
                        <a:spcAft>
                          <a:spcPts val="800"/>
                        </a:spcAft>
                      </a:pPr>
                      <a:r>
                        <a:rPr lang="es-MX" sz="20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Standby</a:t>
                      </a:r>
                    </a:p>
                  </a:txBody>
                  <a:tcPr marL="95250" marR="95250" marT="142875" marB="142875" anchor="ctr"/>
                </a:tc>
                <a:tc>
                  <a:txBody>
                    <a:bodyPr/>
                    <a:lstStyle/>
                    <a:p>
                      <a:pPr>
                        <a:lnSpc>
                          <a:spcPct val="107000"/>
                        </a:lnSpc>
                        <a:spcAft>
                          <a:spcPts val="800"/>
                        </a:spcAft>
                      </a:pPr>
                      <a:r>
                        <a:rPr lang="es-MX" sz="20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El </a:t>
                      </a:r>
                      <a:r>
                        <a:rPr lang="es-MX" sz="2000" kern="100" dirty="0" err="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router</a:t>
                      </a:r>
                      <a:r>
                        <a:rPr lang="es-MX" sz="20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es candidato a convertirse en el próximo </a:t>
                      </a:r>
                      <a:r>
                        <a:rPr lang="es-MX" sz="2000" kern="100" dirty="0" err="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router</a:t>
                      </a:r>
                      <a:r>
                        <a:rPr lang="es-MX" sz="20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activo y envía periódicamente mensajes </a:t>
                      </a:r>
                      <a:r>
                        <a:rPr lang="es-MX" sz="2000" kern="100" dirty="0" err="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hello</a:t>
                      </a:r>
                      <a:r>
                        <a:rPr lang="es-MX" sz="20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 de saludo.</a:t>
                      </a:r>
                    </a:p>
                  </a:txBody>
                  <a:tcPr marL="95250" marR="95250" marT="142875" marB="142875" anchor="ctr"/>
                </a:tc>
                <a:extLst>
                  <a:ext uri="{0D108BD9-81ED-4DB2-BD59-A6C34878D82A}">
                    <a16:rowId xmlns:a16="http://schemas.microsoft.com/office/drawing/2014/main" val="4163909405"/>
                  </a:ext>
                </a:extLst>
              </a:tr>
            </a:tbl>
          </a:graphicData>
        </a:graphic>
      </p:graphicFrame>
      <p:sp>
        <p:nvSpPr>
          <p:cNvPr id="5" name="CuadroTexto 4">
            <a:extLst>
              <a:ext uri="{FF2B5EF4-FFF2-40B4-BE49-F238E27FC236}">
                <a16:creationId xmlns:a16="http://schemas.microsoft.com/office/drawing/2014/main" id="{D38C3D1B-56EF-8B57-13E2-5B372178FDD4}"/>
              </a:ext>
            </a:extLst>
          </p:cNvPr>
          <p:cNvSpPr txBox="1"/>
          <p:nvPr/>
        </p:nvSpPr>
        <p:spPr>
          <a:xfrm>
            <a:off x="462815" y="3869425"/>
            <a:ext cx="11412352" cy="2988575"/>
          </a:xfrm>
          <a:prstGeom prst="rect">
            <a:avLst/>
          </a:prstGeom>
          <a:noFill/>
        </p:spPr>
        <p:txBody>
          <a:bodyPr wrap="square">
            <a:spAutoFit/>
          </a:bodyPr>
          <a:lstStyle/>
          <a:p>
            <a:pPr>
              <a:lnSpc>
                <a:spcPct val="107000"/>
              </a:lnSpc>
              <a:spcAft>
                <a:spcPts val="800"/>
              </a:spcAft>
            </a:pPr>
            <a:r>
              <a:rPr lang="es-MX" sz="2000" kern="100" dirty="0">
                <a:effectLst/>
                <a:latin typeface="Calibri" panose="020F0502020204030204" pitchFamily="34" charset="0"/>
                <a:ea typeface="Calibri" panose="020F0502020204030204" pitchFamily="34" charset="0"/>
                <a:cs typeface="Times New Roman" panose="02020603050405020304" pitchFamily="18" charset="0"/>
              </a:rPr>
              <a:t>El </a:t>
            </a:r>
            <a:r>
              <a:rPr lang="es-MX" sz="2000" kern="100" dirty="0" err="1">
                <a:effectLst/>
                <a:latin typeface="Calibri" panose="020F0502020204030204" pitchFamily="34" charset="0"/>
                <a:ea typeface="Calibri" panose="020F0502020204030204" pitchFamily="34" charset="0"/>
                <a:cs typeface="Times New Roman" panose="02020603050405020304" pitchFamily="18" charset="0"/>
              </a:rPr>
              <a:t>router</a:t>
            </a:r>
            <a:r>
              <a:rPr lang="es-MX" sz="2000" kern="100" dirty="0">
                <a:effectLst/>
                <a:latin typeface="Calibri" panose="020F0502020204030204" pitchFamily="34" charset="0"/>
                <a:ea typeface="Calibri" panose="020F0502020204030204" pitchFamily="34" charset="0"/>
                <a:cs typeface="Times New Roman" panose="02020603050405020304" pitchFamily="18" charset="0"/>
              </a:rPr>
              <a:t> HSRP activo y el de reserva envían paquetes </a:t>
            </a:r>
            <a:r>
              <a:rPr lang="es-MX" sz="2000" kern="100" dirty="0" err="1">
                <a:effectLst/>
                <a:latin typeface="Calibri" panose="020F0502020204030204" pitchFamily="34" charset="0"/>
                <a:ea typeface="Calibri" panose="020F0502020204030204" pitchFamily="34" charset="0"/>
                <a:cs typeface="Times New Roman" panose="02020603050405020304" pitchFamily="18" charset="0"/>
              </a:rPr>
              <a:t>hello</a:t>
            </a:r>
            <a:r>
              <a:rPr lang="es-MX" sz="2000" kern="100" dirty="0">
                <a:effectLst/>
                <a:latin typeface="Calibri" panose="020F0502020204030204" pitchFamily="34" charset="0"/>
                <a:ea typeface="Calibri" panose="020F0502020204030204" pitchFamily="34" charset="0"/>
                <a:cs typeface="Times New Roman" panose="02020603050405020304" pitchFamily="18" charset="0"/>
              </a:rPr>
              <a:t>/de saludo a la dirección de multidifusión del grupo HSRP cada 3 segundos, de forma predeterminada. </a:t>
            </a:r>
          </a:p>
          <a:p>
            <a:pPr>
              <a:lnSpc>
                <a:spcPct val="107000"/>
              </a:lnSpc>
              <a:spcAft>
                <a:spcPts val="800"/>
              </a:spcAft>
            </a:pPr>
            <a:r>
              <a:rPr lang="es-MX" sz="2000" kern="100" dirty="0">
                <a:effectLst/>
                <a:latin typeface="Calibri" panose="020F0502020204030204" pitchFamily="34" charset="0"/>
                <a:ea typeface="Calibri" panose="020F0502020204030204" pitchFamily="34" charset="0"/>
                <a:cs typeface="Times New Roman" panose="02020603050405020304" pitchFamily="18" charset="0"/>
              </a:rPr>
              <a:t>El </a:t>
            </a:r>
            <a:r>
              <a:rPr lang="es-MX" sz="2000" kern="100" dirty="0" err="1">
                <a:effectLst/>
                <a:latin typeface="Calibri" panose="020F0502020204030204" pitchFamily="34" charset="0"/>
                <a:ea typeface="Calibri" panose="020F0502020204030204" pitchFamily="34" charset="0"/>
                <a:cs typeface="Times New Roman" panose="02020603050405020304" pitchFamily="18" charset="0"/>
              </a:rPr>
              <a:t>router</a:t>
            </a:r>
            <a:r>
              <a:rPr lang="es-MX" sz="2000" kern="100" dirty="0">
                <a:effectLst/>
                <a:latin typeface="Calibri" panose="020F0502020204030204" pitchFamily="34" charset="0"/>
                <a:ea typeface="Calibri" panose="020F0502020204030204" pitchFamily="34" charset="0"/>
                <a:cs typeface="Times New Roman" panose="02020603050405020304" pitchFamily="18" charset="0"/>
              </a:rPr>
              <a:t> de reserva se convertirá en activo si no recibe un mensaje </a:t>
            </a:r>
            <a:r>
              <a:rPr lang="es-MX" sz="2000" kern="100" dirty="0" err="1">
                <a:effectLst/>
                <a:latin typeface="Calibri" panose="020F0502020204030204" pitchFamily="34" charset="0"/>
                <a:ea typeface="Calibri" panose="020F0502020204030204" pitchFamily="34" charset="0"/>
                <a:cs typeface="Times New Roman" panose="02020603050405020304" pitchFamily="18" charset="0"/>
              </a:rPr>
              <a:t>hello</a:t>
            </a:r>
            <a:r>
              <a:rPr lang="es-MX" sz="2000" kern="100" dirty="0">
                <a:effectLst/>
                <a:latin typeface="Calibri" panose="020F0502020204030204" pitchFamily="34" charset="0"/>
                <a:ea typeface="Calibri" panose="020F0502020204030204" pitchFamily="34" charset="0"/>
                <a:cs typeface="Times New Roman" panose="02020603050405020304" pitchFamily="18" charset="0"/>
              </a:rPr>
              <a:t>/de saludo del </a:t>
            </a:r>
            <a:r>
              <a:rPr lang="es-MX" sz="2000" kern="100" dirty="0" err="1">
                <a:effectLst/>
                <a:latin typeface="Calibri" panose="020F0502020204030204" pitchFamily="34" charset="0"/>
                <a:ea typeface="Calibri" panose="020F0502020204030204" pitchFamily="34" charset="0"/>
                <a:cs typeface="Times New Roman" panose="02020603050405020304" pitchFamily="18" charset="0"/>
              </a:rPr>
              <a:t>router</a:t>
            </a:r>
            <a:r>
              <a:rPr lang="es-MX" sz="2000" kern="100" dirty="0">
                <a:effectLst/>
                <a:latin typeface="Calibri" panose="020F0502020204030204" pitchFamily="34" charset="0"/>
                <a:ea typeface="Calibri" panose="020F0502020204030204" pitchFamily="34" charset="0"/>
                <a:cs typeface="Times New Roman" panose="02020603050405020304" pitchFamily="18" charset="0"/>
              </a:rPr>
              <a:t> activo después de 10 segundos. </a:t>
            </a:r>
          </a:p>
          <a:p>
            <a:pPr>
              <a:lnSpc>
                <a:spcPct val="107000"/>
              </a:lnSpc>
              <a:spcAft>
                <a:spcPts val="800"/>
              </a:spcAft>
            </a:pPr>
            <a:r>
              <a:rPr lang="es-MX" sz="2000" kern="100" dirty="0">
                <a:effectLst/>
                <a:latin typeface="Calibri" panose="020F0502020204030204" pitchFamily="34" charset="0"/>
                <a:ea typeface="Calibri" panose="020F0502020204030204" pitchFamily="34" charset="0"/>
                <a:cs typeface="Times New Roman" panose="02020603050405020304" pitchFamily="18" charset="0"/>
              </a:rPr>
              <a:t>Puedes bajar estas configuraciones del temporizador para agilizar las fallas o el intento de prioridad. Sin embargo, para evitar el aumento del uso de la CPU y cambios de estado de reserva innecesarios, no configures el temporizador </a:t>
            </a:r>
            <a:r>
              <a:rPr lang="es-MX" sz="2000" kern="100" dirty="0" err="1">
                <a:effectLst/>
                <a:latin typeface="Calibri" panose="020F0502020204030204" pitchFamily="34" charset="0"/>
                <a:ea typeface="Calibri" panose="020F0502020204030204" pitchFamily="34" charset="0"/>
                <a:cs typeface="Times New Roman" panose="02020603050405020304" pitchFamily="18" charset="0"/>
              </a:rPr>
              <a:t>hello</a:t>
            </a:r>
            <a:r>
              <a:rPr lang="es-MX" sz="2000" kern="100" dirty="0">
                <a:effectLst/>
                <a:latin typeface="Calibri" panose="020F0502020204030204" pitchFamily="34" charset="0"/>
                <a:ea typeface="Calibri" panose="020F0502020204030204" pitchFamily="34" charset="0"/>
                <a:cs typeface="Times New Roman" panose="02020603050405020304" pitchFamily="18" charset="0"/>
              </a:rPr>
              <a:t> a menos de 1 segundo o el temporizador de espera a menos de 4 segundos</a:t>
            </a:r>
          </a:p>
          <a:p>
            <a:pPr>
              <a:lnSpc>
                <a:spcPct val="107000"/>
              </a:lnSpc>
              <a:spcAft>
                <a:spcPts val="800"/>
              </a:spcAft>
            </a:pP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 </a:t>
            </a:r>
          </a:p>
        </p:txBody>
      </p:sp>
    </p:spTree>
    <p:extLst>
      <p:ext uri="{BB962C8B-B14F-4D97-AF65-F5344CB8AC3E}">
        <p14:creationId xmlns:p14="http://schemas.microsoft.com/office/powerpoint/2010/main" val="7911402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470958" y="346085"/>
            <a:ext cx="11056024" cy="6162841"/>
          </a:xfrm>
          <a:prstGeom prst="rect">
            <a:avLst/>
          </a:prstGeom>
        </p:spPr>
        <p:txBody>
          <a:bodyPr wrap="square">
            <a:spAutoFit/>
          </a:bodyPr>
          <a:lstStyle/>
          <a:p>
            <a:pPr>
              <a:lnSpc>
                <a:spcPct val="107000"/>
              </a:lnSpc>
              <a:spcAft>
                <a:spcPts val="800"/>
              </a:spcAft>
            </a:pPr>
            <a:r>
              <a:rPr lang="es-MX" sz="2200" b="1" kern="100" dirty="0">
                <a:latin typeface="Calibri" panose="020F0502020204030204" pitchFamily="34" charset="0"/>
                <a:ea typeface="Calibri" panose="020F0502020204030204" pitchFamily="34" charset="0"/>
                <a:cs typeface="Times New Roman" panose="02020603050405020304" pitchFamily="18" charset="0"/>
              </a:rPr>
              <a:t>Cisco - HSRP: Descripción general</a:t>
            </a:r>
          </a:p>
          <a:p>
            <a:pPr>
              <a:lnSpc>
                <a:spcPct val="107000"/>
              </a:lnSpc>
              <a:spcAft>
                <a:spcPts val="800"/>
              </a:spcAft>
            </a:pPr>
            <a:endParaRPr lang="es-MX" sz="2000" kern="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s-MX" sz="2000" kern="100" dirty="0">
                <a:latin typeface="Calibri" panose="020F0502020204030204" pitchFamily="34" charset="0"/>
                <a:ea typeface="Calibri" panose="020F0502020204030204" pitchFamily="34" charset="0"/>
                <a:cs typeface="Times New Roman" panose="02020603050405020304" pitchFamily="18" charset="0"/>
              </a:rPr>
              <a:t>HSRP proporciona una alta disponibilidad de red, ya que proporciona redundancia de </a:t>
            </a:r>
            <a:r>
              <a:rPr lang="es-MX" sz="2000" kern="100" dirty="0" err="1">
                <a:latin typeface="Calibri" panose="020F0502020204030204" pitchFamily="34" charset="0"/>
                <a:ea typeface="Calibri" panose="020F0502020204030204" pitchFamily="34" charset="0"/>
                <a:cs typeface="Times New Roman" panose="02020603050405020304" pitchFamily="18" charset="0"/>
              </a:rPr>
              <a:t>routing</a:t>
            </a:r>
            <a:r>
              <a:rPr lang="es-MX" sz="2000" kern="100" dirty="0">
                <a:latin typeface="Calibri" panose="020F0502020204030204" pitchFamily="34" charset="0"/>
                <a:ea typeface="Calibri" panose="020F0502020204030204" pitchFamily="34" charset="0"/>
                <a:cs typeface="Times New Roman" panose="02020603050405020304" pitchFamily="18" charset="0"/>
              </a:rPr>
              <a:t> de primer salto para los hosts IPv4 en las redes configuradas con una dirección IPv4 de </a:t>
            </a:r>
            <a:r>
              <a:rPr lang="es-MX" sz="2000" kern="100" dirty="0" err="1">
                <a:latin typeface="Calibri" panose="020F0502020204030204" pitchFamily="34" charset="0"/>
                <a:ea typeface="Calibri" panose="020F0502020204030204" pitchFamily="34" charset="0"/>
                <a:cs typeface="Times New Roman" panose="02020603050405020304" pitchFamily="18" charset="0"/>
              </a:rPr>
              <a:t>gateway</a:t>
            </a:r>
            <a:r>
              <a:rPr lang="es-MX" sz="2000" kern="100" dirty="0">
                <a:latin typeface="Calibri" panose="020F0502020204030204" pitchFamily="34" charset="0"/>
                <a:ea typeface="Calibri" panose="020F0502020204030204" pitchFamily="34" charset="0"/>
                <a:cs typeface="Times New Roman" panose="02020603050405020304" pitchFamily="18" charset="0"/>
              </a:rPr>
              <a:t> predeterminado. HSRP se utiliza en un grupo de </a:t>
            </a:r>
            <a:r>
              <a:rPr lang="es-MX" sz="2000" kern="100" dirty="0" err="1">
                <a:latin typeface="Calibri" panose="020F0502020204030204" pitchFamily="34" charset="0"/>
                <a:ea typeface="Calibri" panose="020F0502020204030204" pitchFamily="34" charset="0"/>
                <a:cs typeface="Times New Roman" panose="02020603050405020304" pitchFamily="18" charset="0"/>
              </a:rPr>
              <a:t>routers</a:t>
            </a:r>
            <a:r>
              <a:rPr lang="es-MX" sz="2000" kern="100" dirty="0">
                <a:latin typeface="Calibri" panose="020F0502020204030204" pitchFamily="34" charset="0"/>
                <a:ea typeface="Calibri" panose="020F0502020204030204" pitchFamily="34" charset="0"/>
                <a:cs typeface="Times New Roman" panose="02020603050405020304" pitchFamily="18" charset="0"/>
              </a:rPr>
              <a:t> para seleccionar un dispositivo activo y un dispositivo de reserva.</a:t>
            </a:r>
          </a:p>
          <a:p>
            <a:pPr>
              <a:lnSpc>
                <a:spcPct val="107000"/>
              </a:lnSpc>
              <a:spcAft>
                <a:spcPts val="800"/>
              </a:spcAft>
            </a:pPr>
            <a:r>
              <a:rPr lang="es-MX" sz="2000" kern="100" dirty="0">
                <a:latin typeface="Calibri" panose="020F0502020204030204" pitchFamily="34" charset="0"/>
                <a:ea typeface="Calibri" panose="020F0502020204030204" pitchFamily="34" charset="0"/>
                <a:cs typeface="Times New Roman" panose="02020603050405020304" pitchFamily="18" charset="0"/>
              </a:rPr>
              <a:t>El dispositivo activo es aquel que se utiliza para enrutar paquetes, y el dispositivo de reserva es el que toma el control cuando falla el dispositivo activo o cuando se cumplen condiciones previamente establecidas. La función del </a:t>
            </a:r>
            <a:r>
              <a:rPr lang="es-MX" sz="2000" kern="100" dirty="0" err="1">
                <a:latin typeface="Calibri" panose="020F0502020204030204" pitchFamily="34" charset="0"/>
                <a:ea typeface="Calibri" panose="020F0502020204030204" pitchFamily="34" charset="0"/>
                <a:cs typeface="Times New Roman" panose="02020603050405020304" pitchFamily="18" charset="0"/>
              </a:rPr>
              <a:t>router</a:t>
            </a:r>
            <a:r>
              <a:rPr lang="es-MX" sz="2000" kern="100" dirty="0">
                <a:latin typeface="Calibri" panose="020F0502020204030204" pitchFamily="34" charset="0"/>
                <a:ea typeface="Calibri" panose="020F0502020204030204" pitchFamily="34" charset="0"/>
                <a:cs typeface="Times New Roman" panose="02020603050405020304" pitchFamily="18" charset="0"/>
              </a:rPr>
              <a:t> de reserva del HSRP es supervisar el estado operativo del grupo HSRP y asumir rápidamente la responsabilidad del reenvío de paquetes si el </a:t>
            </a:r>
            <a:r>
              <a:rPr lang="es-MX" sz="2000" kern="100" dirty="0" err="1">
                <a:latin typeface="Calibri" panose="020F0502020204030204" pitchFamily="34" charset="0"/>
                <a:ea typeface="Calibri" panose="020F0502020204030204" pitchFamily="34" charset="0"/>
                <a:cs typeface="Times New Roman" panose="02020603050405020304" pitchFamily="18" charset="0"/>
              </a:rPr>
              <a:t>router</a:t>
            </a:r>
            <a:r>
              <a:rPr lang="es-MX" sz="2000" kern="100" dirty="0">
                <a:latin typeface="Calibri" panose="020F0502020204030204" pitchFamily="34" charset="0"/>
                <a:ea typeface="Calibri" panose="020F0502020204030204" pitchFamily="34" charset="0"/>
                <a:cs typeface="Times New Roman" panose="02020603050405020304" pitchFamily="18" charset="0"/>
              </a:rPr>
              <a:t> activo falla.</a:t>
            </a:r>
          </a:p>
          <a:p>
            <a:pPr>
              <a:lnSpc>
                <a:spcPct val="107000"/>
              </a:lnSpc>
              <a:spcAft>
                <a:spcPts val="800"/>
              </a:spcAft>
            </a:pPr>
            <a:r>
              <a:rPr lang="es-MX" sz="2000" kern="100" dirty="0">
                <a:latin typeface="Calibri" panose="020F0502020204030204" pitchFamily="34" charset="0"/>
                <a:ea typeface="Calibri" panose="020F0502020204030204" pitchFamily="34" charset="0"/>
                <a:cs typeface="Times New Roman" panose="02020603050405020304" pitchFamily="18" charset="0"/>
              </a:rPr>
              <a:t> </a:t>
            </a:r>
          </a:p>
          <a:p>
            <a:pPr>
              <a:lnSpc>
                <a:spcPct val="107000"/>
              </a:lnSpc>
              <a:spcAft>
                <a:spcPts val="800"/>
              </a:spcAft>
            </a:pPr>
            <a:r>
              <a:rPr lang="es-MX" sz="2000" kern="100" dirty="0">
                <a:latin typeface="Calibri" panose="020F0502020204030204" pitchFamily="34" charset="0"/>
                <a:ea typeface="Calibri" panose="020F0502020204030204" pitchFamily="34" charset="0"/>
                <a:cs typeface="Times New Roman" panose="02020603050405020304" pitchFamily="18" charset="0"/>
              </a:rPr>
              <a:t>Prioridad HSRP</a:t>
            </a:r>
          </a:p>
          <a:p>
            <a:pPr>
              <a:lnSpc>
                <a:spcPct val="107000"/>
              </a:lnSpc>
              <a:spcAft>
                <a:spcPts val="800"/>
              </a:spcAft>
            </a:pPr>
            <a:r>
              <a:rPr lang="es-MX" sz="2000" kern="100" dirty="0">
                <a:latin typeface="Calibri" panose="020F0502020204030204" pitchFamily="34" charset="0"/>
                <a:ea typeface="Calibri" panose="020F0502020204030204" pitchFamily="34" charset="0"/>
                <a:cs typeface="Times New Roman" panose="02020603050405020304" pitchFamily="18" charset="0"/>
              </a:rPr>
              <a:t>La prioridad HSRP se puede utilizar para determinar el </a:t>
            </a:r>
            <a:r>
              <a:rPr lang="es-MX" sz="2000" kern="100" dirty="0" err="1">
                <a:latin typeface="Calibri" panose="020F0502020204030204" pitchFamily="34" charset="0"/>
                <a:ea typeface="Calibri" panose="020F0502020204030204" pitchFamily="34" charset="0"/>
                <a:cs typeface="Times New Roman" panose="02020603050405020304" pitchFamily="18" charset="0"/>
              </a:rPr>
              <a:t>router</a:t>
            </a:r>
            <a:r>
              <a:rPr lang="es-MX" sz="2000" kern="100" dirty="0">
                <a:latin typeface="Calibri" panose="020F0502020204030204" pitchFamily="34" charset="0"/>
                <a:ea typeface="Calibri" panose="020F0502020204030204" pitchFamily="34" charset="0"/>
                <a:cs typeface="Times New Roman" panose="02020603050405020304" pitchFamily="18" charset="0"/>
              </a:rPr>
              <a:t> activo. El </a:t>
            </a:r>
            <a:r>
              <a:rPr lang="es-MX" sz="2000" kern="100" dirty="0" err="1">
                <a:latin typeface="Calibri" panose="020F0502020204030204" pitchFamily="34" charset="0"/>
                <a:ea typeface="Calibri" panose="020F0502020204030204" pitchFamily="34" charset="0"/>
                <a:cs typeface="Times New Roman" panose="02020603050405020304" pitchFamily="18" charset="0"/>
              </a:rPr>
              <a:t>router</a:t>
            </a:r>
            <a:r>
              <a:rPr lang="es-MX" sz="2000" kern="100" dirty="0">
                <a:latin typeface="Calibri" panose="020F0502020204030204" pitchFamily="34" charset="0"/>
                <a:ea typeface="Calibri" panose="020F0502020204030204" pitchFamily="34" charset="0"/>
                <a:cs typeface="Times New Roman" panose="02020603050405020304" pitchFamily="18" charset="0"/>
              </a:rPr>
              <a:t> con la prioridad HSRP más alta será el </a:t>
            </a:r>
            <a:r>
              <a:rPr lang="es-MX" sz="2000" kern="100" dirty="0" err="1">
                <a:latin typeface="Calibri" panose="020F0502020204030204" pitchFamily="34" charset="0"/>
                <a:ea typeface="Calibri" panose="020F0502020204030204" pitchFamily="34" charset="0"/>
                <a:cs typeface="Times New Roman" panose="02020603050405020304" pitchFamily="18" charset="0"/>
              </a:rPr>
              <a:t>router</a:t>
            </a:r>
            <a:r>
              <a:rPr lang="es-MX" sz="2000" kern="100" dirty="0">
                <a:latin typeface="Calibri" panose="020F0502020204030204" pitchFamily="34" charset="0"/>
                <a:ea typeface="Calibri" panose="020F0502020204030204" pitchFamily="34" charset="0"/>
                <a:cs typeface="Times New Roman" panose="02020603050405020304" pitchFamily="18" charset="0"/>
              </a:rPr>
              <a:t> activo. De manera predeterminada, la prioridad HSRP es 100. </a:t>
            </a:r>
          </a:p>
          <a:p>
            <a:pPr>
              <a:lnSpc>
                <a:spcPct val="107000"/>
              </a:lnSpc>
              <a:spcAft>
                <a:spcPts val="800"/>
              </a:spcAft>
            </a:pPr>
            <a:r>
              <a:rPr lang="es-MX" sz="2000" kern="100" dirty="0">
                <a:latin typeface="Calibri" panose="020F0502020204030204" pitchFamily="34" charset="0"/>
                <a:ea typeface="Calibri" panose="020F0502020204030204" pitchFamily="34" charset="0"/>
                <a:cs typeface="Times New Roman" panose="02020603050405020304" pitchFamily="18" charset="0"/>
              </a:rPr>
              <a:t>Si las prioridades son iguales, el </a:t>
            </a:r>
            <a:r>
              <a:rPr lang="es-MX" sz="2000" kern="100" dirty="0" err="1">
                <a:latin typeface="Calibri" panose="020F0502020204030204" pitchFamily="34" charset="0"/>
                <a:ea typeface="Calibri" panose="020F0502020204030204" pitchFamily="34" charset="0"/>
                <a:cs typeface="Times New Roman" panose="02020603050405020304" pitchFamily="18" charset="0"/>
              </a:rPr>
              <a:t>router</a:t>
            </a:r>
            <a:r>
              <a:rPr lang="es-MX" sz="2000" kern="100" dirty="0">
                <a:latin typeface="Calibri" panose="020F0502020204030204" pitchFamily="34" charset="0"/>
                <a:ea typeface="Calibri" panose="020F0502020204030204" pitchFamily="34" charset="0"/>
                <a:cs typeface="Times New Roman" panose="02020603050405020304" pitchFamily="18" charset="0"/>
              </a:rPr>
              <a:t> con la dirección IPv4 numéricamente más alta es elegido como </a:t>
            </a:r>
            <a:r>
              <a:rPr lang="es-MX" sz="2000" kern="100" dirty="0" err="1">
                <a:latin typeface="Calibri" panose="020F0502020204030204" pitchFamily="34" charset="0"/>
                <a:ea typeface="Calibri" panose="020F0502020204030204" pitchFamily="34" charset="0"/>
                <a:cs typeface="Times New Roman" panose="02020603050405020304" pitchFamily="18" charset="0"/>
              </a:rPr>
              <a:t>router</a:t>
            </a:r>
            <a:r>
              <a:rPr lang="es-MX" sz="2000" kern="100" dirty="0">
                <a:latin typeface="Calibri" panose="020F0502020204030204" pitchFamily="34" charset="0"/>
                <a:ea typeface="Calibri" panose="020F0502020204030204" pitchFamily="34" charset="0"/>
                <a:cs typeface="Times New Roman" panose="02020603050405020304" pitchFamily="18" charset="0"/>
              </a:rPr>
              <a:t> activo.</a:t>
            </a:r>
          </a:p>
          <a:p>
            <a:endParaRPr lang="es-MX" b="1" dirty="0"/>
          </a:p>
        </p:txBody>
      </p:sp>
    </p:spTree>
    <p:extLst>
      <p:ext uri="{BB962C8B-B14F-4D97-AF65-F5344CB8AC3E}">
        <p14:creationId xmlns:p14="http://schemas.microsoft.com/office/powerpoint/2010/main" val="241748623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Template>
  <TotalTime>67916</TotalTime>
  <Words>3006</Words>
  <Application>Microsoft Office PowerPoint</Application>
  <PresentationFormat>Panorámica</PresentationFormat>
  <Paragraphs>164</Paragraphs>
  <Slides>23</Slides>
  <Notes>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23</vt:i4>
      </vt:variant>
    </vt:vector>
  </HeadingPairs>
  <TitlesOfParts>
    <vt:vector size="30" baseType="lpstr">
      <vt:lpstr>Aptos</vt:lpstr>
      <vt:lpstr>Calibri</vt:lpstr>
      <vt:lpstr>Century Gothic</vt:lpstr>
      <vt:lpstr>Consolas</vt:lpstr>
      <vt:lpstr>Wingdings</vt:lpstr>
      <vt:lpstr>Wingdings 3</vt:lpstr>
      <vt:lpstr>Ion</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Balderas Rosas Gustavo Manuel</dc:creator>
  <cp:lastModifiedBy>Balderas Rosas Gustavo Manuel</cp:lastModifiedBy>
  <cp:revision>303</cp:revision>
  <dcterms:created xsi:type="dcterms:W3CDTF">2024-01-19T00:10:03Z</dcterms:created>
  <dcterms:modified xsi:type="dcterms:W3CDTF">2025-09-30T00:11:45Z</dcterms:modified>
</cp:coreProperties>
</file>