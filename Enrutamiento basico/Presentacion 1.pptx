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notesMasterIdLst>
    <p:notesMasterId r:id="rId112"/>
  </p:notesMasterIdLst>
  <p:sldIdLst>
    <p:sldId id="256" r:id="rId2"/>
    <p:sldId id="373" r:id="rId3"/>
    <p:sldId id="375" r:id="rId4"/>
    <p:sldId id="374" r:id="rId5"/>
    <p:sldId id="387" r:id="rId6"/>
    <p:sldId id="377" r:id="rId7"/>
    <p:sldId id="495" r:id="rId8"/>
    <p:sldId id="378" r:id="rId9"/>
    <p:sldId id="494" r:id="rId10"/>
    <p:sldId id="380" r:id="rId11"/>
    <p:sldId id="381" r:id="rId12"/>
    <p:sldId id="383" r:id="rId13"/>
    <p:sldId id="382" r:id="rId14"/>
    <p:sldId id="496" r:id="rId15"/>
    <p:sldId id="384" r:id="rId16"/>
    <p:sldId id="400" r:id="rId17"/>
    <p:sldId id="399" r:id="rId18"/>
    <p:sldId id="401" r:id="rId19"/>
    <p:sldId id="388" r:id="rId20"/>
    <p:sldId id="389" r:id="rId21"/>
    <p:sldId id="390" r:id="rId22"/>
    <p:sldId id="385" r:id="rId23"/>
    <p:sldId id="392" r:id="rId24"/>
    <p:sldId id="409" r:id="rId25"/>
    <p:sldId id="393" r:id="rId26"/>
    <p:sldId id="394" r:id="rId27"/>
    <p:sldId id="391" r:id="rId28"/>
    <p:sldId id="396" r:id="rId29"/>
    <p:sldId id="413" r:id="rId30"/>
    <p:sldId id="414" r:id="rId31"/>
    <p:sldId id="397" r:id="rId32"/>
    <p:sldId id="416" r:id="rId33"/>
    <p:sldId id="417" r:id="rId34"/>
    <p:sldId id="504" r:id="rId35"/>
    <p:sldId id="395" r:id="rId36"/>
    <p:sldId id="418" r:id="rId37"/>
    <p:sldId id="421" r:id="rId38"/>
    <p:sldId id="423" r:id="rId39"/>
    <p:sldId id="424" r:id="rId40"/>
    <p:sldId id="422" r:id="rId41"/>
    <p:sldId id="425" r:id="rId42"/>
    <p:sldId id="426" r:id="rId43"/>
    <p:sldId id="419" r:id="rId44"/>
    <p:sldId id="431" r:id="rId45"/>
    <p:sldId id="432" r:id="rId46"/>
    <p:sldId id="433" r:id="rId47"/>
    <p:sldId id="427" r:id="rId48"/>
    <p:sldId id="429" r:id="rId49"/>
    <p:sldId id="454" r:id="rId50"/>
    <p:sldId id="455" r:id="rId51"/>
    <p:sldId id="456" r:id="rId52"/>
    <p:sldId id="437" r:id="rId53"/>
    <p:sldId id="438" r:id="rId54"/>
    <p:sldId id="439" r:id="rId55"/>
    <p:sldId id="440" r:id="rId56"/>
    <p:sldId id="441" r:id="rId57"/>
    <p:sldId id="442" r:id="rId58"/>
    <p:sldId id="444" r:id="rId59"/>
    <p:sldId id="445" r:id="rId60"/>
    <p:sldId id="443" r:id="rId61"/>
    <p:sldId id="446" r:id="rId62"/>
    <p:sldId id="447" r:id="rId63"/>
    <p:sldId id="448" r:id="rId64"/>
    <p:sldId id="449" r:id="rId65"/>
    <p:sldId id="450" r:id="rId66"/>
    <p:sldId id="451" r:id="rId67"/>
    <p:sldId id="436" r:id="rId68"/>
    <p:sldId id="452" r:id="rId69"/>
    <p:sldId id="453" r:id="rId70"/>
    <p:sldId id="420" r:id="rId71"/>
    <p:sldId id="402" r:id="rId72"/>
    <p:sldId id="403" r:id="rId73"/>
    <p:sldId id="405" r:id="rId74"/>
    <p:sldId id="404" r:id="rId75"/>
    <p:sldId id="407" r:id="rId76"/>
    <p:sldId id="408" r:id="rId77"/>
    <p:sldId id="410" r:id="rId78"/>
    <p:sldId id="411" r:id="rId79"/>
    <p:sldId id="412" r:id="rId80"/>
    <p:sldId id="435" r:id="rId81"/>
    <p:sldId id="497" r:id="rId82"/>
    <p:sldId id="498" r:id="rId83"/>
    <p:sldId id="471" r:id="rId84"/>
    <p:sldId id="472" r:id="rId85"/>
    <p:sldId id="474" r:id="rId86"/>
    <p:sldId id="477" r:id="rId87"/>
    <p:sldId id="476" r:id="rId88"/>
    <p:sldId id="500" r:id="rId89"/>
    <p:sldId id="486" r:id="rId90"/>
    <p:sldId id="487" r:id="rId91"/>
    <p:sldId id="488" r:id="rId92"/>
    <p:sldId id="489" r:id="rId93"/>
    <p:sldId id="502" r:id="rId94"/>
    <p:sldId id="490" r:id="rId95"/>
    <p:sldId id="485" r:id="rId96"/>
    <p:sldId id="482" r:id="rId97"/>
    <p:sldId id="473" r:id="rId98"/>
    <p:sldId id="491" r:id="rId99"/>
    <p:sldId id="501" r:id="rId100"/>
    <p:sldId id="460" r:id="rId101"/>
    <p:sldId id="461" r:id="rId102"/>
    <p:sldId id="483" r:id="rId103"/>
    <p:sldId id="462" r:id="rId104"/>
    <p:sldId id="464" r:id="rId105"/>
    <p:sldId id="465" r:id="rId106"/>
    <p:sldId id="466" r:id="rId107"/>
    <p:sldId id="467" r:id="rId108"/>
    <p:sldId id="468" r:id="rId109"/>
    <p:sldId id="469" r:id="rId110"/>
    <p:sldId id="503" r:id="rId1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787" autoAdjust="0"/>
    <p:restoredTop sz="94660"/>
  </p:normalViewPr>
  <p:slideViewPr>
    <p:cSldViewPr snapToGrid="0">
      <p:cViewPr varScale="1">
        <p:scale>
          <a:sx n="92" d="100"/>
          <a:sy n="92" d="100"/>
        </p:scale>
        <p:origin x="408" y="8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C3B5A2-7C73-4D65-8DB7-FCCD5019C884}" type="datetimeFigureOut">
              <a:rPr lang="es-MX" smtClean="0"/>
              <a:t>18/08/2026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79E89-DC94-4E81-8076-33A20B974C7E}" type="slidenum">
              <a:rPr lang="es-MX" smtClean="0"/>
              <a:t>‹Nº›</a:t>
            </a:fld>
            <a:endParaRPr lang="es-MX"/>
          </a:p>
        </p:txBody>
      </p:sp>
    </p:spTree>
    <p:extLst>
      <p:ext uri="{BB962C8B-B14F-4D97-AF65-F5344CB8AC3E}">
        <p14:creationId xmlns:p14="http://schemas.microsoft.com/office/powerpoint/2010/main" val="2921278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314207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768303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097864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A07777B-9398-46D0-B114-B7FA72459A7A}" type="datetimeFigureOut">
              <a:rPr lang="es-MX" smtClean="0"/>
              <a:t>18/08/2026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220342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A07777B-9398-46D0-B114-B7FA72459A7A}" type="datetimeFigureOut">
              <a:rPr lang="es-MX" smtClean="0"/>
              <a:t>18/08/2026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048491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3"/>
          <p:cNvSpPr>
            <a:spLocks noGrp="1"/>
          </p:cNvSpPr>
          <p:nvPr>
            <p:ph type="ftr" sz="quarter" idx="11"/>
          </p:nvPr>
        </p:nvSpPr>
        <p:spPr/>
        <p:txBody>
          <a:bodyPr/>
          <a:lstStyle/>
          <a:p>
            <a:endParaRPr lang="es-MX"/>
          </a:p>
        </p:txBody>
      </p:sp>
      <p:sp>
        <p:nvSpPr>
          <p:cNvPr id="6" name="Slide Number Placeholder 4"/>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917044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2"/>
          <p:cNvSpPr>
            <a:spLocks noGrp="1"/>
          </p:cNvSpPr>
          <p:nvPr>
            <p:ph type="ftr" sz="quarter" idx="11"/>
          </p:nvPr>
        </p:nvSpPr>
        <p:spPr/>
        <p:txBody>
          <a:bodyPr/>
          <a:lstStyle/>
          <a:p>
            <a:endParaRPr lang="es-MX"/>
          </a:p>
        </p:txBody>
      </p:sp>
      <p:sp>
        <p:nvSpPr>
          <p:cNvPr id="6" name="Slide Number Placeholder 3"/>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398152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7" name="Date Placeholder 4"/>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5"/>
          <p:cNvSpPr>
            <a:spLocks noGrp="1"/>
          </p:cNvSpPr>
          <p:nvPr>
            <p:ph type="ftr" sz="quarter" idx="11"/>
          </p:nvPr>
        </p:nvSpPr>
        <p:spPr/>
        <p:txBody>
          <a:bodyPr/>
          <a:lstStyle/>
          <a:p>
            <a:endParaRPr lang="es-MX"/>
          </a:p>
        </p:txBody>
      </p:sp>
      <p:sp>
        <p:nvSpPr>
          <p:cNvPr id="6"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60519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EA07777B-9398-46D0-B114-B7FA72459A7A}" type="datetimeFigureOut">
              <a:rPr lang="es-MX" smtClean="0"/>
              <a:t>18/08/2026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93346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EA07777B-9398-46D0-B114-B7FA72459A7A}" type="datetimeFigureOut">
              <a:rPr lang="es-MX" smtClean="0"/>
              <a:t>18/08/2026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391831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595253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Editar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94479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3894831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A07777B-9398-46D0-B114-B7FA72459A7A}" type="datetimeFigureOut">
              <a:rPr lang="es-MX" smtClean="0"/>
              <a:t>18/08/2026</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797116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A07777B-9398-46D0-B114-B7FA72459A7A}" type="datetimeFigureOut">
              <a:rPr lang="es-MX" smtClean="0"/>
              <a:t>18/08/2026</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5465878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8581575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A07777B-9398-46D0-B114-B7FA72459A7A}" type="datetimeFigureOut">
              <a:rPr lang="es-MX" smtClean="0"/>
              <a:t>18/08/2026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679674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A07777B-9398-46D0-B114-B7FA72459A7A}" type="datetimeFigureOut">
              <a:rPr lang="es-MX" smtClean="0"/>
              <a:t>18/08/2026</a:t>
            </a:fld>
            <a:endParaRPr lang="es-MX"/>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MX"/>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38EE5C4-92EA-455C-A324-099BDFE97767}" type="slidenum">
              <a:rPr lang="es-MX" smtClean="0"/>
              <a:t>‹Nº›</a:t>
            </a:fld>
            <a:endParaRPr lang="es-MX"/>
          </a:p>
        </p:txBody>
      </p:sp>
    </p:spTree>
    <p:extLst>
      <p:ext uri="{BB962C8B-B14F-4D97-AF65-F5344CB8AC3E}">
        <p14:creationId xmlns:p14="http://schemas.microsoft.com/office/powerpoint/2010/main" val="1094908106"/>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ccnadesdecero.es/wp-content/uploads/2017/11/Cisco-IOS-Sistema-Operativo.png"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s://www.chiark.greenend.org.uk/~sgtatham/putty/latest.html" TargetMode="External"/><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hyperlink" Target="https://www.hilgraeve.com/hyperterminal-trial/" TargetMode="External"/><Relationship Id="rId5" Type="http://schemas.openxmlformats.org/officeDocument/2006/relationships/hyperlink" Target="https://www.vandyke.com/download/securecrt/download.html" TargetMode="External"/><Relationship Id="rId4" Type="http://schemas.openxmlformats.org/officeDocument/2006/relationships/hyperlink" Target="https://osdn.net/projects/ttssh2/release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ccnadesdecero.es/wp-content/uploads/2017/11/Estructura-jer%C3%A1rquica-modos-config-IOS.png"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ccnadesdecero.es/wp-content/uploads/2018/01/Familia-versi%C3%B3n-12.4-del-OS-Cisco.png" TargetMode="Externa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ccnadesdecero.es/wp-content/uploads/2018/01/Numeraci%C3%B3n-de-trenes-T-y-de-l%C3%ADnea-principal-del-IOS-de-Cisco-12.4.png"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ccnadesdecero.es/wp-content/uploads/2018/01/Paquetes-de-imagen-de-sistema-de-Cisco.png" TargetMode="Externa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ccnadesdecero.es/wp-content/uploads/2018/01/Familia-versi%C3%B3n-15-del-software-IOS-de-Cisco.png" TargetMode="Externa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ccnadesdecero.es/wp-content/uploads/2018/01/Numeraci%C3%B3n-de-trenes-IOS-de-Cisco-15.png" TargetMode="Externa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ccnadesdecero.es/wp-content/uploads/2018/01/Modelo-de-paquetes-IOS-para-routers-ISR-G2.png" TargetMode="Externa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ccnadesdecero.es/wp-content/uploads/2018/01/Transici%C3%B3n-del-IOS-12-al-15.png" TargetMode="Externa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ccnadesdecero.es/wp-content/uploads/2018/01/Visualizaci%C3%B3n-de-la-imagen-del-IOS-de-Cisco.png" TargetMode="Externa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ccnadesdecero.es/wp-content/uploads/2018/01/Ejemplo-de-nombre-de-imagen-IOS-15.png" TargetMode="Externa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127226" y="1839877"/>
            <a:ext cx="9621078" cy="3293209"/>
          </a:xfrm>
          <a:prstGeom prst="rect">
            <a:avLst/>
          </a:prstGeom>
          <a:noFill/>
        </p:spPr>
        <p:txBody>
          <a:bodyPr wrap="square" rtlCol="0">
            <a:spAutoFit/>
          </a:bodyPr>
          <a:lstStyle/>
          <a:p>
            <a:pPr algn="ctr"/>
            <a:r>
              <a:rPr lang="es-MX" sz="3200" b="1" dirty="0"/>
              <a:t>ENRUTAMIENTO BASICO</a:t>
            </a:r>
          </a:p>
          <a:p>
            <a:pPr algn="ctr"/>
            <a:endParaRPr lang="es-MX" sz="3200" b="1" dirty="0"/>
          </a:p>
          <a:p>
            <a:pPr algn="ctr"/>
            <a:r>
              <a:rPr lang="es-MX" sz="3200" b="1" dirty="0"/>
              <a:t>INGENIERIA DE CIBERSEGURIDAD E INFRAESTRUCTURA DE COMPUTO</a:t>
            </a:r>
            <a:endParaRPr lang="es-MX" sz="3200" dirty="0"/>
          </a:p>
          <a:p>
            <a:pPr algn="ctr"/>
            <a:endParaRPr lang="es-MX" sz="4800" b="1" dirty="0"/>
          </a:p>
          <a:p>
            <a:pPr algn="ctr"/>
            <a:r>
              <a:rPr lang="es-MX" sz="3200" b="1" dirty="0"/>
              <a:t>MSI. Gustavo Manuel Balderas Rosas</a:t>
            </a:r>
          </a:p>
        </p:txBody>
      </p:sp>
    </p:spTree>
    <p:extLst>
      <p:ext uri="{BB962C8B-B14F-4D97-AF65-F5344CB8AC3E}">
        <p14:creationId xmlns:p14="http://schemas.microsoft.com/office/powerpoint/2010/main" val="309291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5262979"/>
          </a:xfrm>
          <a:prstGeom prst="rect">
            <a:avLst/>
          </a:prstGeom>
        </p:spPr>
        <p:txBody>
          <a:bodyPr wrap="square">
            <a:spAutoFit/>
          </a:bodyPr>
          <a:lstStyle/>
          <a:p>
            <a:r>
              <a:rPr lang="es-MX" dirty="0"/>
              <a:t> </a:t>
            </a:r>
            <a:r>
              <a:rPr lang="es-MX" sz="2400" b="1" dirty="0"/>
              <a:t>Enrutamiento: Conceptos Fundamentales.</a:t>
            </a:r>
          </a:p>
          <a:p>
            <a:endParaRPr lang="es-MX" sz="2400" b="1" dirty="0"/>
          </a:p>
          <a:p>
            <a:r>
              <a:rPr lang="es-MX" b="1" dirty="0"/>
              <a:t>Internet</a:t>
            </a:r>
            <a:r>
              <a:rPr lang="es-MX" dirty="0"/>
              <a:t>, es una inmensa colección de redes más pequeñas interconectadas entre si. </a:t>
            </a:r>
          </a:p>
          <a:p>
            <a:endParaRPr lang="es-MX" dirty="0"/>
          </a:p>
          <a:p>
            <a:r>
              <a:rPr lang="es-MX" dirty="0"/>
              <a:t>La información, antes de que se envíe a través de estas redes, es dividida en cientos de miles de unidades llamadas, más comúnmente, "</a:t>
            </a:r>
            <a:r>
              <a:rPr lang="es-MX" b="1" dirty="0"/>
              <a:t>paquetes</a:t>
            </a:r>
            <a:r>
              <a:rPr lang="es-MX" dirty="0"/>
              <a:t>".</a:t>
            </a:r>
          </a:p>
          <a:p>
            <a:endParaRPr lang="es-MX" dirty="0"/>
          </a:p>
          <a:p>
            <a:r>
              <a:rPr lang="es-MX" dirty="0"/>
              <a:t>¿Cómo es que un host dentro de una red sabe cómo encontrar a otro host ubicado en otra red diferente?, quizá al otro lado del mundo</a:t>
            </a:r>
          </a:p>
          <a:p>
            <a:endParaRPr lang="es-MX" dirty="0"/>
          </a:p>
          <a:p>
            <a:pPr marL="342900" indent="-342900">
              <a:buFont typeface="+mj-lt"/>
              <a:buAutoNum type="arabicPeriod"/>
            </a:pPr>
            <a:r>
              <a:rPr lang="es-MX" dirty="0"/>
              <a:t>Cada paquete debe contener la información necesaria para que el Enrutador, pueda saber, de donde viene y a donde va, es decir una dirección de origen y una dirección destino, de manera similar a los servicios de correo postal o paquetería.</a:t>
            </a:r>
          </a:p>
          <a:p>
            <a:pPr marL="342900" indent="-342900">
              <a:buFont typeface="+mj-lt"/>
              <a:buAutoNum type="arabicPeriod"/>
            </a:pPr>
            <a:endParaRPr lang="es-MX" dirty="0"/>
          </a:p>
          <a:p>
            <a:pPr marL="342900" indent="-342900">
              <a:buFont typeface="+mj-lt"/>
              <a:buAutoNum type="arabicPeriod"/>
            </a:pPr>
            <a:r>
              <a:rPr lang="es-MX" dirty="0"/>
              <a:t>El trabajo de los </a:t>
            </a:r>
            <a:r>
              <a:rPr lang="es-MX" b="1" dirty="0"/>
              <a:t>Enrutadores </a:t>
            </a:r>
            <a:r>
              <a:rPr lang="es-MX" dirty="0"/>
              <a:t>(</a:t>
            </a:r>
            <a:r>
              <a:rPr lang="es-MX" dirty="0" err="1"/>
              <a:t>Routers</a:t>
            </a:r>
            <a:r>
              <a:rPr lang="es-MX" dirty="0"/>
              <a:t>), es aprender las </a:t>
            </a:r>
            <a:r>
              <a:rPr lang="es-MX" b="1" dirty="0"/>
              <a:t>rutas </a:t>
            </a:r>
            <a:r>
              <a:rPr lang="es-MX" dirty="0"/>
              <a:t>o caminos por las cuales se pueden alcanzar otras redes, y así poder hacer llegar los </a:t>
            </a:r>
            <a:r>
              <a:rPr lang="es-MX" b="1" dirty="0"/>
              <a:t>paquetes </a:t>
            </a:r>
            <a:r>
              <a:rPr lang="es-MX" dirty="0"/>
              <a:t>de datos a su destino, este proceso se conoce como "</a:t>
            </a:r>
            <a:r>
              <a:rPr lang="es-MX" b="1" dirty="0"/>
              <a:t>Enrutamiento</a:t>
            </a:r>
            <a:r>
              <a:rPr lang="es-MX" dirty="0"/>
              <a:t>“, y utiliza un resumen de información llamado </a:t>
            </a:r>
            <a:r>
              <a:rPr lang="es-MX" b="1" dirty="0"/>
              <a:t>tabla de rutas.</a:t>
            </a:r>
          </a:p>
          <a:p>
            <a:pPr marL="342900" indent="-342900">
              <a:buFont typeface="+mj-lt"/>
              <a:buAutoNum type="arabicPeriod"/>
            </a:pPr>
            <a:endParaRPr lang="es-MX" b="1" dirty="0"/>
          </a:p>
        </p:txBody>
      </p:sp>
    </p:spTree>
    <p:extLst>
      <p:ext uri="{BB962C8B-B14F-4D97-AF65-F5344CB8AC3E}">
        <p14:creationId xmlns:p14="http://schemas.microsoft.com/office/powerpoint/2010/main" val="3918306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44629" y="717847"/>
            <a:ext cx="11226020" cy="5355312"/>
          </a:xfrm>
          <a:prstGeom prst="rect">
            <a:avLst/>
          </a:prstGeom>
        </p:spPr>
        <p:txBody>
          <a:bodyPr wrap="square">
            <a:spAutoFit/>
          </a:bodyPr>
          <a:lstStyle/>
          <a:p>
            <a:endParaRPr lang="es-MX" dirty="0"/>
          </a:p>
          <a:p>
            <a:endParaRPr lang="es-MX" dirty="0"/>
          </a:p>
          <a:p>
            <a:r>
              <a:rPr lang="es-MX" dirty="0"/>
              <a:t>Un enrutador, no necesita conocer todo el camino para llegar al destino, solo determinar cual es el siguiente enrutador que acercará el paquete a su destino y enviárselo, por lo que existen diferentes formas de para que el enrutador tome la decisión de, </a:t>
            </a:r>
            <a:r>
              <a:rPr lang="es-MX" b="1" dirty="0"/>
              <a:t>hacia donde </a:t>
            </a:r>
            <a:r>
              <a:rPr lang="es-MX" dirty="0"/>
              <a:t>enviar un paquete.</a:t>
            </a:r>
          </a:p>
          <a:p>
            <a:endParaRPr lang="es-MX" b="1" dirty="0"/>
          </a:p>
          <a:p>
            <a:r>
              <a:rPr lang="es-MX" b="1" dirty="0"/>
              <a:t>Enrutamiento estático: </a:t>
            </a:r>
            <a:r>
              <a:rPr lang="es-MX" dirty="0"/>
              <a:t>Consiste en indicar exactamente hacia donde enviar los paquetes, </a:t>
            </a:r>
          </a:p>
          <a:p>
            <a:r>
              <a:rPr lang="es-MX" dirty="0"/>
              <a:t>configurando el enrutador con rutas estáticas o fijas.</a:t>
            </a:r>
          </a:p>
          <a:p>
            <a:endParaRPr lang="es-MX" dirty="0"/>
          </a:p>
          <a:p>
            <a:r>
              <a:rPr lang="es-MX" dirty="0"/>
              <a:t>E</a:t>
            </a:r>
            <a:r>
              <a:rPr lang="es-MX" b="1" dirty="0"/>
              <a:t>nrutamiento dinámico: </a:t>
            </a:r>
            <a:r>
              <a:rPr lang="es-MX" dirty="0"/>
              <a:t>En este caso el enrutador se encarga de determinar la ruta mas adecuada o eficiente para hacer llegar el paquete a su destino, a través de reglas o métodos que le ayuden a tomar la decisión, llamados </a:t>
            </a:r>
            <a:r>
              <a:rPr lang="es-MX" b="1" dirty="0"/>
              <a:t>Protocolos de Enrutamiento </a:t>
            </a:r>
          </a:p>
          <a:p>
            <a:endParaRPr lang="es-MX" b="1" dirty="0"/>
          </a:p>
          <a:p>
            <a:r>
              <a:rPr lang="es-MX" dirty="0"/>
              <a:t>En cualquiera de los dos casos; </a:t>
            </a:r>
            <a:r>
              <a:rPr lang="es-MX" b="1" dirty="0"/>
              <a:t>enrutamiento estático </a:t>
            </a:r>
            <a:r>
              <a:rPr lang="es-MX" dirty="0"/>
              <a:t>o </a:t>
            </a:r>
            <a:r>
              <a:rPr lang="es-MX" b="1" dirty="0"/>
              <a:t>dinámico</a:t>
            </a:r>
            <a:r>
              <a:rPr lang="es-MX" dirty="0"/>
              <a:t>, el objetivo es el mismo; Indicarle al enrutador cómo aprender rutas por las cuales enviar paquetes, para que eventualmente lleguen a su red de destino final.</a:t>
            </a:r>
          </a:p>
          <a:p>
            <a:endParaRPr lang="es-MX" dirty="0"/>
          </a:p>
          <a:p>
            <a:r>
              <a:rPr lang="es-MX" dirty="0"/>
              <a:t>Hay varios protocolos de enrutamiento dinámico; </a:t>
            </a:r>
            <a:r>
              <a:rPr lang="es-MX" b="1" dirty="0"/>
              <a:t>RIP</a:t>
            </a:r>
            <a:r>
              <a:rPr lang="es-MX" dirty="0"/>
              <a:t>, </a:t>
            </a:r>
            <a:r>
              <a:rPr lang="es-MX" b="1" dirty="0"/>
              <a:t>IGRP</a:t>
            </a:r>
            <a:r>
              <a:rPr lang="es-MX" dirty="0"/>
              <a:t>, </a:t>
            </a:r>
            <a:r>
              <a:rPr lang="es-MX" b="1" dirty="0"/>
              <a:t>EIGRP</a:t>
            </a:r>
            <a:r>
              <a:rPr lang="es-MX" dirty="0"/>
              <a:t>, </a:t>
            </a:r>
            <a:r>
              <a:rPr lang="es-MX" b="1" dirty="0"/>
              <a:t>OSPF</a:t>
            </a:r>
            <a:r>
              <a:rPr lang="es-MX" dirty="0"/>
              <a:t>, </a:t>
            </a:r>
            <a:r>
              <a:rPr lang="es-MX" b="1" dirty="0"/>
              <a:t>IS-IS </a:t>
            </a:r>
            <a:r>
              <a:rPr lang="es-MX" dirty="0"/>
              <a:t>y </a:t>
            </a:r>
            <a:r>
              <a:rPr lang="es-MX" b="1" dirty="0"/>
              <a:t>BGP</a:t>
            </a:r>
            <a:r>
              <a:rPr lang="es-MX" dirty="0"/>
              <a:t>, entre otros.</a:t>
            </a:r>
          </a:p>
          <a:p>
            <a:pPr lvl="1"/>
            <a:endParaRPr lang="es-MX" dirty="0"/>
          </a:p>
        </p:txBody>
      </p:sp>
    </p:spTree>
    <p:extLst>
      <p:ext uri="{BB962C8B-B14F-4D97-AF65-F5344CB8AC3E}">
        <p14:creationId xmlns:p14="http://schemas.microsoft.com/office/powerpoint/2010/main" val="3575509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21904"/>
            <a:ext cx="11226020" cy="4247317"/>
          </a:xfrm>
          <a:prstGeom prst="rect">
            <a:avLst/>
          </a:prstGeom>
        </p:spPr>
        <p:txBody>
          <a:bodyPr wrap="square">
            <a:spAutoFit/>
          </a:bodyPr>
          <a:lstStyle/>
          <a:p>
            <a:r>
              <a:rPr lang="es-MX" dirty="0"/>
              <a:t>En esta primera parte, </a:t>
            </a:r>
            <a:r>
              <a:rPr lang="es-MX" b="1" dirty="0"/>
              <a:t>cubriremos los siguientes conceptos</a:t>
            </a:r>
            <a:r>
              <a:rPr lang="es-MX" dirty="0"/>
              <a:t>:</a:t>
            </a:r>
          </a:p>
          <a:p>
            <a:endParaRPr lang="es-MX" dirty="0"/>
          </a:p>
          <a:p>
            <a:pPr marL="342900" indent="-342900">
              <a:buFont typeface="Wingdings" panose="05000000000000000000" pitchFamily="2" charset="2"/>
              <a:buChar char="q"/>
            </a:pPr>
            <a:r>
              <a:rPr lang="es-MX" dirty="0"/>
              <a:t>Direccionamiento IP</a:t>
            </a:r>
          </a:p>
          <a:p>
            <a:pPr marL="342900" indent="-342900">
              <a:buFont typeface="Wingdings" panose="05000000000000000000" pitchFamily="2" charset="2"/>
              <a:buChar char="q"/>
            </a:pPr>
            <a:r>
              <a:rPr lang="es-MX" dirty="0"/>
              <a:t>¿Qué es el enrutamiento?</a:t>
            </a:r>
          </a:p>
          <a:p>
            <a:pPr marL="342900" indent="-342900">
              <a:buFont typeface="Wingdings" panose="05000000000000000000" pitchFamily="2" charset="2"/>
              <a:buChar char="q"/>
            </a:pPr>
            <a:r>
              <a:rPr lang="es-MX" dirty="0"/>
              <a:t>Enrutamiento dinámico y estático.</a:t>
            </a:r>
          </a:p>
          <a:p>
            <a:pPr marL="342900" indent="-342900">
              <a:buFont typeface="Wingdings" panose="05000000000000000000" pitchFamily="2" charset="2"/>
              <a:buChar char="q"/>
            </a:pPr>
            <a:r>
              <a:rPr lang="es-MX" dirty="0"/>
              <a:t>Qué es un Protocolo.</a:t>
            </a:r>
          </a:p>
          <a:p>
            <a:pPr marL="342900" indent="-342900">
              <a:buFont typeface="Wingdings" panose="05000000000000000000" pitchFamily="2" charset="2"/>
              <a:buChar char="q"/>
            </a:pPr>
            <a:r>
              <a:rPr lang="es-MX" dirty="0"/>
              <a:t>Protocolos "</a:t>
            </a:r>
            <a:r>
              <a:rPr lang="es-MX" dirty="0" err="1"/>
              <a:t>enrutados</a:t>
            </a:r>
            <a:r>
              <a:rPr lang="es-MX" dirty="0"/>
              <a:t>" vs "de enrutamiento".</a:t>
            </a:r>
          </a:p>
          <a:p>
            <a:pPr marL="342900" indent="-342900">
              <a:buFont typeface="Wingdings" panose="05000000000000000000" pitchFamily="2" charset="2"/>
              <a:buChar char="q"/>
            </a:pPr>
            <a:r>
              <a:rPr lang="es-MX" dirty="0"/>
              <a:t>Qué es un "Sistema Autónomo".</a:t>
            </a:r>
          </a:p>
          <a:p>
            <a:pPr marL="342900" indent="-342900">
              <a:buFont typeface="Wingdings" panose="05000000000000000000" pitchFamily="2" charset="2"/>
              <a:buChar char="q"/>
            </a:pPr>
            <a:r>
              <a:rPr lang="es-MX" dirty="0"/>
              <a:t>Redes "directamente conectadas" vs "redes remotas".</a:t>
            </a:r>
          </a:p>
          <a:p>
            <a:pPr marL="342900" indent="-342900">
              <a:buFont typeface="Wingdings" panose="05000000000000000000" pitchFamily="2" charset="2"/>
              <a:buChar char="q"/>
            </a:pPr>
            <a:r>
              <a:rPr lang="es-MX" dirty="0"/>
              <a:t>¿Qué es un "Salto" (Hop)?</a:t>
            </a:r>
          </a:p>
          <a:p>
            <a:pPr marL="342900" indent="-342900">
              <a:buFont typeface="Wingdings" panose="05000000000000000000" pitchFamily="2" charset="2"/>
              <a:buChar char="q"/>
            </a:pPr>
            <a:r>
              <a:rPr lang="es-MX" dirty="0"/>
              <a:t>Métricas y Distancia Administrativa.</a:t>
            </a:r>
          </a:p>
          <a:p>
            <a:pPr marL="342900" indent="-342900">
              <a:buFont typeface="Wingdings" panose="05000000000000000000" pitchFamily="2" charset="2"/>
              <a:buChar char="q"/>
            </a:pPr>
            <a:r>
              <a:rPr lang="es-MX" dirty="0"/>
              <a:t>Explicación básica de un proceso de enrutamiento dinámico.</a:t>
            </a:r>
          </a:p>
          <a:p>
            <a:endParaRPr lang="es-MX" dirty="0"/>
          </a:p>
          <a:p>
            <a:endParaRPr lang="es-MX" dirty="0"/>
          </a:p>
          <a:p>
            <a:endParaRPr lang="es-MX" dirty="0"/>
          </a:p>
        </p:txBody>
      </p:sp>
    </p:spTree>
    <p:extLst>
      <p:ext uri="{BB962C8B-B14F-4D97-AF65-F5344CB8AC3E}">
        <p14:creationId xmlns:p14="http://schemas.microsoft.com/office/powerpoint/2010/main" val="3031070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21904"/>
            <a:ext cx="9913821" cy="5447645"/>
          </a:xfrm>
          <a:prstGeom prst="rect">
            <a:avLst/>
          </a:prstGeom>
        </p:spPr>
        <p:txBody>
          <a:bodyPr wrap="square">
            <a:spAutoFit/>
          </a:bodyPr>
          <a:lstStyle/>
          <a:p>
            <a:r>
              <a:rPr lang="es-MX" sz="2400" b="1" dirty="0"/>
              <a:t>Direccionamiento IP con clases</a:t>
            </a:r>
          </a:p>
          <a:p>
            <a:endParaRPr lang="es-MX" dirty="0"/>
          </a:p>
          <a:p>
            <a:pPr marL="285750" indent="-285750">
              <a:buFont typeface="Arial" panose="020B0604020202020204" pitchFamily="34" charset="0"/>
              <a:buChar char="•"/>
            </a:pPr>
            <a:r>
              <a:rPr lang="es-MX" dirty="0"/>
              <a:t>En 1981 se modificaron las direcciones IPv4 de 32 bits para permitir tres clases de redes: clase A, clase B, clase C.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Este formato se hizo conocido como direccionamiento IP con clase. </a:t>
            </a:r>
          </a:p>
          <a:p>
            <a:pPr marL="285750" indent="-285750">
              <a:buFont typeface="Arial" panose="020B0604020202020204" pitchFamily="34" charset="0"/>
              <a:buChar char="•"/>
            </a:pPr>
            <a:endParaRPr lang="es-MX" dirty="0"/>
          </a:p>
          <a:p>
            <a:r>
              <a:rPr lang="es-MX" b="1" dirty="0"/>
              <a:t>¿Cómo identificar a cada host dentro de una red de redes?</a:t>
            </a:r>
          </a:p>
          <a:p>
            <a:endParaRPr lang="es-MX" dirty="0"/>
          </a:p>
          <a:p>
            <a:pPr marL="285750" indent="-285750">
              <a:buFont typeface="Arial" panose="020B0604020202020204" pitchFamily="34" charset="0"/>
              <a:buChar char="•"/>
            </a:pPr>
            <a:r>
              <a:rPr lang="es-MX" dirty="0"/>
              <a:t>Con un identificador único.</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Un número binario de 32 bits (4 octetos u 8 cuartetos).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Dividiendo las redes en grandes (A), medianas (B) y pequeñas (C).</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Poco más de 2 millones; se suponía que dos millones de redes, debían ser suficientes para cubrir todo el mundo.</a:t>
            </a:r>
          </a:p>
          <a:p>
            <a:endParaRPr lang="es-MX" dirty="0"/>
          </a:p>
          <a:p>
            <a:endParaRPr lang="es-MX" dirty="0"/>
          </a:p>
        </p:txBody>
      </p:sp>
    </p:spTree>
    <p:extLst>
      <p:ext uri="{BB962C8B-B14F-4D97-AF65-F5344CB8AC3E}">
        <p14:creationId xmlns:p14="http://schemas.microsoft.com/office/powerpoint/2010/main" val="188211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rotWithShape="1">
          <a:blip r:embed="rId2"/>
          <a:srcRect l="33567" t="30625" r="11615" b="11841"/>
          <a:stretch/>
        </p:blipFill>
        <p:spPr>
          <a:xfrm>
            <a:off x="667546" y="117567"/>
            <a:ext cx="11120516" cy="6562165"/>
          </a:xfrm>
          <a:prstGeom prst="rect">
            <a:avLst/>
          </a:prstGeom>
        </p:spPr>
      </p:pic>
    </p:spTree>
    <p:extLst>
      <p:ext uri="{BB962C8B-B14F-4D97-AF65-F5344CB8AC3E}">
        <p14:creationId xmlns:p14="http://schemas.microsoft.com/office/powerpoint/2010/main" val="522537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71C65-0F2C-3B14-0DEF-099679D92BC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88BAB32D-1E33-B767-629E-D7832C1B8965}"/>
              </a:ext>
            </a:extLst>
          </p:cNvPr>
          <p:cNvSpPr/>
          <p:nvPr/>
        </p:nvSpPr>
        <p:spPr>
          <a:xfrm>
            <a:off x="366252" y="182271"/>
            <a:ext cx="11226020" cy="461665"/>
          </a:xfrm>
          <a:prstGeom prst="rect">
            <a:avLst/>
          </a:prstGeom>
        </p:spPr>
        <p:txBody>
          <a:bodyPr wrap="square">
            <a:spAutoFit/>
          </a:bodyPr>
          <a:lstStyle/>
          <a:p>
            <a:r>
              <a:rPr lang="es-MX" dirty="0"/>
              <a:t> </a:t>
            </a:r>
            <a:r>
              <a:rPr lang="es-MX" sz="2400" b="1" dirty="0"/>
              <a:t>Tarea 1. </a:t>
            </a:r>
            <a:r>
              <a:rPr lang="es-MX" sz="2200" b="1" dirty="0"/>
              <a:t>Separe para cada IP, el número de red y el número de host</a:t>
            </a:r>
          </a:p>
        </p:txBody>
      </p:sp>
      <p:graphicFrame>
        <p:nvGraphicFramePr>
          <p:cNvPr id="8" name="Tabla 7">
            <a:extLst>
              <a:ext uri="{FF2B5EF4-FFF2-40B4-BE49-F238E27FC236}">
                <a16:creationId xmlns:a16="http://schemas.microsoft.com/office/drawing/2014/main" id="{9F19CEC6-E315-EB2E-0F4C-39041A3CFC4F}"/>
              </a:ext>
            </a:extLst>
          </p:cNvPr>
          <p:cNvGraphicFramePr>
            <a:graphicFrameLocks noGrp="1"/>
          </p:cNvGraphicFramePr>
          <p:nvPr>
            <p:extLst>
              <p:ext uri="{D42A27DB-BD31-4B8C-83A1-F6EECF244321}">
                <p14:modId xmlns:p14="http://schemas.microsoft.com/office/powerpoint/2010/main" val="3780443847"/>
              </p:ext>
            </p:extLst>
          </p:nvPr>
        </p:nvGraphicFramePr>
        <p:xfrm>
          <a:off x="458177" y="1120019"/>
          <a:ext cx="9907792" cy="5371638"/>
        </p:xfrm>
        <a:graphic>
          <a:graphicData uri="http://schemas.openxmlformats.org/drawingml/2006/table">
            <a:tbl>
              <a:tblPr firstRow="1" bandRow="1">
                <a:tableStyleId>{5C22544A-7EE6-4342-B048-85BDC9FD1C3A}</a:tableStyleId>
              </a:tblPr>
              <a:tblGrid>
                <a:gridCol w="2090625">
                  <a:extLst>
                    <a:ext uri="{9D8B030D-6E8A-4147-A177-3AD203B41FA5}">
                      <a16:colId xmlns:a16="http://schemas.microsoft.com/office/drawing/2014/main" val="324933446"/>
                    </a:ext>
                  </a:extLst>
                </a:gridCol>
                <a:gridCol w="939478">
                  <a:extLst>
                    <a:ext uri="{9D8B030D-6E8A-4147-A177-3AD203B41FA5}">
                      <a16:colId xmlns:a16="http://schemas.microsoft.com/office/drawing/2014/main" val="4088079538"/>
                    </a:ext>
                  </a:extLst>
                </a:gridCol>
                <a:gridCol w="3245029">
                  <a:extLst>
                    <a:ext uri="{9D8B030D-6E8A-4147-A177-3AD203B41FA5}">
                      <a16:colId xmlns:a16="http://schemas.microsoft.com/office/drawing/2014/main" val="1986120181"/>
                    </a:ext>
                  </a:extLst>
                </a:gridCol>
                <a:gridCol w="3632660">
                  <a:extLst>
                    <a:ext uri="{9D8B030D-6E8A-4147-A177-3AD203B41FA5}">
                      <a16:colId xmlns:a16="http://schemas.microsoft.com/office/drawing/2014/main" val="2507589544"/>
                    </a:ext>
                  </a:extLst>
                </a:gridCol>
              </a:tblGrid>
              <a:tr h="616758">
                <a:tc>
                  <a:txBody>
                    <a:bodyPr/>
                    <a:lstStyle/>
                    <a:p>
                      <a:r>
                        <a:rPr lang="es-MX" sz="1800" dirty="0"/>
                        <a:t>IP</a:t>
                      </a:r>
                    </a:p>
                  </a:txBody>
                  <a:tcPr/>
                </a:tc>
                <a:tc>
                  <a:txBody>
                    <a:bodyPr/>
                    <a:lstStyle/>
                    <a:p>
                      <a:r>
                        <a:rPr lang="es-MX" sz="1800" dirty="0"/>
                        <a:t>Clase</a:t>
                      </a:r>
                    </a:p>
                  </a:txBody>
                  <a:tcPr/>
                </a:tc>
                <a:tc>
                  <a:txBody>
                    <a:bodyPr/>
                    <a:lstStyle/>
                    <a:p>
                      <a:r>
                        <a:rPr lang="es-MX" sz="1800" dirty="0"/>
                        <a:t>Dirección de red</a:t>
                      </a:r>
                    </a:p>
                  </a:txBody>
                  <a:tcPr/>
                </a:tc>
                <a:tc>
                  <a:txBody>
                    <a:bodyPr/>
                    <a:lstStyle/>
                    <a:p>
                      <a:r>
                        <a:rPr lang="es-MX" sz="1800" dirty="0"/>
                        <a:t>Dirección de Host</a:t>
                      </a:r>
                    </a:p>
                  </a:txBody>
                  <a:tcPr/>
                </a:tc>
                <a:extLst>
                  <a:ext uri="{0D108BD9-81ED-4DB2-BD59-A6C34878D82A}">
                    <a16:rowId xmlns:a16="http://schemas.microsoft.com/office/drawing/2014/main" val="181258719"/>
                  </a:ext>
                </a:extLst>
              </a:tr>
              <a:tr h="352433">
                <a:tc>
                  <a:txBody>
                    <a:bodyPr/>
                    <a:lstStyle/>
                    <a:p>
                      <a:r>
                        <a:rPr lang="es-MX" sz="1800" b="1" dirty="0"/>
                        <a:t>84.32.1.1</a:t>
                      </a:r>
                    </a:p>
                  </a:txBody>
                  <a:tcPr/>
                </a:tc>
                <a:tc>
                  <a:txBody>
                    <a:bodyPr/>
                    <a:lstStyle/>
                    <a:p>
                      <a:r>
                        <a:rPr lang="es-MX" sz="1800" b="1" dirty="0"/>
                        <a:t>A</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172640197"/>
                  </a:ext>
                </a:extLst>
              </a:tr>
              <a:tr h="352433">
                <a:tc>
                  <a:txBody>
                    <a:bodyPr/>
                    <a:lstStyle/>
                    <a:p>
                      <a:r>
                        <a:rPr lang="es-MX" sz="1800" b="1" dirty="0"/>
                        <a:t>53.200.77.6</a:t>
                      </a:r>
                    </a:p>
                  </a:txBody>
                  <a:tcPr/>
                </a:tc>
                <a:tc>
                  <a:txBody>
                    <a:bodyPr/>
                    <a:lstStyle/>
                    <a:p>
                      <a:r>
                        <a:rPr lang="es-MX" sz="1800" b="1" dirty="0"/>
                        <a:t>A</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3331087732"/>
                  </a:ext>
                </a:extLst>
              </a:tr>
              <a:tr h="352433">
                <a:tc>
                  <a:txBody>
                    <a:bodyPr/>
                    <a:lstStyle/>
                    <a:p>
                      <a:r>
                        <a:rPr lang="es-MX" sz="1800" b="1" dirty="0"/>
                        <a:t>115.25.44.100</a:t>
                      </a:r>
                    </a:p>
                  </a:txBody>
                  <a:tcPr/>
                </a:tc>
                <a:tc>
                  <a:txBody>
                    <a:bodyPr/>
                    <a:lstStyle/>
                    <a:p>
                      <a:r>
                        <a:rPr lang="es-MX" sz="1800" b="1" dirty="0"/>
                        <a:t>A</a:t>
                      </a:r>
                    </a:p>
                  </a:txBody>
                  <a:tcPr/>
                </a:tc>
                <a:tc>
                  <a:txBody>
                    <a:bodyPr/>
                    <a:lstStyle/>
                    <a:p>
                      <a:endParaRPr lang="es-MX" sz="1800" b="1"/>
                    </a:p>
                  </a:txBody>
                  <a:tcPr/>
                </a:tc>
                <a:tc>
                  <a:txBody>
                    <a:bodyPr/>
                    <a:lstStyle/>
                    <a:p>
                      <a:endParaRPr lang="es-MX" sz="1800" b="1"/>
                    </a:p>
                  </a:txBody>
                  <a:tcPr/>
                </a:tc>
                <a:extLst>
                  <a:ext uri="{0D108BD9-81ED-4DB2-BD59-A6C34878D82A}">
                    <a16:rowId xmlns:a16="http://schemas.microsoft.com/office/drawing/2014/main" val="1486164092"/>
                  </a:ext>
                </a:extLst>
              </a:tr>
              <a:tr h="352433">
                <a:tc>
                  <a:txBody>
                    <a:bodyPr/>
                    <a:lstStyle/>
                    <a:p>
                      <a:r>
                        <a:rPr lang="es-MX" sz="1800" b="1" dirty="0"/>
                        <a:t>25.4.12.210</a:t>
                      </a:r>
                    </a:p>
                  </a:txBody>
                  <a:tcPr/>
                </a:tc>
                <a:tc>
                  <a:txBody>
                    <a:bodyPr/>
                    <a:lstStyle/>
                    <a:p>
                      <a:r>
                        <a:rPr lang="es-MX" sz="1800" b="1" dirty="0"/>
                        <a:t>A</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76694759"/>
                  </a:ext>
                </a:extLst>
              </a:tr>
              <a:tr h="352433">
                <a:tc>
                  <a:txBody>
                    <a:bodyPr/>
                    <a:lstStyle/>
                    <a:p>
                      <a:r>
                        <a:rPr lang="es-MX" sz="1800" b="1" dirty="0"/>
                        <a:t>69.0.0.25</a:t>
                      </a:r>
                    </a:p>
                  </a:txBody>
                  <a:tcPr/>
                </a:tc>
                <a:tc>
                  <a:txBody>
                    <a:bodyPr/>
                    <a:lstStyle/>
                    <a:p>
                      <a:r>
                        <a:rPr lang="es-MX" sz="1800" b="1" dirty="0"/>
                        <a:t>A</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78350873"/>
                  </a:ext>
                </a:extLst>
              </a:tr>
              <a:tr h="352433">
                <a:tc>
                  <a:txBody>
                    <a:bodyPr/>
                    <a:lstStyle/>
                    <a:p>
                      <a:r>
                        <a:rPr lang="es-MX" sz="1800" b="1" dirty="0"/>
                        <a:t>149.215.32.1 </a:t>
                      </a:r>
                    </a:p>
                  </a:txBody>
                  <a:tcPr/>
                </a:tc>
                <a:tc>
                  <a:txBody>
                    <a:bodyPr/>
                    <a:lstStyle/>
                    <a:p>
                      <a:r>
                        <a:rPr lang="es-MX" sz="1800" b="1" dirty="0"/>
                        <a:t>B</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3719522102"/>
                  </a:ext>
                </a:extLst>
              </a:tr>
              <a:tr h="352433">
                <a:tc>
                  <a:txBody>
                    <a:bodyPr/>
                    <a:lstStyle/>
                    <a:p>
                      <a:r>
                        <a:rPr lang="es-MX" sz="1800" b="1" dirty="0"/>
                        <a:t>173.5.88.23</a:t>
                      </a:r>
                    </a:p>
                  </a:txBody>
                  <a:tcPr/>
                </a:tc>
                <a:tc>
                  <a:txBody>
                    <a:bodyPr/>
                    <a:lstStyle/>
                    <a:p>
                      <a:r>
                        <a:rPr lang="es-MX" sz="1800" b="1" dirty="0"/>
                        <a:t>B</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2049668"/>
                  </a:ext>
                </a:extLst>
              </a:tr>
              <a:tr h="352433">
                <a:tc>
                  <a:txBody>
                    <a:bodyPr/>
                    <a:lstStyle/>
                    <a:p>
                      <a:r>
                        <a:rPr lang="es-MX" sz="1800" b="1" dirty="0"/>
                        <a:t>157.223.4.203</a:t>
                      </a:r>
                    </a:p>
                  </a:txBody>
                  <a:tcPr/>
                </a:tc>
                <a:tc>
                  <a:txBody>
                    <a:bodyPr/>
                    <a:lstStyle/>
                    <a:p>
                      <a:r>
                        <a:rPr lang="es-MX" sz="1800" b="1" dirty="0"/>
                        <a:t>B</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568546997"/>
                  </a:ext>
                </a:extLst>
              </a:tr>
              <a:tr h="352433">
                <a:tc>
                  <a:txBody>
                    <a:bodyPr/>
                    <a:lstStyle/>
                    <a:p>
                      <a:r>
                        <a:rPr lang="es-MX" sz="1800" b="1" dirty="0"/>
                        <a:t>190.3.4.24</a:t>
                      </a:r>
                    </a:p>
                  </a:txBody>
                  <a:tcPr/>
                </a:tc>
                <a:tc>
                  <a:txBody>
                    <a:bodyPr/>
                    <a:lstStyle/>
                    <a:p>
                      <a:r>
                        <a:rPr lang="es-MX" sz="1800" b="1" dirty="0"/>
                        <a:t>B</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60209528"/>
                  </a:ext>
                </a:extLst>
              </a:tr>
              <a:tr h="352433">
                <a:tc>
                  <a:txBody>
                    <a:bodyPr/>
                    <a:lstStyle/>
                    <a:p>
                      <a:r>
                        <a:rPr lang="es-MX" sz="1800" b="1" dirty="0"/>
                        <a:t>192.215.32.1 </a:t>
                      </a:r>
                    </a:p>
                  </a:txBody>
                  <a:tcPr/>
                </a:tc>
                <a:tc>
                  <a:txBody>
                    <a:bodyPr/>
                    <a:lstStyle/>
                    <a:p>
                      <a:r>
                        <a:rPr lang="es-MX" sz="1800" b="1" dirty="0"/>
                        <a:t>C</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541279068"/>
                  </a:ext>
                </a:extLst>
              </a:tr>
              <a:tr h="352433">
                <a:tc>
                  <a:txBody>
                    <a:bodyPr/>
                    <a:lstStyle/>
                    <a:p>
                      <a:r>
                        <a:rPr lang="es-MX" sz="1800" b="1" dirty="0"/>
                        <a:t>213.34.56.66</a:t>
                      </a:r>
                    </a:p>
                  </a:txBody>
                  <a:tcPr/>
                </a:tc>
                <a:tc>
                  <a:txBody>
                    <a:bodyPr/>
                    <a:lstStyle/>
                    <a:p>
                      <a:r>
                        <a:rPr lang="es-MX" sz="1800" b="1" dirty="0"/>
                        <a:t>C</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4048494837"/>
                  </a:ext>
                </a:extLst>
              </a:tr>
              <a:tr h="352433">
                <a:tc>
                  <a:txBody>
                    <a:bodyPr/>
                    <a:lstStyle/>
                    <a:p>
                      <a:r>
                        <a:rPr lang="es-MX" sz="1800" b="1" dirty="0"/>
                        <a:t>201.201.201.201</a:t>
                      </a:r>
                    </a:p>
                  </a:txBody>
                  <a:tcPr/>
                </a:tc>
                <a:tc>
                  <a:txBody>
                    <a:bodyPr/>
                    <a:lstStyle/>
                    <a:p>
                      <a:r>
                        <a:rPr lang="es-MX" sz="1800" b="1" dirty="0"/>
                        <a:t>C</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937553778"/>
                  </a:ext>
                </a:extLst>
              </a:tr>
              <a:tr h="352433">
                <a:tc>
                  <a:txBody>
                    <a:bodyPr/>
                    <a:lstStyle/>
                    <a:p>
                      <a:r>
                        <a:rPr lang="es-MX" sz="1800" b="1" dirty="0"/>
                        <a:t>219.33.54.10</a:t>
                      </a:r>
                    </a:p>
                  </a:txBody>
                  <a:tcPr/>
                </a:tc>
                <a:tc>
                  <a:txBody>
                    <a:bodyPr/>
                    <a:lstStyle/>
                    <a:p>
                      <a:r>
                        <a:rPr lang="es-MX" sz="1800" b="1" dirty="0"/>
                        <a:t>C</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3244931942"/>
                  </a:ext>
                </a:extLst>
              </a:tr>
            </a:tbl>
          </a:graphicData>
        </a:graphic>
      </p:graphicFrame>
    </p:spTree>
    <p:extLst>
      <p:ext uri="{BB962C8B-B14F-4D97-AF65-F5344CB8AC3E}">
        <p14:creationId xmlns:p14="http://schemas.microsoft.com/office/powerpoint/2010/main" val="1238754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182271"/>
            <a:ext cx="11226020" cy="769441"/>
          </a:xfrm>
          <a:prstGeom prst="rect">
            <a:avLst/>
          </a:prstGeom>
        </p:spPr>
        <p:txBody>
          <a:bodyPr wrap="square">
            <a:spAutoFit/>
          </a:bodyPr>
          <a:lstStyle/>
          <a:p>
            <a:r>
              <a:rPr lang="es-MX" dirty="0"/>
              <a:t> </a:t>
            </a:r>
            <a:r>
              <a:rPr lang="es-MX" sz="2400" b="1" dirty="0"/>
              <a:t>Tarea 2. </a:t>
            </a:r>
            <a:r>
              <a:rPr lang="es-MX" sz="2000" b="1" dirty="0"/>
              <a:t>Escribir las siguientes direcciones de red (números decimales)</a:t>
            </a:r>
          </a:p>
          <a:p>
            <a:r>
              <a:rPr lang="es-MX" sz="2000" b="1" dirty="0"/>
              <a:t>                  en binario y hexadecimal</a:t>
            </a:r>
          </a:p>
        </p:txBody>
      </p:sp>
      <p:graphicFrame>
        <p:nvGraphicFramePr>
          <p:cNvPr id="8" name="Tabla 7">
            <a:extLst>
              <a:ext uri="{FF2B5EF4-FFF2-40B4-BE49-F238E27FC236}">
                <a16:creationId xmlns:a16="http://schemas.microsoft.com/office/drawing/2014/main" id="{7947BF2B-AA72-6720-B1E2-DA7DE4EE856A}"/>
              </a:ext>
            </a:extLst>
          </p:cNvPr>
          <p:cNvGraphicFramePr>
            <a:graphicFrameLocks noGrp="1"/>
          </p:cNvGraphicFramePr>
          <p:nvPr>
            <p:extLst>
              <p:ext uri="{D42A27DB-BD31-4B8C-83A1-F6EECF244321}">
                <p14:modId xmlns:p14="http://schemas.microsoft.com/office/powerpoint/2010/main" val="357843815"/>
              </p:ext>
            </p:extLst>
          </p:nvPr>
        </p:nvGraphicFramePr>
        <p:xfrm>
          <a:off x="242048" y="1086768"/>
          <a:ext cx="11537576" cy="5394960"/>
        </p:xfrm>
        <a:graphic>
          <a:graphicData uri="http://schemas.openxmlformats.org/drawingml/2006/table">
            <a:tbl>
              <a:tblPr firstRow="1" bandRow="1">
                <a:tableStyleId>{5C22544A-7EE6-4342-B048-85BDC9FD1C3A}</a:tableStyleId>
              </a:tblPr>
              <a:tblGrid>
                <a:gridCol w="1944199">
                  <a:extLst>
                    <a:ext uri="{9D8B030D-6E8A-4147-A177-3AD203B41FA5}">
                      <a16:colId xmlns:a16="http://schemas.microsoft.com/office/drawing/2014/main" val="324933446"/>
                    </a:ext>
                  </a:extLst>
                </a:gridCol>
                <a:gridCol w="5542547">
                  <a:extLst>
                    <a:ext uri="{9D8B030D-6E8A-4147-A177-3AD203B41FA5}">
                      <a16:colId xmlns:a16="http://schemas.microsoft.com/office/drawing/2014/main" val="3108854641"/>
                    </a:ext>
                  </a:extLst>
                </a:gridCol>
                <a:gridCol w="1454492">
                  <a:extLst>
                    <a:ext uri="{9D8B030D-6E8A-4147-A177-3AD203B41FA5}">
                      <a16:colId xmlns:a16="http://schemas.microsoft.com/office/drawing/2014/main" val="3144689690"/>
                    </a:ext>
                  </a:extLst>
                </a:gridCol>
                <a:gridCol w="883571">
                  <a:extLst>
                    <a:ext uri="{9D8B030D-6E8A-4147-A177-3AD203B41FA5}">
                      <a16:colId xmlns:a16="http://schemas.microsoft.com/office/drawing/2014/main" val="4088079538"/>
                    </a:ext>
                  </a:extLst>
                </a:gridCol>
                <a:gridCol w="1712767">
                  <a:extLst>
                    <a:ext uri="{9D8B030D-6E8A-4147-A177-3AD203B41FA5}">
                      <a16:colId xmlns:a16="http://schemas.microsoft.com/office/drawing/2014/main" val="2507589544"/>
                    </a:ext>
                  </a:extLst>
                </a:gridCol>
              </a:tblGrid>
              <a:tr h="616758">
                <a:tc>
                  <a:txBody>
                    <a:bodyPr/>
                    <a:lstStyle/>
                    <a:p>
                      <a:r>
                        <a:rPr lang="es-MX" sz="1800" dirty="0"/>
                        <a:t>IP</a:t>
                      </a:r>
                    </a:p>
                  </a:txBody>
                  <a:tcPr/>
                </a:tc>
                <a:tc>
                  <a:txBody>
                    <a:bodyPr/>
                    <a:lstStyle/>
                    <a:p>
                      <a:r>
                        <a:rPr lang="es-MX" sz="1800" dirty="0"/>
                        <a:t>Binario</a:t>
                      </a:r>
                    </a:p>
                  </a:txBody>
                  <a:tcPr/>
                </a:tc>
                <a:tc>
                  <a:txBody>
                    <a:bodyPr/>
                    <a:lstStyle/>
                    <a:p>
                      <a:r>
                        <a:rPr lang="es-MX" sz="1800" dirty="0"/>
                        <a:t>2 primeros dígitos</a:t>
                      </a:r>
                    </a:p>
                  </a:txBody>
                  <a:tcPr/>
                </a:tc>
                <a:tc>
                  <a:txBody>
                    <a:bodyPr/>
                    <a:lstStyle/>
                    <a:p>
                      <a:r>
                        <a:rPr lang="es-MX" sz="1800" dirty="0"/>
                        <a:t>Clase</a:t>
                      </a:r>
                    </a:p>
                  </a:txBody>
                  <a:tcPr/>
                </a:tc>
                <a:tc>
                  <a:txBody>
                    <a:bodyPr/>
                    <a:lstStyle/>
                    <a:p>
                      <a:r>
                        <a:rPr lang="es-MX" sz="1800" dirty="0"/>
                        <a:t>Hexadecimal</a:t>
                      </a:r>
                    </a:p>
                  </a:txBody>
                  <a:tcPr/>
                </a:tc>
                <a:extLst>
                  <a:ext uri="{0D108BD9-81ED-4DB2-BD59-A6C34878D82A}">
                    <a16:rowId xmlns:a16="http://schemas.microsoft.com/office/drawing/2014/main" val="181258719"/>
                  </a:ext>
                </a:extLst>
              </a:tr>
              <a:tr h="352433">
                <a:tc>
                  <a:txBody>
                    <a:bodyPr/>
                    <a:lstStyle/>
                    <a:p>
                      <a:r>
                        <a:rPr lang="es-MX" sz="1800" b="1" dirty="0"/>
                        <a:t>84.32.1.1</a:t>
                      </a:r>
                    </a:p>
                  </a:txBody>
                  <a:tcPr/>
                </a:tc>
                <a:tc>
                  <a:txBody>
                    <a:bodyPr/>
                    <a:lstStyle/>
                    <a:p>
                      <a:r>
                        <a:rPr lang="es-MX" sz="1800" b="1" dirty="0"/>
                        <a:t>0100 1010 . 0010 0000 . 0000 0001 . 0000 0001 </a:t>
                      </a:r>
                    </a:p>
                  </a:txBody>
                  <a:tcPr/>
                </a:tc>
                <a:tc>
                  <a:txBody>
                    <a:bodyPr/>
                    <a:lstStyle/>
                    <a:p>
                      <a:r>
                        <a:rPr lang="es-MX" sz="1800" b="1" dirty="0"/>
                        <a:t>01</a:t>
                      </a:r>
                    </a:p>
                  </a:txBody>
                  <a:tcPr/>
                </a:tc>
                <a:tc>
                  <a:txBody>
                    <a:bodyPr/>
                    <a:lstStyle/>
                    <a:p>
                      <a:r>
                        <a:rPr lang="es-MX" sz="1800" b="1" dirty="0"/>
                        <a:t>A</a:t>
                      </a:r>
                    </a:p>
                  </a:txBody>
                  <a:tcPr/>
                </a:tc>
                <a:tc>
                  <a:txBody>
                    <a:bodyPr/>
                    <a:lstStyle/>
                    <a:p>
                      <a:r>
                        <a:rPr lang="es-MX" sz="1800" b="1" dirty="0"/>
                        <a:t>4A.20.01.01</a:t>
                      </a:r>
                    </a:p>
                  </a:txBody>
                  <a:tcPr/>
                </a:tc>
                <a:extLst>
                  <a:ext uri="{0D108BD9-81ED-4DB2-BD59-A6C34878D82A}">
                    <a16:rowId xmlns:a16="http://schemas.microsoft.com/office/drawing/2014/main" val="172640197"/>
                  </a:ext>
                </a:extLst>
              </a:tr>
              <a:tr h="352433">
                <a:tc>
                  <a:txBody>
                    <a:bodyPr/>
                    <a:lstStyle/>
                    <a:p>
                      <a:r>
                        <a:rPr lang="es-MX" sz="1800" b="1" dirty="0"/>
                        <a:t>53.200.77.6</a:t>
                      </a:r>
                    </a:p>
                  </a:txBody>
                  <a:tcPr/>
                </a:tc>
                <a:tc>
                  <a:txBody>
                    <a:bodyPr/>
                    <a:lstStyle/>
                    <a:p>
                      <a:endParaRPr lang="es-MX" sz="1800" b="1" dirty="0"/>
                    </a:p>
                  </a:txBody>
                  <a:tcPr/>
                </a:tc>
                <a:tc>
                  <a:txBody>
                    <a:bodyPr/>
                    <a:lstStyle/>
                    <a:p>
                      <a:endParaRPr lang="es-MX" sz="1800" b="1"/>
                    </a:p>
                  </a:txBody>
                  <a:tcPr/>
                </a:tc>
                <a:tc>
                  <a:txBody>
                    <a:bodyPr/>
                    <a:lstStyle/>
                    <a:p>
                      <a:endParaRPr lang="es-MX" sz="1800" b="1"/>
                    </a:p>
                  </a:txBody>
                  <a:tcPr/>
                </a:tc>
                <a:tc>
                  <a:txBody>
                    <a:bodyPr/>
                    <a:lstStyle/>
                    <a:p>
                      <a:endParaRPr lang="es-MX" sz="1800" b="1"/>
                    </a:p>
                  </a:txBody>
                  <a:tcPr/>
                </a:tc>
                <a:extLst>
                  <a:ext uri="{0D108BD9-81ED-4DB2-BD59-A6C34878D82A}">
                    <a16:rowId xmlns:a16="http://schemas.microsoft.com/office/drawing/2014/main" val="3331087732"/>
                  </a:ext>
                </a:extLst>
              </a:tr>
              <a:tr h="352433">
                <a:tc>
                  <a:txBody>
                    <a:bodyPr/>
                    <a:lstStyle/>
                    <a:p>
                      <a:r>
                        <a:rPr lang="es-MX" sz="1800" b="1" dirty="0"/>
                        <a:t>115.25.44.100</a:t>
                      </a:r>
                    </a:p>
                  </a:txBody>
                  <a:tcPr/>
                </a:tc>
                <a:tc>
                  <a:txBody>
                    <a:bodyPr/>
                    <a:lstStyle/>
                    <a:p>
                      <a:endParaRPr lang="es-MX" sz="1800" b="1" dirty="0"/>
                    </a:p>
                  </a:txBody>
                  <a:tcPr/>
                </a:tc>
                <a:tc>
                  <a:txBody>
                    <a:bodyPr/>
                    <a:lstStyle/>
                    <a:p>
                      <a:endParaRPr lang="es-MX" sz="1800" b="1"/>
                    </a:p>
                  </a:txBody>
                  <a:tcPr/>
                </a:tc>
                <a:tc>
                  <a:txBody>
                    <a:bodyPr/>
                    <a:lstStyle/>
                    <a:p>
                      <a:endParaRPr lang="es-MX" sz="1800" b="1"/>
                    </a:p>
                  </a:txBody>
                  <a:tcPr/>
                </a:tc>
                <a:tc>
                  <a:txBody>
                    <a:bodyPr/>
                    <a:lstStyle/>
                    <a:p>
                      <a:endParaRPr lang="es-MX" sz="1800" b="1"/>
                    </a:p>
                  </a:txBody>
                  <a:tcPr/>
                </a:tc>
                <a:extLst>
                  <a:ext uri="{0D108BD9-81ED-4DB2-BD59-A6C34878D82A}">
                    <a16:rowId xmlns:a16="http://schemas.microsoft.com/office/drawing/2014/main" val="1486164092"/>
                  </a:ext>
                </a:extLst>
              </a:tr>
              <a:tr h="352433">
                <a:tc>
                  <a:txBody>
                    <a:bodyPr/>
                    <a:lstStyle/>
                    <a:p>
                      <a:r>
                        <a:rPr lang="es-MX" sz="1800" b="1" dirty="0"/>
                        <a:t>25.4.12.210</a:t>
                      </a:r>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76694759"/>
                  </a:ext>
                </a:extLst>
              </a:tr>
              <a:tr h="352433">
                <a:tc>
                  <a:txBody>
                    <a:bodyPr/>
                    <a:lstStyle/>
                    <a:p>
                      <a:r>
                        <a:rPr lang="es-MX" sz="1800" b="1" dirty="0"/>
                        <a:t>69.0.0.25</a:t>
                      </a:r>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78350873"/>
                  </a:ext>
                </a:extLst>
              </a:tr>
              <a:tr h="352433">
                <a:tc>
                  <a:txBody>
                    <a:bodyPr/>
                    <a:lstStyle/>
                    <a:p>
                      <a:r>
                        <a:rPr lang="es-MX" sz="1800" b="1" dirty="0"/>
                        <a:t>149.215.32.1 </a:t>
                      </a:r>
                    </a:p>
                  </a:txBody>
                  <a:tcPr/>
                </a:tc>
                <a:tc>
                  <a:txBody>
                    <a:bodyPr/>
                    <a:lstStyle/>
                    <a:p>
                      <a:endParaRPr lang="es-MX" sz="1800" b="1" dirty="0"/>
                    </a:p>
                  </a:txBody>
                  <a:tcPr/>
                </a:tc>
                <a:tc>
                  <a:txBody>
                    <a:bodyPr/>
                    <a:lstStyle/>
                    <a:p>
                      <a:endParaRPr lang="es-MX" sz="1800" b="1"/>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3719522102"/>
                  </a:ext>
                </a:extLst>
              </a:tr>
              <a:tr h="352433">
                <a:tc>
                  <a:txBody>
                    <a:bodyPr/>
                    <a:lstStyle/>
                    <a:p>
                      <a:r>
                        <a:rPr lang="es-MX" sz="1800" b="1" dirty="0"/>
                        <a:t>173.5.88.23</a:t>
                      </a:r>
                    </a:p>
                  </a:txBody>
                  <a:tcPr/>
                </a:tc>
                <a:tc>
                  <a:txBody>
                    <a:bodyPr/>
                    <a:lstStyle/>
                    <a:p>
                      <a:endParaRPr lang="es-MX" sz="1800" b="1" dirty="0"/>
                    </a:p>
                  </a:txBody>
                  <a:tcPr/>
                </a:tc>
                <a:tc>
                  <a:txBody>
                    <a:bodyPr/>
                    <a:lstStyle/>
                    <a:p>
                      <a:endParaRPr lang="es-MX" sz="1800" b="1"/>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2049668"/>
                  </a:ext>
                </a:extLst>
              </a:tr>
              <a:tr h="352433">
                <a:tc>
                  <a:txBody>
                    <a:bodyPr/>
                    <a:lstStyle/>
                    <a:p>
                      <a:r>
                        <a:rPr lang="es-MX" sz="1800" b="1" dirty="0"/>
                        <a:t>157.223.4.203</a:t>
                      </a:r>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568546997"/>
                  </a:ext>
                </a:extLst>
              </a:tr>
              <a:tr h="352433">
                <a:tc>
                  <a:txBody>
                    <a:bodyPr/>
                    <a:lstStyle/>
                    <a:p>
                      <a:r>
                        <a:rPr lang="es-MX" sz="1800" b="1" dirty="0"/>
                        <a:t>190.3.4.24</a:t>
                      </a:r>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60209528"/>
                  </a:ext>
                </a:extLst>
              </a:tr>
              <a:tr h="352433">
                <a:tc>
                  <a:txBody>
                    <a:bodyPr/>
                    <a:lstStyle/>
                    <a:p>
                      <a:r>
                        <a:rPr lang="es-MX" sz="1800" b="1" dirty="0"/>
                        <a:t>192.215.32.1 </a:t>
                      </a:r>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541279068"/>
                  </a:ext>
                </a:extLst>
              </a:tr>
              <a:tr h="352433">
                <a:tc>
                  <a:txBody>
                    <a:bodyPr/>
                    <a:lstStyle/>
                    <a:p>
                      <a:r>
                        <a:rPr lang="es-MX" sz="1800" b="1" dirty="0"/>
                        <a:t>213.34.56.66</a:t>
                      </a:r>
                    </a:p>
                  </a:txBody>
                  <a:tcPr/>
                </a:tc>
                <a:tc>
                  <a:txBody>
                    <a:bodyPr/>
                    <a:lstStyle/>
                    <a:p>
                      <a:endParaRPr lang="es-MX" sz="1800" b="1" dirty="0"/>
                    </a:p>
                  </a:txBody>
                  <a:tcPr/>
                </a:tc>
                <a:tc>
                  <a:txBody>
                    <a:bodyPr/>
                    <a:lstStyle/>
                    <a:p>
                      <a:endParaRPr lang="es-MX" sz="1800" b="1"/>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4048494837"/>
                  </a:ext>
                </a:extLst>
              </a:tr>
              <a:tr h="352433">
                <a:tc>
                  <a:txBody>
                    <a:bodyPr/>
                    <a:lstStyle/>
                    <a:p>
                      <a:r>
                        <a:rPr lang="es-MX" sz="1800" b="1" dirty="0"/>
                        <a:t>201.201.201.201</a:t>
                      </a:r>
                    </a:p>
                  </a:txBody>
                  <a:tcPr/>
                </a:tc>
                <a:tc>
                  <a:txBody>
                    <a:bodyPr/>
                    <a:lstStyle/>
                    <a:p>
                      <a:endParaRPr lang="es-MX" sz="1800" b="1" dirty="0"/>
                    </a:p>
                  </a:txBody>
                  <a:tcPr/>
                </a:tc>
                <a:tc>
                  <a:txBody>
                    <a:bodyPr/>
                    <a:lstStyle/>
                    <a:p>
                      <a:endParaRPr lang="es-MX" sz="1800" b="1"/>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937553778"/>
                  </a:ext>
                </a:extLst>
              </a:tr>
              <a:tr h="352433">
                <a:tc>
                  <a:txBody>
                    <a:bodyPr/>
                    <a:lstStyle/>
                    <a:p>
                      <a:r>
                        <a:rPr lang="es-MX" sz="1800" b="1" dirty="0"/>
                        <a:t>219.33.54.10</a:t>
                      </a:r>
                    </a:p>
                  </a:txBody>
                  <a:tcPr/>
                </a:tc>
                <a:tc>
                  <a:txBody>
                    <a:bodyPr/>
                    <a:lstStyle/>
                    <a:p>
                      <a:endParaRPr lang="es-MX" sz="1800" b="1" dirty="0"/>
                    </a:p>
                  </a:txBody>
                  <a:tcPr/>
                </a:tc>
                <a:tc>
                  <a:txBody>
                    <a:bodyPr/>
                    <a:lstStyle/>
                    <a:p>
                      <a:endParaRPr lang="es-MX" sz="1800" b="1"/>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3244931942"/>
                  </a:ext>
                </a:extLst>
              </a:tr>
            </a:tbl>
          </a:graphicData>
        </a:graphic>
      </p:graphicFrame>
    </p:spTree>
    <p:extLst>
      <p:ext uri="{BB962C8B-B14F-4D97-AF65-F5344CB8AC3E}">
        <p14:creationId xmlns:p14="http://schemas.microsoft.com/office/powerpoint/2010/main" val="2945456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BD5A7-1E79-17CC-67DE-082F32B9B4EB}"/>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2F8848A-F420-B8EF-230F-A7AFACB918F2}"/>
              </a:ext>
            </a:extLst>
          </p:cNvPr>
          <p:cNvSpPr/>
          <p:nvPr/>
        </p:nvSpPr>
        <p:spPr>
          <a:xfrm>
            <a:off x="366252" y="182271"/>
            <a:ext cx="11226020" cy="2492990"/>
          </a:xfrm>
          <a:prstGeom prst="rect">
            <a:avLst/>
          </a:prstGeom>
        </p:spPr>
        <p:txBody>
          <a:bodyPr wrap="square">
            <a:spAutoFit/>
          </a:bodyPr>
          <a:lstStyle/>
          <a:p>
            <a:r>
              <a:rPr lang="es-MX" dirty="0"/>
              <a:t> </a:t>
            </a:r>
            <a:r>
              <a:rPr lang="es-MX" sz="2400" b="1" dirty="0"/>
              <a:t>Enmascaramiento.</a:t>
            </a:r>
          </a:p>
          <a:p>
            <a:endParaRPr lang="es-MX" sz="2400" b="1" dirty="0"/>
          </a:p>
          <a:p>
            <a:r>
              <a:rPr lang="es-MX" b="1" dirty="0"/>
              <a:t>Clase A: 16,777,214 host</a:t>
            </a:r>
          </a:p>
          <a:p>
            <a:r>
              <a:rPr lang="es-MX" b="1" dirty="0"/>
              <a:t>Red: 84.0.0.0   </a:t>
            </a:r>
          </a:p>
          <a:p>
            <a:r>
              <a:rPr lang="es-MX" b="1" dirty="0"/>
              <a:t>Host: 32.1.1</a:t>
            </a:r>
          </a:p>
          <a:p>
            <a:endParaRPr lang="es-MX" b="1" dirty="0"/>
          </a:p>
          <a:p>
            <a:r>
              <a:rPr lang="es-MX" b="1" dirty="0"/>
              <a:t>Dirección IP:  84.32.1.1                  0100 1010 . 0010 0000 . 0000 0001 . 0000 0001           4A.20.01.01</a:t>
            </a:r>
          </a:p>
          <a:p>
            <a:r>
              <a:rPr lang="es-MX" b="1" dirty="0"/>
              <a:t>Máscara:255.0.0.0 / 8                   1111 1111 . 0000 0000 . 0000 0000 . 0000 0000            FF.00.00.00</a:t>
            </a:r>
          </a:p>
        </p:txBody>
      </p:sp>
      <p:sp>
        <p:nvSpPr>
          <p:cNvPr id="3" name="Rectángulo 2">
            <a:extLst>
              <a:ext uri="{FF2B5EF4-FFF2-40B4-BE49-F238E27FC236}">
                <a16:creationId xmlns:a16="http://schemas.microsoft.com/office/drawing/2014/main" id="{0D1626D8-C9EB-3399-6B01-71795728C36F}"/>
              </a:ext>
            </a:extLst>
          </p:cNvPr>
          <p:cNvSpPr/>
          <p:nvPr/>
        </p:nvSpPr>
        <p:spPr>
          <a:xfrm>
            <a:off x="366251" y="2822893"/>
            <a:ext cx="11102937" cy="1754326"/>
          </a:xfrm>
          <a:prstGeom prst="rect">
            <a:avLst/>
          </a:prstGeom>
        </p:spPr>
        <p:txBody>
          <a:bodyPr wrap="square">
            <a:spAutoFit/>
          </a:bodyPr>
          <a:lstStyle/>
          <a:p>
            <a:r>
              <a:rPr lang="es-MX" b="1" dirty="0"/>
              <a:t>Clase B: 65,534 host</a:t>
            </a:r>
          </a:p>
          <a:p>
            <a:r>
              <a:rPr lang="es-MX" b="1" dirty="0"/>
              <a:t>Red: 149.215.0.0   </a:t>
            </a:r>
          </a:p>
          <a:p>
            <a:r>
              <a:rPr lang="es-MX" b="1" dirty="0"/>
              <a:t>Host: 32.1</a:t>
            </a:r>
          </a:p>
          <a:p>
            <a:endParaRPr lang="es-MX" b="1" dirty="0"/>
          </a:p>
          <a:p>
            <a:r>
              <a:rPr lang="es-MX" b="1" dirty="0"/>
              <a:t>Dirección IP:  149.215.32.1           1001 0101 . 1101 0111 . 0010 0000 . 0000 0001           95.D7.20.01</a:t>
            </a:r>
          </a:p>
          <a:p>
            <a:r>
              <a:rPr lang="es-MX" b="1" dirty="0"/>
              <a:t>Máscara :255.255.0.0 / 16             1111 1111 . 1111 1111 . 0000 0000 . 0000 0000            FF.FF.00.00</a:t>
            </a:r>
          </a:p>
        </p:txBody>
      </p:sp>
      <p:sp>
        <p:nvSpPr>
          <p:cNvPr id="4" name="Rectángulo 3">
            <a:extLst>
              <a:ext uri="{FF2B5EF4-FFF2-40B4-BE49-F238E27FC236}">
                <a16:creationId xmlns:a16="http://schemas.microsoft.com/office/drawing/2014/main" id="{185F4D63-47C3-E758-BD9E-C8C5D01230C0}"/>
              </a:ext>
            </a:extLst>
          </p:cNvPr>
          <p:cNvSpPr/>
          <p:nvPr/>
        </p:nvSpPr>
        <p:spPr>
          <a:xfrm>
            <a:off x="366251" y="4724851"/>
            <a:ext cx="11102937" cy="1754326"/>
          </a:xfrm>
          <a:prstGeom prst="rect">
            <a:avLst/>
          </a:prstGeom>
        </p:spPr>
        <p:txBody>
          <a:bodyPr wrap="square">
            <a:spAutoFit/>
          </a:bodyPr>
          <a:lstStyle/>
          <a:p>
            <a:r>
              <a:rPr lang="es-MX" b="1" dirty="0"/>
              <a:t>Clase C: 254 host</a:t>
            </a:r>
          </a:p>
          <a:p>
            <a:r>
              <a:rPr lang="es-MX" b="1" dirty="0"/>
              <a:t>Red: 192.215.32.0   </a:t>
            </a:r>
          </a:p>
          <a:p>
            <a:r>
              <a:rPr lang="es-MX" b="1" dirty="0"/>
              <a:t>Host: 1</a:t>
            </a:r>
          </a:p>
          <a:p>
            <a:endParaRPr lang="es-MX" b="1" dirty="0"/>
          </a:p>
          <a:p>
            <a:r>
              <a:rPr lang="es-MX" b="1" dirty="0"/>
              <a:t>Dirección IP:  192.215.32.1           1100 0000 . 1101 0111 . 0010 0000 . 0000 0001           C0.D7.20.01</a:t>
            </a:r>
          </a:p>
          <a:p>
            <a:r>
              <a:rPr lang="es-MX" b="1" dirty="0"/>
              <a:t>Máscara:255.255.255.0 / 24         1111 1111 . 1111 1111 . 1111 1111 . 0000 0000            FF. FF.FF.00</a:t>
            </a:r>
          </a:p>
        </p:txBody>
      </p:sp>
    </p:spTree>
    <p:extLst>
      <p:ext uri="{BB962C8B-B14F-4D97-AF65-F5344CB8AC3E}">
        <p14:creationId xmlns:p14="http://schemas.microsoft.com/office/powerpoint/2010/main" val="1706810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1661993"/>
          </a:xfrm>
          <a:prstGeom prst="rect">
            <a:avLst/>
          </a:prstGeom>
        </p:spPr>
        <p:txBody>
          <a:bodyPr wrap="square">
            <a:spAutoFit/>
          </a:bodyPr>
          <a:lstStyle/>
          <a:p>
            <a:r>
              <a:rPr lang="es-MX" dirty="0"/>
              <a:t> </a:t>
            </a:r>
            <a:r>
              <a:rPr lang="es-MX" sz="2400" b="1" dirty="0"/>
              <a:t>Subredes.</a:t>
            </a:r>
          </a:p>
          <a:p>
            <a:endParaRPr lang="es-MX" sz="2400" b="1" dirty="0"/>
          </a:p>
          <a:p>
            <a:r>
              <a:rPr lang="es-MX" b="1" dirty="0"/>
              <a:t>Ante la imposibilidad de tener todos los nodos en una sola red, se inicio le creación de subredes, por ejemplo, en una clase B, puedo tener 1 red y 65,534 host, pero también puedo tener 256 redes con 254 host, cada una. </a:t>
            </a:r>
          </a:p>
        </p:txBody>
      </p:sp>
      <p:sp>
        <p:nvSpPr>
          <p:cNvPr id="3" name="Rectángulo 2"/>
          <p:cNvSpPr/>
          <p:nvPr/>
        </p:nvSpPr>
        <p:spPr>
          <a:xfrm>
            <a:off x="366251" y="2522447"/>
            <a:ext cx="11825749" cy="2308324"/>
          </a:xfrm>
          <a:prstGeom prst="rect">
            <a:avLst/>
          </a:prstGeom>
        </p:spPr>
        <p:txBody>
          <a:bodyPr wrap="square">
            <a:spAutoFit/>
          </a:bodyPr>
          <a:lstStyle/>
          <a:p>
            <a:r>
              <a:rPr lang="es-MX" b="1" dirty="0"/>
              <a:t>Clase B: 65,534 host</a:t>
            </a:r>
          </a:p>
          <a:p>
            <a:r>
              <a:rPr lang="es-MX" b="1" dirty="0"/>
              <a:t>Red: 149.215.0.0  </a:t>
            </a:r>
          </a:p>
          <a:p>
            <a:r>
              <a:rPr lang="es-MX" b="1" dirty="0"/>
              <a:t>Subred: 32.0 </a:t>
            </a:r>
          </a:p>
          <a:p>
            <a:r>
              <a:rPr lang="es-MX" b="1" dirty="0"/>
              <a:t>Host: 7</a:t>
            </a:r>
          </a:p>
          <a:p>
            <a:endParaRPr lang="es-MX" b="1" dirty="0"/>
          </a:p>
          <a:p>
            <a:r>
              <a:rPr lang="es-MX" b="1" dirty="0"/>
              <a:t>Dirección IP:  149.215.32.7                             1001 0101 . 1101 0111 . 0010 0000 . 0000 0111   95.D7.20.07</a:t>
            </a:r>
          </a:p>
          <a:p>
            <a:r>
              <a:rPr lang="es-MX" b="1" dirty="0"/>
              <a:t>Máscara de red:255.255.0.0 /16                   1111 1111 . 1111 1111 . 0000 0000 . 0000 0000    FF.FF.FF.00</a:t>
            </a:r>
          </a:p>
          <a:p>
            <a:r>
              <a:rPr lang="es-MX" b="1" dirty="0"/>
              <a:t>Máscara de subred:255.255.255.0 /24         1111 1111 . 1111 1111 . 1111 1111 . 0000 0000    FF.FF.FF.00</a:t>
            </a:r>
          </a:p>
        </p:txBody>
      </p:sp>
    </p:spTree>
    <p:extLst>
      <p:ext uri="{BB962C8B-B14F-4D97-AF65-F5344CB8AC3E}">
        <p14:creationId xmlns:p14="http://schemas.microsoft.com/office/powerpoint/2010/main" val="3129272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66251" y="536893"/>
            <a:ext cx="11825749" cy="2677656"/>
          </a:xfrm>
          <a:prstGeom prst="rect">
            <a:avLst/>
          </a:prstGeom>
        </p:spPr>
        <p:txBody>
          <a:bodyPr wrap="square">
            <a:spAutoFit/>
          </a:bodyPr>
          <a:lstStyle/>
          <a:p>
            <a:r>
              <a:rPr lang="es-MX" dirty="0"/>
              <a:t> </a:t>
            </a:r>
            <a:r>
              <a:rPr lang="es-MX" sz="2400" b="1" dirty="0"/>
              <a:t>ejemplo 2: 16 subredes de con 4,094 host c/u</a:t>
            </a:r>
          </a:p>
          <a:p>
            <a:endParaRPr lang="es-MX" b="1" dirty="0"/>
          </a:p>
          <a:p>
            <a:r>
              <a:rPr lang="es-MX" b="1" dirty="0"/>
              <a:t>Clase B: 65,534 host</a:t>
            </a:r>
          </a:p>
          <a:p>
            <a:r>
              <a:rPr lang="es-MX" b="1" dirty="0"/>
              <a:t>Red: 149.215.0.0 </a:t>
            </a:r>
          </a:p>
          <a:p>
            <a:r>
              <a:rPr lang="es-MX" b="1" dirty="0"/>
              <a:t> Dirección IP:  149.215.41.7                             1001 0101 . 1101 0111 . 0010 1001 . 0000 0111   95.D7.29.07</a:t>
            </a:r>
          </a:p>
          <a:p>
            <a:endParaRPr lang="es-MX" b="1" dirty="0"/>
          </a:p>
          <a:p>
            <a:r>
              <a:rPr lang="es-MX" b="1" dirty="0"/>
              <a:t>Subred: 2       0010 </a:t>
            </a:r>
          </a:p>
          <a:p>
            <a:r>
              <a:rPr lang="es-MX" b="1" dirty="0"/>
              <a:t>Host: 2311      1001 0000 0111</a:t>
            </a:r>
          </a:p>
          <a:p>
            <a:r>
              <a:rPr lang="es-MX" b="1" dirty="0"/>
              <a:t>Máscara de subred:255.255.240.0 /20         1111 1111 . 1111 1111 . 1111 0000 . 0000 0000    FF.FF.F0.00</a:t>
            </a:r>
          </a:p>
        </p:txBody>
      </p:sp>
      <p:sp>
        <p:nvSpPr>
          <p:cNvPr id="4" name="Rectángulo 3"/>
          <p:cNvSpPr/>
          <p:nvPr/>
        </p:nvSpPr>
        <p:spPr>
          <a:xfrm>
            <a:off x="366250" y="3837441"/>
            <a:ext cx="11825749" cy="2677656"/>
          </a:xfrm>
          <a:prstGeom prst="rect">
            <a:avLst/>
          </a:prstGeom>
        </p:spPr>
        <p:txBody>
          <a:bodyPr wrap="square">
            <a:spAutoFit/>
          </a:bodyPr>
          <a:lstStyle/>
          <a:p>
            <a:r>
              <a:rPr lang="es-MX" dirty="0"/>
              <a:t> </a:t>
            </a:r>
            <a:r>
              <a:rPr lang="es-MX" sz="2400" b="1" dirty="0"/>
              <a:t>ejemplo 3: 64 subredes de con 1022 host c/u</a:t>
            </a:r>
          </a:p>
          <a:p>
            <a:endParaRPr lang="es-MX" b="1" dirty="0"/>
          </a:p>
          <a:p>
            <a:r>
              <a:rPr lang="es-MX" b="1" dirty="0"/>
              <a:t>Clase B: 65,534 host</a:t>
            </a:r>
          </a:p>
          <a:p>
            <a:r>
              <a:rPr lang="es-MX" b="1" dirty="0"/>
              <a:t>Red: 149.215.0.0 </a:t>
            </a:r>
          </a:p>
          <a:p>
            <a:r>
              <a:rPr lang="es-MX" b="1" dirty="0"/>
              <a:t> Dirección IP:  149.215.41.7                             1001 0101 . 1101 0111 . 0010 1001 . 0000 0111   95.D7.29.07</a:t>
            </a:r>
          </a:p>
          <a:p>
            <a:endParaRPr lang="es-MX" b="1" dirty="0"/>
          </a:p>
          <a:p>
            <a:r>
              <a:rPr lang="es-MX" b="1" dirty="0"/>
              <a:t>Subred: 10      001010</a:t>
            </a:r>
          </a:p>
          <a:p>
            <a:r>
              <a:rPr lang="es-MX" b="1" dirty="0"/>
              <a:t>Host: 263        01 0000 0111</a:t>
            </a:r>
          </a:p>
          <a:p>
            <a:r>
              <a:rPr lang="es-MX" b="1" dirty="0"/>
              <a:t>Máscara de subred:255.255.252.0 /22         1111 1111 . 1111 1111 . 1111 1100 . 0000 0000    FF.FF.F0.00</a:t>
            </a:r>
          </a:p>
        </p:txBody>
      </p:sp>
    </p:spTree>
    <p:extLst>
      <p:ext uri="{BB962C8B-B14F-4D97-AF65-F5344CB8AC3E}">
        <p14:creationId xmlns:p14="http://schemas.microsoft.com/office/powerpoint/2010/main" val="1029906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66251" y="536893"/>
            <a:ext cx="11396258" cy="6186309"/>
          </a:xfrm>
          <a:prstGeom prst="rect">
            <a:avLst/>
          </a:prstGeom>
        </p:spPr>
        <p:txBody>
          <a:bodyPr wrap="square">
            <a:spAutoFit/>
          </a:bodyPr>
          <a:lstStyle/>
          <a:p>
            <a:r>
              <a:rPr lang="es-MX" b="1" dirty="0"/>
              <a:t>Tarea 3.</a:t>
            </a:r>
          </a:p>
          <a:p>
            <a:endParaRPr lang="es-MX" b="1" dirty="0"/>
          </a:p>
          <a:p>
            <a:pPr marL="342900" indent="-342900">
              <a:buFont typeface="+mj-lt"/>
              <a:buAutoNum type="arabicPeriod"/>
            </a:pPr>
            <a:r>
              <a:rPr lang="es-MX" dirty="0"/>
              <a:t>A partir de una red clase A, encuentre una máscara de subred que le permita tener 512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A, encuentre una máscara de subred que le permita tener 4,096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A, encuentre una máscara de subred que le permita tener 12 mil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B, encuentre una máscara de subred que le permita tener 300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B, encuentre una máscara de subred que le permita tener 50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B, encuentre una máscara de subred que le permita tener 450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C, encuentre una máscara de subred que le permita tener 8 subredes, indicando el número máximo de host en cada subred.</a:t>
            </a:r>
          </a:p>
        </p:txBody>
      </p:sp>
    </p:spTree>
    <p:extLst>
      <p:ext uri="{BB962C8B-B14F-4D97-AF65-F5344CB8AC3E}">
        <p14:creationId xmlns:p14="http://schemas.microsoft.com/office/powerpoint/2010/main" val="4002335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66251" y="536893"/>
            <a:ext cx="9858404" cy="707886"/>
          </a:xfrm>
          <a:prstGeom prst="rect">
            <a:avLst/>
          </a:prstGeom>
        </p:spPr>
        <p:txBody>
          <a:bodyPr wrap="square">
            <a:spAutoFit/>
          </a:bodyPr>
          <a:lstStyle/>
          <a:p>
            <a:r>
              <a:rPr lang="es-MX" sz="2000" b="1" dirty="0"/>
              <a:t>Ejercicio 2: Identifique los valores de clase, dirección de red, dirección de 	       </a:t>
            </a:r>
          </a:p>
          <a:p>
            <a:r>
              <a:rPr lang="es-MX" sz="2000" b="1" dirty="0"/>
              <a:t>                    subred y dirección de host de las siguientes direcciones IP</a:t>
            </a:r>
          </a:p>
        </p:txBody>
      </p:sp>
      <p:graphicFrame>
        <p:nvGraphicFramePr>
          <p:cNvPr id="2" name="Tabla 1"/>
          <p:cNvGraphicFramePr>
            <a:graphicFrameLocks noGrp="1"/>
          </p:cNvGraphicFramePr>
          <p:nvPr>
            <p:extLst>
              <p:ext uri="{D42A27DB-BD31-4B8C-83A1-F6EECF244321}">
                <p14:modId xmlns:p14="http://schemas.microsoft.com/office/powerpoint/2010/main" val="4233292157"/>
              </p:ext>
            </p:extLst>
          </p:nvPr>
        </p:nvGraphicFramePr>
        <p:xfrm>
          <a:off x="322462" y="1484190"/>
          <a:ext cx="11547075" cy="5090160"/>
        </p:xfrm>
        <a:graphic>
          <a:graphicData uri="http://schemas.openxmlformats.org/drawingml/2006/table">
            <a:tbl>
              <a:tblPr firstRow="1" bandRow="1">
                <a:tableStyleId>{5C22544A-7EE6-4342-B048-85BDC9FD1C3A}</a:tableStyleId>
              </a:tblPr>
              <a:tblGrid>
                <a:gridCol w="482835">
                  <a:extLst>
                    <a:ext uri="{9D8B030D-6E8A-4147-A177-3AD203B41FA5}">
                      <a16:colId xmlns:a16="http://schemas.microsoft.com/office/drawing/2014/main" val="3709104732"/>
                    </a:ext>
                  </a:extLst>
                </a:gridCol>
                <a:gridCol w="1698171">
                  <a:extLst>
                    <a:ext uri="{9D8B030D-6E8A-4147-A177-3AD203B41FA5}">
                      <a16:colId xmlns:a16="http://schemas.microsoft.com/office/drawing/2014/main" val="1662998826"/>
                    </a:ext>
                  </a:extLst>
                </a:gridCol>
                <a:gridCol w="2743200">
                  <a:extLst>
                    <a:ext uri="{9D8B030D-6E8A-4147-A177-3AD203B41FA5}">
                      <a16:colId xmlns:a16="http://schemas.microsoft.com/office/drawing/2014/main" val="3232618759"/>
                    </a:ext>
                  </a:extLst>
                </a:gridCol>
                <a:gridCol w="666206">
                  <a:extLst>
                    <a:ext uri="{9D8B030D-6E8A-4147-A177-3AD203B41FA5}">
                      <a16:colId xmlns:a16="http://schemas.microsoft.com/office/drawing/2014/main" val="1031194468"/>
                    </a:ext>
                  </a:extLst>
                </a:gridCol>
                <a:gridCol w="2103120">
                  <a:extLst>
                    <a:ext uri="{9D8B030D-6E8A-4147-A177-3AD203B41FA5}">
                      <a16:colId xmlns:a16="http://schemas.microsoft.com/office/drawing/2014/main" val="3441971079"/>
                    </a:ext>
                  </a:extLst>
                </a:gridCol>
                <a:gridCol w="1841863">
                  <a:extLst>
                    <a:ext uri="{9D8B030D-6E8A-4147-A177-3AD203B41FA5}">
                      <a16:colId xmlns:a16="http://schemas.microsoft.com/office/drawing/2014/main" val="853116647"/>
                    </a:ext>
                  </a:extLst>
                </a:gridCol>
                <a:gridCol w="2011680">
                  <a:extLst>
                    <a:ext uri="{9D8B030D-6E8A-4147-A177-3AD203B41FA5}">
                      <a16:colId xmlns:a16="http://schemas.microsoft.com/office/drawing/2014/main" val="3862508953"/>
                    </a:ext>
                  </a:extLst>
                </a:gridCol>
              </a:tblGrid>
              <a:tr h="370840">
                <a:tc>
                  <a:txBody>
                    <a:bodyPr/>
                    <a:lstStyle/>
                    <a:p>
                      <a:r>
                        <a:rPr lang="es-MX" b="0" dirty="0"/>
                        <a:t>N</a:t>
                      </a:r>
                    </a:p>
                  </a:txBody>
                  <a:tcPr/>
                </a:tc>
                <a:tc>
                  <a:txBody>
                    <a:bodyPr/>
                    <a:lstStyle/>
                    <a:p>
                      <a:pPr algn="ctr"/>
                      <a:r>
                        <a:rPr lang="es-MX" b="0" dirty="0"/>
                        <a:t>IP</a:t>
                      </a:r>
                    </a:p>
                  </a:txBody>
                  <a:tcPr/>
                </a:tc>
                <a:tc>
                  <a:txBody>
                    <a:bodyPr/>
                    <a:lstStyle/>
                    <a:p>
                      <a:pPr algn="ctr"/>
                      <a:r>
                        <a:rPr lang="es-MX" b="0" dirty="0"/>
                        <a:t>Máscara de subred</a:t>
                      </a:r>
                    </a:p>
                  </a:txBody>
                  <a:tcPr/>
                </a:tc>
                <a:tc>
                  <a:txBody>
                    <a:bodyPr/>
                    <a:lstStyle/>
                    <a:p>
                      <a:pPr marL="0" algn="ctr" defTabSz="457200" rtl="0" eaLnBrk="1" latinLnBrk="0" hangingPunct="1"/>
                      <a:r>
                        <a:rPr lang="es-MX" sz="1800" b="0" kern="1200" dirty="0">
                          <a:solidFill>
                            <a:schemeClr val="lt1"/>
                          </a:solidFill>
                          <a:latin typeface="+mn-lt"/>
                          <a:ea typeface="+mn-ea"/>
                          <a:cs typeface="+mn-cs"/>
                        </a:rPr>
                        <a:t>clase</a:t>
                      </a:r>
                    </a:p>
                  </a:txBody>
                  <a:tcPr marL="36000" marR="36000"/>
                </a:tc>
                <a:tc>
                  <a:txBody>
                    <a:bodyPr/>
                    <a:lstStyle/>
                    <a:p>
                      <a:pPr marL="0" algn="ctr" defTabSz="457200" rtl="0" eaLnBrk="1" latinLnBrk="0" hangingPunct="1"/>
                      <a:r>
                        <a:rPr lang="es-MX" sz="1800" b="0" kern="1200" dirty="0">
                          <a:solidFill>
                            <a:schemeClr val="lt1"/>
                          </a:solidFill>
                          <a:latin typeface="+mn-lt"/>
                          <a:ea typeface="+mn-ea"/>
                          <a:cs typeface="+mn-cs"/>
                        </a:rPr>
                        <a:t>dirección de red</a:t>
                      </a:r>
                    </a:p>
                  </a:txBody>
                  <a:tcPr/>
                </a:tc>
                <a:tc>
                  <a:txBody>
                    <a:bodyPr/>
                    <a:lstStyle/>
                    <a:p>
                      <a:pPr marL="0" algn="ctr" defTabSz="457200" rtl="0" eaLnBrk="1" latinLnBrk="0" hangingPunct="1"/>
                      <a:r>
                        <a:rPr lang="es-MX" sz="1800" b="0" kern="1200" dirty="0">
                          <a:solidFill>
                            <a:schemeClr val="lt1"/>
                          </a:solidFill>
                          <a:latin typeface="+mn-lt"/>
                          <a:ea typeface="+mn-ea"/>
                          <a:cs typeface="+mn-cs"/>
                        </a:rPr>
                        <a:t>dirección de subred </a:t>
                      </a:r>
                    </a:p>
                  </a:txBody>
                  <a:tcPr/>
                </a:tc>
                <a:tc>
                  <a:txBody>
                    <a:bodyPr/>
                    <a:lstStyle/>
                    <a:p>
                      <a:pPr marL="0" algn="ctr" defTabSz="457200" rtl="0" eaLnBrk="1" latinLnBrk="0" hangingPunct="1"/>
                      <a:r>
                        <a:rPr lang="es-MX" sz="1800" b="0" kern="1200" dirty="0">
                          <a:solidFill>
                            <a:schemeClr val="lt1"/>
                          </a:solidFill>
                          <a:latin typeface="+mn-lt"/>
                          <a:ea typeface="+mn-ea"/>
                          <a:cs typeface="+mn-cs"/>
                        </a:rPr>
                        <a:t> dirección de host </a:t>
                      </a:r>
                    </a:p>
                  </a:txBody>
                  <a:tcPr/>
                </a:tc>
                <a:extLst>
                  <a:ext uri="{0D108BD9-81ED-4DB2-BD59-A6C34878D82A}">
                    <a16:rowId xmlns:a16="http://schemas.microsoft.com/office/drawing/2014/main" val="1192867892"/>
                  </a:ext>
                </a:extLst>
              </a:tr>
              <a:tr h="370840">
                <a:tc>
                  <a:txBody>
                    <a:bodyPr/>
                    <a:lstStyle/>
                    <a:p>
                      <a:pPr algn="ctr"/>
                      <a:r>
                        <a:rPr lang="es-MX" strike="noStrike" dirty="0"/>
                        <a:t>1</a:t>
                      </a:r>
                    </a:p>
                  </a:txBody>
                  <a:tcPr/>
                </a:tc>
                <a:tc>
                  <a:txBody>
                    <a:bodyPr/>
                    <a:lstStyle/>
                    <a:p>
                      <a:r>
                        <a:rPr lang="es-MX" strike="noStrike" dirty="0"/>
                        <a:t>54.189.88.23</a:t>
                      </a:r>
                    </a:p>
                  </a:txBody>
                  <a:tcPr/>
                </a:tc>
                <a:tc>
                  <a:txBody>
                    <a:bodyPr/>
                    <a:lstStyle/>
                    <a:p>
                      <a:r>
                        <a:rPr lang="es-MX" strike="noStrike" dirty="0"/>
                        <a:t>255 . 255 . 0 . 0 /16</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2936221665"/>
                  </a:ext>
                </a:extLst>
              </a:tr>
              <a:tr h="370840">
                <a:tc>
                  <a:txBody>
                    <a:bodyPr/>
                    <a:lstStyle/>
                    <a:p>
                      <a:pPr algn="ctr"/>
                      <a:r>
                        <a:rPr lang="es-MX" strike="noStrike" dirty="0"/>
                        <a:t>2</a:t>
                      </a:r>
                    </a:p>
                  </a:txBody>
                  <a:tcPr/>
                </a:tc>
                <a:tc>
                  <a:txBody>
                    <a:bodyPr/>
                    <a:lstStyle/>
                    <a:p>
                      <a:r>
                        <a:rPr lang="es-MX" strike="noStrike" dirty="0"/>
                        <a:t>54.189.88.23</a:t>
                      </a:r>
                    </a:p>
                  </a:txBody>
                  <a:tcPr/>
                </a:tc>
                <a:tc>
                  <a:txBody>
                    <a:bodyPr/>
                    <a:lstStyle/>
                    <a:p>
                      <a:r>
                        <a:rPr lang="es-MX" strike="noStrike" dirty="0"/>
                        <a:t>255 . 255 . 248 . 0 /21</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2199475569"/>
                  </a:ext>
                </a:extLst>
              </a:tr>
              <a:tr h="370840">
                <a:tc>
                  <a:txBody>
                    <a:bodyPr/>
                    <a:lstStyle/>
                    <a:p>
                      <a:pPr algn="ctr"/>
                      <a:r>
                        <a:rPr lang="es-MX" strike="noStrike" dirty="0"/>
                        <a:t>X</a:t>
                      </a:r>
                    </a:p>
                  </a:txBody>
                  <a:tcPr/>
                </a:tc>
                <a:tc>
                  <a:txBody>
                    <a:bodyPr/>
                    <a:lstStyle/>
                    <a:p>
                      <a:r>
                        <a:rPr lang="es-MX" strike="noStrike" dirty="0"/>
                        <a:t>54.189.91.23</a:t>
                      </a:r>
                    </a:p>
                  </a:txBody>
                  <a:tcPr/>
                </a:tc>
                <a:tc>
                  <a:txBody>
                    <a:bodyPr/>
                    <a:lstStyle/>
                    <a:p>
                      <a:r>
                        <a:rPr lang="es-MX" strike="noStrike" dirty="0"/>
                        <a:t>255 . 255 . 248 . 0 /21</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4034687110"/>
                  </a:ext>
                </a:extLst>
              </a:tr>
              <a:tr h="370840">
                <a:tc>
                  <a:txBody>
                    <a:bodyPr/>
                    <a:lstStyle/>
                    <a:p>
                      <a:pPr algn="ctr"/>
                      <a:r>
                        <a:rPr lang="es-MX" strike="noStrike" dirty="0"/>
                        <a:t>3</a:t>
                      </a:r>
                    </a:p>
                  </a:txBody>
                  <a:tcPr/>
                </a:tc>
                <a:tc>
                  <a:txBody>
                    <a:bodyPr/>
                    <a:lstStyle/>
                    <a:p>
                      <a:r>
                        <a:rPr lang="es-MX" strike="noStrike" dirty="0"/>
                        <a:t>178.224.123.5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240 . 0 /20</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2698171124"/>
                  </a:ext>
                </a:extLst>
              </a:tr>
              <a:tr h="370840">
                <a:tc>
                  <a:txBody>
                    <a:bodyPr/>
                    <a:lstStyle/>
                    <a:p>
                      <a:pPr algn="ctr"/>
                      <a:r>
                        <a:rPr lang="es-MX" strike="noStrike" dirty="0"/>
                        <a:t>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trike="noStrike" dirty="0"/>
                        <a:t>178.224.123.5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248 . 0 /21</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1940289790"/>
                  </a:ext>
                </a:extLst>
              </a:tr>
              <a:tr h="370840">
                <a:tc>
                  <a:txBody>
                    <a:bodyPr/>
                    <a:lstStyle/>
                    <a:p>
                      <a:pPr algn="ctr"/>
                      <a:r>
                        <a:rPr lang="es-MX" strike="noStrike" dirty="0"/>
                        <a:t>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trike="noStrike" dirty="0"/>
                        <a:t>144.34.233.24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255 . 0 /24</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3285055418"/>
                  </a:ext>
                </a:extLst>
              </a:tr>
              <a:tr h="370840">
                <a:tc>
                  <a:txBody>
                    <a:bodyPr/>
                    <a:lstStyle/>
                    <a:p>
                      <a:pPr algn="ctr"/>
                      <a:r>
                        <a:rPr lang="es-MX" strike="noStrike" dirty="0"/>
                        <a:t>6</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trike="noStrike" dirty="0"/>
                        <a:t>144.34.233.24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255 . 128 /25</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extLst>
                  <a:ext uri="{0D108BD9-81ED-4DB2-BD59-A6C34878D82A}">
                    <a16:rowId xmlns:a16="http://schemas.microsoft.com/office/drawing/2014/main" val="2595141975"/>
                  </a:ext>
                </a:extLst>
              </a:tr>
              <a:tr h="370840">
                <a:tc>
                  <a:txBody>
                    <a:bodyPr/>
                    <a:lstStyle/>
                    <a:p>
                      <a:pPr algn="ctr"/>
                      <a:r>
                        <a:rPr lang="es-MX" strike="noStrike" dirty="0"/>
                        <a:t>7</a:t>
                      </a:r>
                    </a:p>
                  </a:txBody>
                  <a:tcPr/>
                </a:tc>
                <a:tc>
                  <a:txBody>
                    <a:bodyPr/>
                    <a:lstStyle/>
                    <a:p>
                      <a:r>
                        <a:rPr lang="es-MX" strike="noStrike" dirty="0"/>
                        <a:t>199.22.34.171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128 /25</a:t>
                      </a:r>
                    </a:p>
                  </a:txBody>
                  <a:tcPr/>
                </a:tc>
                <a:tc>
                  <a:txBody>
                    <a:bodyPr/>
                    <a:lstStyle/>
                    <a:p>
                      <a:endParaRPr lang="es-MX" strike="noStrike" dirty="0"/>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1482220349"/>
                  </a:ext>
                </a:extLst>
              </a:tr>
              <a:tr h="370840">
                <a:tc>
                  <a:txBody>
                    <a:bodyPr/>
                    <a:lstStyle/>
                    <a:p>
                      <a:pPr algn="ctr"/>
                      <a:r>
                        <a:rPr lang="es-MX" strike="noStrike" dirty="0"/>
                        <a:t>8</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trike="noStrike" dirty="0"/>
                        <a:t>199.22.34.171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192 /26</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2080062746"/>
                  </a:ext>
                </a:extLst>
              </a:tr>
              <a:tr h="370840">
                <a:tc>
                  <a:txBody>
                    <a:bodyPr/>
                    <a:lstStyle/>
                    <a:p>
                      <a:pPr algn="ctr"/>
                      <a:r>
                        <a:rPr lang="es-MX" strike="noStrike" dirty="0"/>
                        <a:t>9</a:t>
                      </a:r>
                    </a:p>
                  </a:txBody>
                  <a:tcPr/>
                </a:tc>
                <a:tc>
                  <a:txBody>
                    <a:bodyPr/>
                    <a:lstStyle/>
                    <a:p>
                      <a:r>
                        <a:rPr lang="es-MX" strike="noStrike" dirty="0"/>
                        <a:t>221.5.56.201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224 /27</a:t>
                      </a:r>
                    </a:p>
                  </a:txBody>
                  <a:tcPr/>
                </a:tc>
                <a:tc>
                  <a:txBody>
                    <a:bodyPr/>
                    <a:lstStyle/>
                    <a:p>
                      <a:endParaRPr lang="es-MX" strike="noStrike" dirty="0"/>
                    </a:p>
                  </a:txBody>
                  <a:tcPr/>
                </a:tc>
                <a:tc>
                  <a:txBody>
                    <a:bodyPr/>
                    <a:lstStyle/>
                    <a:p>
                      <a:endParaRPr lang="es-MX" strike="noStrike" dirty="0"/>
                    </a:p>
                  </a:txBody>
                  <a:tcPr/>
                </a:tc>
                <a:tc>
                  <a:txBody>
                    <a:bodyPr/>
                    <a:lstStyle/>
                    <a:p>
                      <a:endParaRPr lang="es-MX" strike="noStrike" dirty="0"/>
                    </a:p>
                  </a:txBody>
                  <a:tcPr/>
                </a:tc>
                <a:tc>
                  <a:txBody>
                    <a:bodyPr/>
                    <a:lstStyle/>
                    <a:p>
                      <a:endParaRPr lang="es-MX" strike="noStrike" dirty="0"/>
                    </a:p>
                  </a:txBody>
                  <a:tcPr/>
                </a:tc>
                <a:extLst>
                  <a:ext uri="{0D108BD9-81ED-4DB2-BD59-A6C34878D82A}">
                    <a16:rowId xmlns:a16="http://schemas.microsoft.com/office/drawing/2014/main" val="4182577853"/>
                  </a:ext>
                </a:extLst>
              </a:tr>
              <a:tr h="370840">
                <a:tc>
                  <a:txBody>
                    <a:bodyPr/>
                    <a:lstStyle/>
                    <a:p>
                      <a:pPr algn="ctr"/>
                      <a:r>
                        <a:rPr lang="es-MX" strike="noStrike" dirty="0"/>
                        <a:t>10</a:t>
                      </a:r>
                    </a:p>
                  </a:txBody>
                  <a:tcPr/>
                </a:tc>
                <a:tc>
                  <a:txBody>
                    <a:bodyPr/>
                    <a:lstStyle/>
                    <a:p>
                      <a:r>
                        <a:rPr lang="es-MX" strike="noStrike" dirty="0"/>
                        <a:t>221.5.56.201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240 /28</a:t>
                      </a:r>
                    </a:p>
                  </a:txBody>
                  <a:tcPr/>
                </a:tc>
                <a:tc>
                  <a:txBody>
                    <a:bodyPr/>
                    <a:lstStyle/>
                    <a:p>
                      <a:endParaRPr lang="es-MX" strike="noStrike" dirty="0"/>
                    </a:p>
                  </a:txBody>
                  <a:tcPr/>
                </a:tc>
                <a:tc>
                  <a:txBody>
                    <a:bodyPr/>
                    <a:lstStyle/>
                    <a:p>
                      <a:endParaRPr lang="es-MX" strike="noStrike" dirty="0"/>
                    </a:p>
                  </a:txBody>
                  <a:tcPr/>
                </a:tc>
                <a:tc>
                  <a:txBody>
                    <a:bodyPr/>
                    <a:lstStyle/>
                    <a:p>
                      <a:endParaRPr lang="es-MX" strike="noStrike" dirty="0"/>
                    </a:p>
                  </a:txBody>
                  <a:tcPr/>
                </a:tc>
                <a:tc>
                  <a:txBody>
                    <a:bodyPr/>
                    <a:lstStyle/>
                    <a:p>
                      <a:endParaRPr lang="es-MX" strike="noStrike" dirty="0"/>
                    </a:p>
                  </a:txBody>
                  <a:tcPr/>
                </a:tc>
                <a:extLst>
                  <a:ext uri="{0D108BD9-81ED-4DB2-BD59-A6C34878D82A}">
                    <a16:rowId xmlns:a16="http://schemas.microsoft.com/office/drawing/2014/main" val="873956364"/>
                  </a:ext>
                </a:extLst>
              </a:tr>
              <a:tr h="370840">
                <a:tc>
                  <a:txBody>
                    <a:bodyPr/>
                    <a:lstStyle/>
                    <a:p>
                      <a:pPr algn="ctr"/>
                      <a:r>
                        <a:rPr lang="es-MX" dirty="0"/>
                        <a:t>X</a:t>
                      </a:r>
                    </a:p>
                  </a:txBody>
                  <a:tcPr/>
                </a:tc>
                <a:tc>
                  <a:txBody>
                    <a:bodyPr/>
                    <a:lstStyle/>
                    <a:p>
                      <a:r>
                        <a:rPr lang="es-MX" dirty="0"/>
                        <a:t>221.5.56.241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240 /28</a:t>
                      </a:r>
                    </a:p>
                  </a:txBody>
                  <a:tcPr/>
                </a:tc>
                <a:tc>
                  <a:txBody>
                    <a:bodyPr/>
                    <a:lstStyle/>
                    <a:p>
                      <a:endParaRPr lang="es-MX" dirty="0"/>
                    </a:p>
                  </a:txBody>
                  <a:tcPr/>
                </a:tc>
                <a:tc>
                  <a:txBody>
                    <a:bodyPr/>
                    <a:lstStyle/>
                    <a:p>
                      <a:endParaRPr lang="es-MX" dirty="0"/>
                    </a:p>
                  </a:txBody>
                  <a:tcPr/>
                </a:tc>
                <a:tc>
                  <a:txBody>
                    <a:bodyPr/>
                    <a:lstStyle/>
                    <a:p>
                      <a:endParaRPr lang="es-MX" dirty="0"/>
                    </a:p>
                  </a:txBody>
                  <a:tcPr/>
                </a:tc>
                <a:tc>
                  <a:txBody>
                    <a:bodyPr/>
                    <a:lstStyle/>
                    <a:p>
                      <a:endParaRPr lang="es-MX" dirty="0"/>
                    </a:p>
                  </a:txBody>
                  <a:tcPr/>
                </a:tc>
                <a:extLst>
                  <a:ext uri="{0D108BD9-81ED-4DB2-BD59-A6C34878D82A}">
                    <a16:rowId xmlns:a16="http://schemas.microsoft.com/office/drawing/2014/main" val="3668370355"/>
                  </a:ext>
                </a:extLst>
              </a:tr>
            </a:tbl>
          </a:graphicData>
        </a:graphic>
      </p:graphicFrame>
    </p:spTree>
    <p:extLst>
      <p:ext uri="{BB962C8B-B14F-4D97-AF65-F5344CB8AC3E}">
        <p14:creationId xmlns:p14="http://schemas.microsoft.com/office/powerpoint/2010/main" val="1851756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834C-9D4F-802B-767D-13FE1390DC1D}"/>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A7664370-04CD-EDAB-53F7-CF68DE8CE9F0}"/>
              </a:ext>
            </a:extLst>
          </p:cNvPr>
          <p:cNvSpPr/>
          <p:nvPr/>
        </p:nvSpPr>
        <p:spPr>
          <a:xfrm>
            <a:off x="366251" y="536893"/>
            <a:ext cx="9858404" cy="707886"/>
          </a:xfrm>
          <a:prstGeom prst="rect">
            <a:avLst/>
          </a:prstGeom>
        </p:spPr>
        <p:txBody>
          <a:bodyPr wrap="square">
            <a:spAutoFit/>
          </a:bodyPr>
          <a:lstStyle/>
          <a:p>
            <a:pPr marL="1887538" indent="-1887538"/>
            <a:r>
              <a:rPr lang="es-MX" sz="2000" b="1" dirty="0"/>
              <a:t>Revisión Tarea: Identifique los valores de clase, dirección de red, dirección de subred y dirección de host de las siguientes direcciones IP</a:t>
            </a:r>
          </a:p>
        </p:txBody>
      </p:sp>
      <p:graphicFrame>
        <p:nvGraphicFramePr>
          <p:cNvPr id="2" name="Tabla 1">
            <a:extLst>
              <a:ext uri="{FF2B5EF4-FFF2-40B4-BE49-F238E27FC236}">
                <a16:creationId xmlns:a16="http://schemas.microsoft.com/office/drawing/2014/main" id="{7434F4EB-9580-0650-C85A-ADACCECAF9A2}"/>
              </a:ext>
            </a:extLst>
          </p:cNvPr>
          <p:cNvGraphicFramePr>
            <a:graphicFrameLocks noGrp="1"/>
          </p:cNvGraphicFramePr>
          <p:nvPr/>
        </p:nvGraphicFramePr>
        <p:xfrm>
          <a:off x="322462" y="1484190"/>
          <a:ext cx="11547075" cy="5090160"/>
        </p:xfrm>
        <a:graphic>
          <a:graphicData uri="http://schemas.openxmlformats.org/drawingml/2006/table">
            <a:tbl>
              <a:tblPr firstRow="1" bandRow="1">
                <a:tableStyleId>{5C22544A-7EE6-4342-B048-85BDC9FD1C3A}</a:tableStyleId>
              </a:tblPr>
              <a:tblGrid>
                <a:gridCol w="482835">
                  <a:extLst>
                    <a:ext uri="{9D8B030D-6E8A-4147-A177-3AD203B41FA5}">
                      <a16:colId xmlns:a16="http://schemas.microsoft.com/office/drawing/2014/main" val="3709104732"/>
                    </a:ext>
                  </a:extLst>
                </a:gridCol>
                <a:gridCol w="1698171">
                  <a:extLst>
                    <a:ext uri="{9D8B030D-6E8A-4147-A177-3AD203B41FA5}">
                      <a16:colId xmlns:a16="http://schemas.microsoft.com/office/drawing/2014/main" val="1662998826"/>
                    </a:ext>
                  </a:extLst>
                </a:gridCol>
                <a:gridCol w="2743200">
                  <a:extLst>
                    <a:ext uri="{9D8B030D-6E8A-4147-A177-3AD203B41FA5}">
                      <a16:colId xmlns:a16="http://schemas.microsoft.com/office/drawing/2014/main" val="3232618759"/>
                    </a:ext>
                  </a:extLst>
                </a:gridCol>
                <a:gridCol w="666206">
                  <a:extLst>
                    <a:ext uri="{9D8B030D-6E8A-4147-A177-3AD203B41FA5}">
                      <a16:colId xmlns:a16="http://schemas.microsoft.com/office/drawing/2014/main" val="1031194468"/>
                    </a:ext>
                  </a:extLst>
                </a:gridCol>
                <a:gridCol w="2103120">
                  <a:extLst>
                    <a:ext uri="{9D8B030D-6E8A-4147-A177-3AD203B41FA5}">
                      <a16:colId xmlns:a16="http://schemas.microsoft.com/office/drawing/2014/main" val="3441971079"/>
                    </a:ext>
                  </a:extLst>
                </a:gridCol>
                <a:gridCol w="1841863">
                  <a:extLst>
                    <a:ext uri="{9D8B030D-6E8A-4147-A177-3AD203B41FA5}">
                      <a16:colId xmlns:a16="http://schemas.microsoft.com/office/drawing/2014/main" val="853116647"/>
                    </a:ext>
                  </a:extLst>
                </a:gridCol>
                <a:gridCol w="2011680">
                  <a:extLst>
                    <a:ext uri="{9D8B030D-6E8A-4147-A177-3AD203B41FA5}">
                      <a16:colId xmlns:a16="http://schemas.microsoft.com/office/drawing/2014/main" val="3862508953"/>
                    </a:ext>
                  </a:extLst>
                </a:gridCol>
              </a:tblGrid>
              <a:tr h="370840">
                <a:tc>
                  <a:txBody>
                    <a:bodyPr/>
                    <a:lstStyle/>
                    <a:p>
                      <a:r>
                        <a:rPr lang="es-MX" b="0" dirty="0"/>
                        <a:t>N</a:t>
                      </a:r>
                    </a:p>
                  </a:txBody>
                  <a:tcPr/>
                </a:tc>
                <a:tc>
                  <a:txBody>
                    <a:bodyPr/>
                    <a:lstStyle/>
                    <a:p>
                      <a:pPr algn="ctr"/>
                      <a:r>
                        <a:rPr lang="es-MX" b="0" dirty="0"/>
                        <a:t>IP</a:t>
                      </a:r>
                    </a:p>
                  </a:txBody>
                  <a:tcPr/>
                </a:tc>
                <a:tc>
                  <a:txBody>
                    <a:bodyPr/>
                    <a:lstStyle/>
                    <a:p>
                      <a:pPr algn="ctr"/>
                      <a:r>
                        <a:rPr lang="es-MX" b="0" dirty="0"/>
                        <a:t>Máscara de subred</a:t>
                      </a:r>
                    </a:p>
                  </a:txBody>
                  <a:tcPr/>
                </a:tc>
                <a:tc>
                  <a:txBody>
                    <a:bodyPr/>
                    <a:lstStyle/>
                    <a:p>
                      <a:pPr marL="0" algn="ctr" defTabSz="457200" rtl="0" eaLnBrk="1" latinLnBrk="0" hangingPunct="1"/>
                      <a:r>
                        <a:rPr lang="es-MX" sz="1800" b="0" kern="1200" dirty="0">
                          <a:solidFill>
                            <a:schemeClr val="lt1"/>
                          </a:solidFill>
                          <a:latin typeface="+mn-lt"/>
                          <a:ea typeface="+mn-ea"/>
                          <a:cs typeface="+mn-cs"/>
                        </a:rPr>
                        <a:t>clase</a:t>
                      </a:r>
                    </a:p>
                  </a:txBody>
                  <a:tcPr marL="36000" marR="36000"/>
                </a:tc>
                <a:tc>
                  <a:txBody>
                    <a:bodyPr/>
                    <a:lstStyle/>
                    <a:p>
                      <a:pPr marL="0" algn="ctr" defTabSz="457200" rtl="0" eaLnBrk="1" latinLnBrk="0" hangingPunct="1"/>
                      <a:r>
                        <a:rPr lang="es-MX" sz="1800" b="0" kern="1200" dirty="0">
                          <a:solidFill>
                            <a:schemeClr val="lt1"/>
                          </a:solidFill>
                          <a:latin typeface="+mn-lt"/>
                          <a:ea typeface="+mn-ea"/>
                          <a:cs typeface="+mn-cs"/>
                        </a:rPr>
                        <a:t>dirección de red</a:t>
                      </a:r>
                    </a:p>
                  </a:txBody>
                  <a:tcPr/>
                </a:tc>
                <a:tc>
                  <a:txBody>
                    <a:bodyPr/>
                    <a:lstStyle/>
                    <a:p>
                      <a:pPr marL="0" algn="ctr" defTabSz="457200" rtl="0" eaLnBrk="1" latinLnBrk="0" hangingPunct="1"/>
                      <a:r>
                        <a:rPr lang="es-MX" sz="1800" b="0" kern="1200" dirty="0">
                          <a:solidFill>
                            <a:schemeClr val="lt1"/>
                          </a:solidFill>
                          <a:latin typeface="+mn-lt"/>
                          <a:ea typeface="+mn-ea"/>
                          <a:cs typeface="+mn-cs"/>
                        </a:rPr>
                        <a:t>dirección de subred </a:t>
                      </a:r>
                    </a:p>
                  </a:txBody>
                  <a:tcPr/>
                </a:tc>
                <a:tc>
                  <a:txBody>
                    <a:bodyPr/>
                    <a:lstStyle/>
                    <a:p>
                      <a:pPr marL="0" algn="ctr" defTabSz="457200" rtl="0" eaLnBrk="1" latinLnBrk="0" hangingPunct="1"/>
                      <a:r>
                        <a:rPr lang="es-MX" sz="1800" b="0" kern="1200" dirty="0">
                          <a:solidFill>
                            <a:schemeClr val="lt1"/>
                          </a:solidFill>
                          <a:latin typeface="+mn-lt"/>
                          <a:ea typeface="+mn-ea"/>
                          <a:cs typeface="+mn-cs"/>
                        </a:rPr>
                        <a:t> dirección de host </a:t>
                      </a:r>
                    </a:p>
                  </a:txBody>
                  <a:tcPr/>
                </a:tc>
                <a:extLst>
                  <a:ext uri="{0D108BD9-81ED-4DB2-BD59-A6C34878D82A}">
                    <a16:rowId xmlns:a16="http://schemas.microsoft.com/office/drawing/2014/main" val="1192867892"/>
                  </a:ext>
                </a:extLst>
              </a:tr>
              <a:tr h="370840">
                <a:tc>
                  <a:txBody>
                    <a:bodyPr/>
                    <a:lstStyle/>
                    <a:p>
                      <a:pPr algn="ctr"/>
                      <a:r>
                        <a:rPr lang="es-MX" dirty="0"/>
                        <a:t>1</a:t>
                      </a:r>
                    </a:p>
                  </a:txBody>
                  <a:tcPr/>
                </a:tc>
                <a:tc>
                  <a:txBody>
                    <a:bodyPr/>
                    <a:lstStyle/>
                    <a:p>
                      <a:r>
                        <a:rPr lang="es-MX" dirty="0"/>
                        <a:t>54.189.88.23</a:t>
                      </a:r>
                    </a:p>
                  </a:txBody>
                  <a:tcPr/>
                </a:tc>
                <a:tc>
                  <a:txBody>
                    <a:bodyPr/>
                    <a:lstStyle/>
                    <a:p>
                      <a:r>
                        <a:rPr lang="es-MX" dirty="0"/>
                        <a:t>255 . 255 . 0 . 0 /16</a:t>
                      </a:r>
                    </a:p>
                  </a:txBody>
                  <a:tcPr/>
                </a:tc>
                <a:tc>
                  <a:txBody>
                    <a:bodyPr/>
                    <a:lstStyle/>
                    <a:p>
                      <a:r>
                        <a:rPr lang="es-MX" dirty="0"/>
                        <a:t>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54.00.00.00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54.189.00.00</a:t>
                      </a:r>
                    </a:p>
                  </a:txBody>
                  <a:tcPr/>
                </a:tc>
                <a:tc>
                  <a:txBody>
                    <a:bodyPr/>
                    <a:lstStyle/>
                    <a:p>
                      <a:r>
                        <a:rPr lang="es-MX" dirty="0"/>
                        <a:t>88.23</a:t>
                      </a:r>
                    </a:p>
                  </a:txBody>
                  <a:tcPr/>
                </a:tc>
                <a:extLst>
                  <a:ext uri="{0D108BD9-81ED-4DB2-BD59-A6C34878D82A}">
                    <a16:rowId xmlns:a16="http://schemas.microsoft.com/office/drawing/2014/main" val="2936221665"/>
                  </a:ext>
                </a:extLst>
              </a:tr>
              <a:tr h="370840">
                <a:tc>
                  <a:txBody>
                    <a:bodyPr/>
                    <a:lstStyle/>
                    <a:p>
                      <a:pPr algn="ctr"/>
                      <a:r>
                        <a:rPr lang="es-MX" dirty="0"/>
                        <a:t>2</a:t>
                      </a:r>
                    </a:p>
                  </a:txBody>
                  <a:tcPr/>
                </a:tc>
                <a:tc>
                  <a:txBody>
                    <a:bodyPr/>
                    <a:lstStyle/>
                    <a:p>
                      <a:r>
                        <a:rPr lang="es-MX" dirty="0"/>
                        <a:t>54.189.88.23</a:t>
                      </a:r>
                    </a:p>
                  </a:txBody>
                  <a:tcPr/>
                </a:tc>
                <a:tc>
                  <a:txBody>
                    <a:bodyPr/>
                    <a:lstStyle/>
                    <a:p>
                      <a:r>
                        <a:rPr lang="es-MX" dirty="0"/>
                        <a:t>255 . 255 . 248 . 0 /21</a:t>
                      </a:r>
                    </a:p>
                  </a:txBody>
                  <a:tcPr/>
                </a:tc>
                <a:tc>
                  <a:txBody>
                    <a:bodyPr/>
                    <a:lstStyle/>
                    <a:p>
                      <a:r>
                        <a:rPr lang="es-MX" dirty="0"/>
                        <a:t>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54.00.00.00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54.189.88.00</a:t>
                      </a:r>
                    </a:p>
                  </a:txBody>
                  <a:tcPr/>
                </a:tc>
                <a:tc>
                  <a:txBody>
                    <a:bodyPr/>
                    <a:lstStyle/>
                    <a:p>
                      <a:r>
                        <a:rPr lang="es-MX" dirty="0"/>
                        <a:t>00.23</a:t>
                      </a:r>
                    </a:p>
                  </a:txBody>
                  <a:tcPr/>
                </a:tc>
                <a:extLst>
                  <a:ext uri="{0D108BD9-81ED-4DB2-BD59-A6C34878D82A}">
                    <a16:rowId xmlns:a16="http://schemas.microsoft.com/office/drawing/2014/main" val="2199475569"/>
                  </a:ext>
                </a:extLst>
              </a:tr>
              <a:tr h="370840">
                <a:tc>
                  <a:txBody>
                    <a:bodyPr/>
                    <a:lstStyle/>
                    <a:p>
                      <a:pPr algn="ctr"/>
                      <a:r>
                        <a:rPr lang="es-MX" dirty="0"/>
                        <a:t>3</a:t>
                      </a:r>
                    </a:p>
                  </a:txBody>
                  <a:tcPr/>
                </a:tc>
                <a:tc>
                  <a:txBody>
                    <a:bodyPr/>
                    <a:lstStyle/>
                    <a:p>
                      <a:r>
                        <a:rPr lang="es-MX" dirty="0"/>
                        <a:t>178.224.123.5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240 . 0 /20</a:t>
                      </a:r>
                    </a:p>
                  </a:txBody>
                  <a:tcPr/>
                </a:tc>
                <a:tc>
                  <a:txBody>
                    <a:bodyPr/>
                    <a:lstStyle/>
                    <a:p>
                      <a:r>
                        <a:rPr lang="es-MX" dirty="0"/>
                        <a:t>B</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178.224.00.00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178.224.112.0</a:t>
                      </a:r>
                    </a:p>
                  </a:txBody>
                  <a:tcPr/>
                </a:tc>
                <a:tc>
                  <a:txBody>
                    <a:bodyPr/>
                    <a:lstStyle/>
                    <a:p>
                      <a:r>
                        <a:rPr lang="es-MX" dirty="0"/>
                        <a:t>11.05</a:t>
                      </a:r>
                    </a:p>
                  </a:txBody>
                  <a:tcPr/>
                </a:tc>
                <a:extLst>
                  <a:ext uri="{0D108BD9-81ED-4DB2-BD59-A6C34878D82A}">
                    <a16:rowId xmlns:a16="http://schemas.microsoft.com/office/drawing/2014/main" val="4034687110"/>
                  </a:ext>
                </a:extLst>
              </a:tr>
              <a:tr h="370840">
                <a:tc>
                  <a:txBody>
                    <a:bodyPr/>
                    <a:lstStyle/>
                    <a:p>
                      <a:pPr algn="ctr"/>
                      <a:r>
                        <a:rPr lang="es-MX" dirty="0"/>
                        <a:t>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178.224.123.5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248 . 0 /21</a:t>
                      </a:r>
                    </a:p>
                  </a:txBody>
                  <a:tcPr/>
                </a:tc>
                <a:tc>
                  <a:txBody>
                    <a:bodyPr/>
                    <a:lstStyle/>
                    <a:p>
                      <a:r>
                        <a:rPr lang="es-MX" dirty="0"/>
                        <a:t>B</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178.224.00.00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178.224.112.0</a:t>
                      </a:r>
                    </a:p>
                  </a:txBody>
                  <a:tcPr/>
                </a:tc>
                <a:tc>
                  <a:txBody>
                    <a:bodyPr/>
                    <a:lstStyle/>
                    <a:p>
                      <a:r>
                        <a:rPr lang="es-MX" dirty="0"/>
                        <a:t>11.05</a:t>
                      </a:r>
                    </a:p>
                  </a:txBody>
                  <a:tcPr/>
                </a:tc>
                <a:extLst>
                  <a:ext uri="{0D108BD9-81ED-4DB2-BD59-A6C34878D82A}">
                    <a16:rowId xmlns:a16="http://schemas.microsoft.com/office/drawing/2014/main" val="2698171124"/>
                  </a:ext>
                </a:extLst>
              </a:tr>
              <a:tr h="370840">
                <a:tc>
                  <a:txBody>
                    <a:bodyPr/>
                    <a:lstStyle/>
                    <a:p>
                      <a:pPr algn="ctr"/>
                      <a:r>
                        <a:rPr lang="es-MX" dirty="0"/>
                        <a:t>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144.34.233.24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255 . 0 /24</a:t>
                      </a:r>
                    </a:p>
                  </a:txBody>
                  <a:tcPr/>
                </a:tc>
                <a:tc>
                  <a:txBody>
                    <a:bodyPr/>
                    <a:lstStyle/>
                    <a:p>
                      <a:r>
                        <a:rPr lang="es-MX" dirty="0"/>
                        <a:t>B</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144.34.233.00</a:t>
                      </a:r>
                    </a:p>
                  </a:txBody>
                  <a:tcPr/>
                </a:tc>
                <a:tc>
                  <a:txBody>
                    <a:bodyPr/>
                    <a:lstStyle/>
                    <a:p>
                      <a:r>
                        <a:rPr lang="es-MX" dirty="0"/>
                        <a:t>00.24</a:t>
                      </a:r>
                    </a:p>
                  </a:txBody>
                  <a:tcPr/>
                </a:tc>
                <a:extLst>
                  <a:ext uri="{0D108BD9-81ED-4DB2-BD59-A6C34878D82A}">
                    <a16:rowId xmlns:a16="http://schemas.microsoft.com/office/drawing/2014/main" val="1940289790"/>
                  </a:ext>
                </a:extLst>
              </a:tr>
              <a:tr h="370840">
                <a:tc>
                  <a:txBody>
                    <a:bodyPr/>
                    <a:lstStyle/>
                    <a:p>
                      <a:pPr algn="ctr"/>
                      <a:r>
                        <a:rPr lang="es-MX" dirty="0"/>
                        <a:t>6</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144.34.233.24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255 . 128 /25</a:t>
                      </a:r>
                    </a:p>
                  </a:txBody>
                  <a:tcPr/>
                </a:tc>
                <a:tc>
                  <a:txBody>
                    <a:bodyPr/>
                    <a:lstStyle/>
                    <a:p>
                      <a:r>
                        <a:rPr lang="es-MX" dirty="0"/>
                        <a:t>B</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144.34.233.00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00.24</a:t>
                      </a:r>
                    </a:p>
                  </a:txBody>
                  <a:tcPr/>
                </a:tc>
                <a:extLst>
                  <a:ext uri="{0D108BD9-81ED-4DB2-BD59-A6C34878D82A}">
                    <a16:rowId xmlns:a16="http://schemas.microsoft.com/office/drawing/2014/main" val="3285055418"/>
                  </a:ext>
                </a:extLst>
              </a:tr>
              <a:tr h="370840">
                <a:tc>
                  <a:txBody>
                    <a:bodyPr/>
                    <a:lstStyle/>
                    <a:p>
                      <a:pPr algn="ctr"/>
                      <a:r>
                        <a:rPr lang="es-MX" dirty="0"/>
                        <a:t>7</a:t>
                      </a:r>
                    </a:p>
                  </a:txBody>
                  <a:tcPr/>
                </a:tc>
                <a:tc>
                  <a:txBody>
                    <a:bodyPr/>
                    <a:lstStyle/>
                    <a:p>
                      <a:r>
                        <a:rPr lang="es-MX" dirty="0"/>
                        <a:t>199.22.34.171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128 /25</a:t>
                      </a:r>
                    </a:p>
                  </a:txBody>
                  <a:tcPr/>
                </a:tc>
                <a:tc>
                  <a:txBody>
                    <a:bodyPr/>
                    <a:lstStyle/>
                    <a:p>
                      <a:r>
                        <a:rPr lang="es-MX" dirty="0"/>
                        <a:t>C</a:t>
                      </a:r>
                    </a:p>
                  </a:txBody>
                  <a:tcPr/>
                </a:tc>
                <a:tc>
                  <a:txBody>
                    <a:bodyPr/>
                    <a:lstStyle/>
                    <a:p>
                      <a:r>
                        <a:rPr lang="es-MX" dirty="0"/>
                        <a:t>199.22.34.00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199.22.34.128</a:t>
                      </a:r>
                    </a:p>
                  </a:txBody>
                  <a:tcPr/>
                </a:tc>
                <a:tc>
                  <a:txBody>
                    <a:bodyPr/>
                    <a:lstStyle/>
                    <a:p>
                      <a:r>
                        <a:rPr lang="es-MX" dirty="0"/>
                        <a:t>43</a:t>
                      </a:r>
                    </a:p>
                  </a:txBody>
                  <a:tcPr/>
                </a:tc>
                <a:extLst>
                  <a:ext uri="{0D108BD9-81ED-4DB2-BD59-A6C34878D82A}">
                    <a16:rowId xmlns:a16="http://schemas.microsoft.com/office/drawing/2014/main" val="2595141975"/>
                  </a:ext>
                </a:extLst>
              </a:tr>
              <a:tr h="370840">
                <a:tc>
                  <a:txBody>
                    <a:bodyPr/>
                    <a:lstStyle/>
                    <a:p>
                      <a:pPr algn="ctr"/>
                      <a:r>
                        <a:rPr lang="es-MX" dirty="0"/>
                        <a:t>8</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199.22.34.171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192 /26</a:t>
                      </a:r>
                    </a:p>
                  </a:txBody>
                  <a:tcPr/>
                </a:tc>
                <a:tc>
                  <a:txBody>
                    <a:bodyPr/>
                    <a:lstStyle/>
                    <a:p>
                      <a:r>
                        <a:rPr lang="es-MX" dirty="0"/>
                        <a: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199.22.34.00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199.22.34.128</a:t>
                      </a:r>
                    </a:p>
                  </a:txBody>
                  <a:tcPr/>
                </a:tc>
                <a:tc>
                  <a:txBody>
                    <a:bodyPr/>
                    <a:lstStyle/>
                    <a:p>
                      <a:r>
                        <a:rPr lang="es-MX" dirty="0"/>
                        <a:t>43</a:t>
                      </a:r>
                    </a:p>
                  </a:txBody>
                  <a:tcPr/>
                </a:tc>
                <a:extLst>
                  <a:ext uri="{0D108BD9-81ED-4DB2-BD59-A6C34878D82A}">
                    <a16:rowId xmlns:a16="http://schemas.microsoft.com/office/drawing/2014/main" val="1482220349"/>
                  </a:ext>
                </a:extLst>
              </a:tr>
              <a:tr h="370840">
                <a:tc>
                  <a:txBody>
                    <a:bodyPr/>
                    <a:lstStyle/>
                    <a:p>
                      <a:pPr algn="ctr"/>
                      <a:r>
                        <a:rPr lang="es-MX" dirty="0"/>
                        <a:t>9</a:t>
                      </a:r>
                    </a:p>
                  </a:txBody>
                  <a:tcPr/>
                </a:tc>
                <a:tc>
                  <a:txBody>
                    <a:bodyPr/>
                    <a:lstStyle/>
                    <a:p>
                      <a:r>
                        <a:rPr lang="es-MX" dirty="0"/>
                        <a:t>221.5.56.201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224 /27</a:t>
                      </a:r>
                    </a:p>
                  </a:txBody>
                  <a:tcPr/>
                </a:tc>
                <a:tc>
                  <a:txBody>
                    <a:bodyPr/>
                    <a:lstStyle/>
                    <a:p>
                      <a:r>
                        <a:rPr lang="es-MX" dirty="0"/>
                        <a:t>C</a:t>
                      </a:r>
                    </a:p>
                  </a:txBody>
                  <a:tcPr/>
                </a:tc>
                <a:tc>
                  <a:txBody>
                    <a:bodyPr/>
                    <a:lstStyle/>
                    <a:p>
                      <a:r>
                        <a:rPr lang="es-MX" dirty="0"/>
                        <a:t>221.5.56.00</a:t>
                      </a:r>
                    </a:p>
                  </a:txBody>
                  <a:tcPr/>
                </a:tc>
                <a:tc>
                  <a:txBody>
                    <a:bodyPr/>
                    <a:lstStyle/>
                    <a:p>
                      <a:r>
                        <a:rPr lang="es-MX" dirty="0"/>
                        <a:t>221.5.56.192</a:t>
                      </a:r>
                    </a:p>
                  </a:txBody>
                  <a:tcPr/>
                </a:tc>
                <a:tc>
                  <a:txBody>
                    <a:bodyPr/>
                    <a:lstStyle/>
                    <a:p>
                      <a:r>
                        <a:rPr lang="es-MX" dirty="0"/>
                        <a:t>09</a:t>
                      </a:r>
                    </a:p>
                  </a:txBody>
                  <a:tcPr/>
                </a:tc>
                <a:extLst>
                  <a:ext uri="{0D108BD9-81ED-4DB2-BD59-A6C34878D82A}">
                    <a16:rowId xmlns:a16="http://schemas.microsoft.com/office/drawing/2014/main" val="2080062746"/>
                  </a:ext>
                </a:extLst>
              </a:tr>
              <a:tr h="370840">
                <a:tc>
                  <a:txBody>
                    <a:bodyPr/>
                    <a:lstStyle/>
                    <a:p>
                      <a:pPr algn="ctr"/>
                      <a:r>
                        <a:rPr lang="es-MX" dirty="0"/>
                        <a:t>10</a:t>
                      </a:r>
                    </a:p>
                  </a:txBody>
                  <a:tcPr/>
                </a:tc>
                <a:tc>
                  <a:txBody>
                    <a:bodyPr/>
                    <a:lstStyle/>
                    <a:p>
                      <a:r>
                        <a:rPr lang="es-MX" dirty="0"/>
                        <a:t>221.5.56.201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240 /28</a:t>
                      </a:r>
                    </a:p>
                  </a:txBody>
                  <a:tcPr/>
                </a:tc>
                <a:tc>
                  <a:txBody>
                    <a:bodyPr/>
                    <a:lstStyle/>
                    <a:p>
                      <a:r>
                        <a:rPr lang="es-MX" dirty="0"/>
                        <a:t>C</a:t>
                      </a:r>
                    </a:p>
                  </a:txBody>
                  <a:tcPr/>
                </a:tc>
                <a:tc>
                  <a:txBody>
                    <a:bodyPr/>
                    <a:lstStyle/>
                    <a:p>
                      <a:r>
                        <a:rPr lang="es-MX" dirty="0"/>
                        <a:t>221.5.56.00</a:t>
                      </a:r>
                    </a:p>
                  </a:txBody>
                  <a:tcPr/>
                </a:tc>
                <a:tc>
                  <a:txBody>
                    <a:bodyPr/>
                    <a:lstStyle/>
                    <a:p>
                      <a:r>
                        <a:rPr lang="es-MX" dirty="0"/>
                        <a:t>221.5.56.192</a:t>
                      </a:r>
                    </a:p>
                  </a:txBody>
                  <a:tcPr/>
                </a:tc>
                <a:tc>
                  <a:txBody>
                    <a:bodyPr/>
                    <a:lstStyle/>
                    <a:p>
                      <a:r>
                        <a:rPr lang="es-MX" dirty="0"/>
                        <a:t>09</a:t>
                      </a:r>
                    </a:p>
                  </a:txBody>
                  <a:tcPr/>
                </a:tc>
                <a:extLst>
                  <a:ext uri="{0D108BD9-81ED-4DB2-BD59-A6C34878D82A}">
                    <a16:rowId xmlns:a16="http://schemas.microsoft.com/office/drawing/2014/main" val="4182577853"/>
                  </a:ext>
                </a:extLst>
              </a:tr>
              <a:tr h="370840">
                <a:tc>
                  <a:txBody>
                    <a:bodyPr/>
                    <a:lstStyle/>
                    <a:p>
                      <a:pPr algn="ctr"/>
                      <a:r>
                        <a:rPr lang="es-MX" dirty="0"/>
                        <a:t>x</a:t>
                      </a:r>
                    </a:p>
                  </a:txBody>
                  <a:tcPr/>
                </a:tc>
                <a:tc>
                  <a:txBody>
                    <a:bodyPr/>
                    <a:lstStyle/>
                    <a:p>
                      <a:r>
                        <a:rPr lang="es-MX" dirty="0"/>
                        <a:t>221.5.56.149</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224 /27</a:t>
                      </a:r>
                    </a:p>
                  </a:txBody>
                  <a:tcPr/>
                </a:tc>
                <a:tc>
                  <a:txBody>
                    <a:bodyPr/>
                    <a:lstStyle/>
                    <a:p>
                      <a:r>
                        <a:rPr lang="es-MX" dirty="0"/>
                        <a:t>C</a:t>
                      </a:r>
                    </a:p>
                  </a:txBody>
                  <a:tcPr/>
                </a:tc>
                <a:tc>
                  <a:txBody>
                    <a:bodyPr/>
                    <a:lstStyle/>
                    <a:p>
                      <a:r>
                        <a:rPr lang="es-MX" dirty="0"/>
                        <a:t>221.5.56.00</a:t>
                      </a:r>
                    </a:p>
                  </a:txBody>
                  <a:tcPr/>
                </a:tc>
                <a:tc>
                  <a:txBody>
                    <a:bodyPr/>
                    <a:lstStyle/>
                    <a:p>
                      <a:r>
                        <a:rPr lang="es-MX" dirty="0"/>
                        <a:t>221.5.56.128</a:t>
                      </a:r>
                    </a:p>
                  </a:txBody>
                  <a:tcPr/>
                </a:tc>
                <a:tc>
                  <a:txBody>
                    <a:bodyPr/>
                    <a:lstStyle/>
                    <a:p>
                      <a:r>
                        <a:rPr lang="es-MX" dirty="0"/>
                        <a:t>21</a:t>
                      </a:r>
                    </a:p>
                  </a:txBody>
                  <a:tcPr/>
                </a:tc>
                <a:extLst>
                  <a:ext uri="{0D108BD9-81ED-4DB2-BD59-A6C34878D82A}">
                    <a16:rowId xmlns:a16="http://schemas.microsoft.com/office/drawing/2014/main" val="873956364"/>
                  </a:ext>
                </a:extLst>
              </a:tr>
              <a:tr h="370840">
                <a:tc>
                  <a:txBody>
                    <a:bodyPr/>
                    <a:lstStyle/>
                    <a:p>
                      <a:pPr algn="ctr"/>
                      <a:r>
                        <a:rPr lang="es-MX" dirty="0"/>
                        <a:t>x</a:t>
                      </a:r>
                    </a:p>
                  </a:txBody>
                  <a:tcPr/>
                </a:tc>
                <a:tc>
                  <a:txBody>
                    <a:bodyPr/>
                    <a:lstStyle/>
                    <a:p>
                      <a:r>
                        <a:rPr lang="es-MX" dirty="0"/>
                        <a:t>221.5.56.149</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240 /28</a:t>
                      </a:r>
                    </a:p>
                  </a:txBody>
                  <a:tcPr/>
                </a:tc>
                <a:tc>
                  <a:txBody>
                    <a:bodyPr/>
                    <a:lstStyle/>
                    <a:p>
                      <a:r>
                        <a:rPr lang="es-MX" dirty="0"/>
                        <a:t>C</a:t>
                      </a:r>
                    </a:p>
                  </a:txBody>
                  <a:tcPr/>
                </a:tc>
                <a:tc>
                  <a:txBody>
                    <a:bodyPr/>
                    <a:lstStyle/>
                    <a:p>
                      <a:r>
                        <a:rPr lang="es-MX" dirty="0"/>
                        <a:t>221.5.56.00</a:t>
                      </a:r>
                    </a:p>
                  </a:txBody>
                  <a:tcPr/>
                </a:tc>
                <a:tc>
                  <a:txBody>
                    <a:bodyPr/>
                    <a:lstStyle/>
                    <a:p>
                      <a:r>
                        <a:rPr lang="es-MX" dirty="0"/>
                        <a:t>221.5.56.144</a:t>
                      </a:r>
                    </a:p>
                  </a:txBody>
                  <a:tcPr/>
                </a:tc>
                <a:tc>
                  <a:txBody>
                    <a:bodyPr/>
                    <a:lstStyle/>
                    <a:p>
                      <a:r>
                        <a:rPr lang="es-MX" dirty="0"/>
                        <a:t>05</a:t>
                      </a:r>
                    </a:p>
                  </a:txBody>
                  <a:tcPr/>
                </a:tc>
                <a:extLst>
                  <a:ext uri="{0D108BD9-81ED-4DB2-BD59-A6C34878D82A}">
                    <a16:rowId xmlns:a16="http://schemas.microsoft.com/office/drawing/2014/main" val="3668370355"/>
                  </a:ext>
                </a:extLst>
              </a:tr>
            </a:tbl>
          </a:graphicData>
        </a:graphic>
      </p:graphicFrame>
    </p:spTree>
    <p:extLst>
      <p:ext uri="{BB962C8B-B14F-4D97-AF65-F5344CB8AC3E}">
        <p14:creationId xmlns:p14="http://schemas.microsoft.com/office/powerpoint/2010/main" val="1528791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41808" y="520718"/>
            <a:ext cx="11620701" cy="6278642"/>
          </a:xfrm>
          <a:prstGeom prst="rect">
            <a:avLst/>
          </a:prstGeom>
        </p:spPr>
        <p:txBody>
          <a:bodyPr wrap="square">
            <a:spAutoFit/>
          </a:bodyPr>
          <a:lstStyle/>
          <a:p>
            <a:r>
              <a:rPr lang="es-MX" dirty="0"/>
              <a:t> </a:t>
            </a:r>
            <a:r>
              <a:rPr lang="es-MX" sz="2400" b="1" dirty="0"/>
              <a:t>Protocolo de enrutamiento con clase.</a:t>
            </a:r>
          </a:p>
          <a:p>
            <a:endParaRPr lang="es-MX" dirty="0"/>
          </a:p>
          <a:p>
            <a:pPr marL="285750" indent="-285750">
              <a:buFont typeface="Arial" panose="020B0604020202020204" pitchFamily="34" charset="0"/>
              <a:buChar char="•"/>
            </a:pPr>
            <a:r>
              <a:rPr lang="es-MX" dirty="0"/>
              <a:t>La máscara de subred podía determinarse con el valor del primer octeto, o más precisamente, con los primeros tres bits de la dirección.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Los protocolos de enrutamiento, como</a:t>
            </a:r>
            <a:r>
              <a:rPr lang="es-MX" b="1" dirty="0"/>
              <a:t> RIPv1 </a:t>
            </a:r>
            <a:r>
              <a:rPr lang="es-MX" dirty="0"/>
              <a:t>sólo necesitaban propagar la dirección de red de las rutas conocidas y </a:t>
            </a:r>
            <a:r>
              <a:rPr lang="es-MX" b="1" dirty="0"/>
              <a:t>no necesitaban incluir la máscara de subred en la actualización de enrutamiento</a:t>
            </a:r>
            <a:r>
              <a:rPr lang="es-MX" dirty="0"/>
              <a:t>.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La máscara de subred estaba directamente relacionada con la dirección de red.</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Una década más tarde, fue evidente que el espacio de dirección IP se estaba reduciendo rápidamente. Los miembros del </a:t>
            </a:r>
            <a:r>
              <a:rPr lang="es-MX" b="1" dirty="0"/>
              <a:t>IETF </a:t>
            </a:r>
            <a:r>
              <a:rPr lang="es-MX" dirty="0"/>
              <a:t>(Grupo de Trabajo de ingeniería de Internet) estaban muy preocupados por el crecimiento exponencial de Internet y por el eventual agotamiento del espacio de dirección IPv4 de 32 bits.</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Para solventar el problema de reducción de direcciones IP el </a:t>
            </a:r>
            <a:r>
              <a:rPr lang="es-MX" b="1" dirty="0"/>
              <a:t>IETF </a:t>
            </a:r>
            <a:r>
              <a:rPr lang="es-MX" dirty="0"/>
              <a:t>introdujo el </a:t>
            </a:r>
            <a:r>
              <a:rPr lang="es-MX" b="1" dirty="0"/>
              <a:t>CIDR </a:t>
            </a:r>
            <a:r>
              <a:rPr lang="es-MX" dirty="0"/>
              <a:t>(</a:t>
            </a:r>
            <a:r>
              <a:rPr lang="es-MX" dirty="0" err="1"/>
              <a:t>Classless</a:t>
            </a:r>
            <a:r>
              <a:rPr lang="es-MX" dirty="0"/>
              <a:t> Inter-</a:t>
            </a:r>
            <a:r>
              <a:rPr lang="es-MX" dirty="0" err="1"/>
              <a:t>Domain</a:t>
            </a:r>
            <a:r>
              <a:rPr lang="es-MX" dirty="0"/>
              <a:t> </a:t>
            </a:r>
            <a:r>
              <a:rPr lang="es-MX" dirty="0" err="1"/>
              <a:t>Routing</a:t>
            </a:r>
            <a:r>
              <a:rPr lang="es-MX" dirty="0"/>
              <a:t> - enrutamiento entre dominios sin clases), el cual permite un uso más eficiente del espacio de dirección IPv4.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El CIDR utiliza una mascara de longitud variable </a:t>
            </a:r>
            <a:r>
              <a:rPr lang="es-MX" b="1" dirty="0"/>
              <a:t>VLSM </a:t>
            </a:r>
            <a:r>
              <a:rPr lang="es-MX" dirty="0"/>
              <a:t>que ayuda a conservar el espacio de direcciones. </a:t>
            </a:r>
          </a:p>
          <a:p>
            <a:pPr marL="285750" indent="-285750">
              <a:buFont typeface="Arial" panose="020B0604020202020204" pitchFamily="34" charset="0"/>
              <a:buChar char="•"/>
            </a:pPr>
            <a:endParaRPr lang="es-MX" dirty="0"/>
          </a:p>
        </p:txBody>
      </p:sp>
    </p:spTree>
    <p:extLst>
      <p:ext uri="{BB962C8B-B14F-4D97-AF65-F5344CB8AC3E}">
        <p14:creationId xmlns:p14="http://schemas.microsoft.com/office/powerpoint/2010/main" val="2569488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87383" y="556192"/>
            <a:ext cx="11482251" cy="5700535"/>
          </a:xfrm>
          <a:prstGeom prst="rect">
            <a:avLst/>
          </a:prstGeom>
        </p:spPr>
        <p:txBody>
          <a:bodyPr wrap="square">
            <a:spAutoFit/>
          </a:bodyPr>
          <a:lstStyle/>
          <a:p>
            <a:pPr fontAlgn="base">
              <a:lnSpc>
                <a:spcPts val="1680"/>
              </a:lnSpc>
              <a:spcAft>
                <a:spcPts val="800"/>
              </a:spcAft>
            </a:pPr>
            <a:r>
              <a:rPr lang="es-MX" sz="2000" b="1" dirty="0" err="1"/>
              <a:t>Subnetting</a:t>
            </a:r>
            <a:r>
              <a:rPr lang="es-MX" sz="2000" b="1" dirty="0"/>
              <a:t> y VLSM (Variable </a:t>
            </a:r>
            <a:r>
              <a:rPr lang="es-MX" sz="2000" b="1" dirty="0" err="1"/>
              <a:t>Length</a:t>
            </a:r>
            <a:r>
              <a:rPr lang="es-MX" sz="2000" b="1" dirty="0"/>
              <a:t> </a:t>
            </a:r>
            <a:r>
              <a:rPr lang="es-MX" sz="2000" b="1" dirty="0" err="1"/>
              <a:t>Subnet</a:t>
            </a:r>
            <a:r>
              <a:rPr lang="es-MX" sz="2000" b="1" dirty="0"/>
              <a:t> </a:t>
            </a:r>
            <a:r>
              <a:rPr lang="es-MX" sz="2000" b="1" dirty="0" err="1"/>
              <a:t>Mask</a:t>
            </a:r>
            <a:r>
              <a:rPr lang="es-MX" sz="2000" b="1" dirty="0"/>
              <a:t>) </a:t>
            </a:r>
          </a:p>
          <a:p>
            <a:pPr fontAlgn="base">
              <a:lnSpc>
                <a:spcPts val="1680"/>
              </a:lnSpc>
              <a:spcAft>
                <a:spcPts val="800"/>
              </a:spcAft>
            </a:pPr>
            <a:endParaRPr lang="es-MX" dirty="0"/>
          </a:p>
          <a:p>
            <a:pPr fontAlgn="base">
              <a:lnSpc>
                <a:spcPts val="1680"/>
              </a:lnSpc>
              <a:spcAft>
                <a:spcPts val="800"/>
              </a:spcAft>
            </a:pPr>
            <a:r>
              <a:rPr lang="es-MX" dirty="0"/>
              <a:t>Son conceptos utilizados en la gestión de redes IP para dividir una red más grande en redes más pequeñas (subredes) para mejorar la eficiencia y seguridad del direccionamiento IP. </a:t>
            </a:r>
          </a:p>
          <a:p>
            <a:pPr fontAlgn="base">
              <a:lnSpc>
                <a:spcPts val="1680"/>
              </a:lnSpc>
              <a:spcAft>
                <a:spcPts val="800"/>
              </a:spcAft>
            </a:pPr>
            <a:endParaRPr lang="es-MX" dirty="0"/>
          </a:p>
          <a:p>
            <a:pPr fontAlgn="base">
              <a:lnSpc>
                <a:spcPts val="1560"/>
              </a:lnSpc>
              <a:spcAft>
                <a:spcPts val="0"/>
              </a:spcAft>
            </a:pPr>
            <a:r>
              <a:rPr lang="es-MX" b="1" dirty="0" err="1"/>
              <a:t>Subnetting</a:t>
            </a:r>
            <a:endParaRPr lang="es-MX" b="1" dirty="0"/>
          </a:p>
          <a:p>
            <a:pPr fontAlgn="base">
              <a:lnSpc>
                <a:spcPct val="107000"/>
              </a:lnSpc>
              <a:spcAft>
                <a:spcPts val="900"/>
              </a:spcAft>
            </a:pPr>
            <a:r>
              <a:rPr lang="es-MX" dirty="0"/>
              <a:t>Es el proceso de dividir una red en dos o más redes más pequeñas. Se realiza cambiando la máscara de subred predeterminada para aumentar el número de bits utilizados para la parte de la red de la dirección IP, lo que a su vez reduce el número de bits disponibles para los hosts. </a:t>
            </a:r>
          </a:p>
          <a:p>
            <a:pPr fontAlgn="base">
              <a:lnSpc>
                <a:spcPct val="107000"/>
              </a:lnSpc>
              <a:spcAft>
                <a:spcPts val="900"/>
              </a:spcAft>
            </a:pPr>
            <a:r>
              <a:rPr lang="es-MX" dirty="0"/>
              <a:t>El </a:t>
            </a:r>
            <a:r>
              <a:rPr lang="es-MX" dirty="0" err="1"/>
              <a:t>subnetting</a:t>
            </a:r>
            <a:r>
              <a:rPr lang="es-MX" dirty="0"/>
              <a:t> se puede realizar utilizando una máscara de subred de longitud fija, lo que significa que todas las subredes creadas tendrán el mismo tamaño, o número de direcciones IP disponibles.</a:t>
            </a:r>
          </a:p>
          <a:p>
            <a:pPr fontAlgn="base">
              <a:lnSpc>
                <a:spcPct val="107000"/>
              </a:lnSpc>
              <a:spcAft>
                <a:spcPts val="900"/>
              </a:spcAft>
            </a:pPr>
            <a:endParaRPr lang="es-MX" dirty="0"/>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a:t>Propósito:</a:t>
            </a:r>
            <a:r>
              <a:rPr lang="es-MX" dirty="0"/>
              <a:t> Mejorar la organización, la seguridad y la eficiencia del uso de las direcciones IP al reducir el tamaño de los dominios de </a:t>
            </a:r>
            <a:r>
              <a:rPr lang="es-MX" dirty="0" err="1"/>
              <a:t>broadcast</a:t>
            </a:r>
            <a:r>
              <a:rPr lang="es-MX" dirty="0"/>
              <a:t> y limitar el desperdicio de direcciones IP.</a:t>
            </a:r>
          </a:p>
          <a:p>
            <a:pPr marL="342900" lvl="0" indent="-342900" fontAlgn="base">
              <a:lnSpc>
                <a:spcPct val="107000"/>
              </a:lnSpc>
              <a:spcAft>
                <a:spcPts val="0"/>
              </a:spcAft>
              <a:buSzPts val="1000"/>
              <a:buFont typeface="Symbol" panose="05050102010706020507" pitchFamily="18" charset="2"/>
              <a:buChar char=""/>
              <a:tabLst>
                <a:tab pos="457200" algn="l"/>
              </a:tabLst>
            </a:pPr>
            <a:endParaRPr lang="es-MX" dirty="0"/>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a:t>Limitación:</a:t>
            </a:r>
            <a:r>
              <a:rPr lang="es-MX" dirty="0"/>
              <a:t> Con el </a:t>
            </a:r>
            <a:r>
              <a:rPr lang="es-MX" dirty="0" err="1"/>
              <a:t>subnetting</a:t>
            </a:r>
            <a:r>
              <a:rPr lang="es-MX" dirty="0"/>
              <a:t> tradicional, todas las subredes tienen el mismo tamaño, lo que puede llevar a la ineficiencia en la asignación de direcciones si las subredes varían en tamaño en términos de hosts requeridos.</a:t>
            </a:r>
          </a:p>
        </p:txBody>
      </p:sp>
    </p:spTree>
    <p:extLst>
      <p:ext uri="{BB962C8B-B14F-4D97-AF65-F5344CB8AC3E}">
        <p14:creationId xmlns:p14="http://schemas.microsoft.com/office/powerpoint/2010/main" val="1353157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87383" y="556192"/>
            <a:ext cx="11273246" cy="3812582"/>
          </a:xfrm>
          <a:prstGeom prst="rect">
            <a:avLst/>
          </a:prstGeom>
        </p:spPr>
        <p:txBody>
          <a:bodyPr wrap="square">
            <a:spAutoFit/>
          </a:bodyPr>
          <a:lstStyle/>
          <a:p>
            <a:pPr fontAlgn="base">
              <a:lnSpc>
                <a:spcPts val="1680"/>
              </a:lnSpc>
              <a:spcAft>
                <a:spcPts val="800"/>
              </a:spcAft>
            </a:pPr>
            <a:r>
              <a:rPr lang="es-MX" sz="2000" b="1" dirty="0"/>
              <a:t>VLSM (Variable </a:t>
            </a:r>
            <a:r>
              <a:rPr lang="es-MX" sz="2000" b="1" dirty="0" err="1"/>
              <a:t>Length</a:t>
            </a:r>
            <a:r>
              <a:rPr lang="es-MX" sz="2000" b="1" dirty="0"/>
              <a:t> </a:t>
            </a:r>
            <a:r>
              <a:rPr lang="es-MX" sz="2000" b="1" dirty="0" err="1"/>
              <a:t>Subnet</a:t>
            </a:r>
            <a:r>
              <a:rPr lang="es-MX" sz="2000" b="1" dirty="0"/>
              <a:t> </a:t>
            </a:r>
            <a:r>
              <a:rPr lang="es-MX" sz="2000" b="1" dirty="0" err="1"/>
              <a:t>Mask</a:t>
            </a:r>
            <a:r>
              <a:rPr lang="es-MX" sz="2000" b="1" dirty="0"/>
              <a:t>) </a:t>
            </a:r>
          </a:p>
          <a:p>
            <a:pPr fontAlgn="base">
              <a:lnSpc>
                <a:spcPts val="1680"/>
              </a:lnSpc>
              <a:spcAft>
                <a:spcPts val="800"/>
              </a:spcAft>
            </a:pPr>
            <a:endParaRPr lang="es-MX" sz="2000" b="1" dirty="0"/>
          </a:p>
          <a:p>
            <a:pPr fontAlgn="base">
              <a:lnSpc>
                <a:spcPct val="107000"/>
              </a:lnSpc>
              <a:spcAft>
                <a:spcPts val="900"/>
              </a:spcAft>
            </a:pPr>
            <a:r>
              <a:rPr lang="es-MX" dirty="0"/>
              <a:t>Es una técnica que permite utilizar más de una máscara de subred dentro de la misma red o subred. Con VLSM, puedes crear subredes de diferentes tamaños adaptadas específicamente a la cantidad de hosts necesarios en cada subred, lo que permite una asignación más eficiente de direcciones IP y reduce el desperdicio.</a:t>
            </a:r>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a:t>Propósito:</a:t>
            </a:r>
            <a:r>
              <a:rPr lang="es-MX" dirty="0"/>
              <a:t> Maximizar la eficiencia en el uso de direcciones IP al permitir subredes de diferentes tamaños dentro de la misma red.</a:t>
            </a:r>
          </a:p>
          <a:p>
            <a:pPr marL="342900" lvl="0" indent="-342900" fontAlgn="base">
              <a:lnSpc>
                <a:spcPct val="107000"/>
              </a:lnSpc>
              <a:spcAft>
                <a:spcPts val="0"/>
              </a:spcAft>
              <a:buSzPts val="1000"/>
              <a:buFont typeface="Symbol" panose="05050102010706020507" pitchFamily="18" charset="2"/>
              <a:buChar char=""/>
              <a:tabLst>
                <a:tab pos="457200" algn="l"/>
              </a:tabLst>
            </a:pPr>
            <a:endParaRPr lang="es-MX" dirty="0"/>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a:t>Ventaja: </a:t>
            </a:r>
            <a:r>
              <a:rPr lang="es-MX" dirty="0"/>
              <a:t>VLSM puede resultar en una utilización de direcciones IP mucho más eficiente, especialmente en redes complejas con requerimientos variados de tamaño de subred.</a:t>
            </a:r>
          </a:p>
          <a:p>
            <a:pPr marL="342900" lvl="0" indent="-342900" fontAlgn="base">
              <a:lnSpc>
                <a:spcPct val="107000"/>
              </a:lnSpc>
              <a:spcAft>
                <a:spcPts val="0"/>
              </a:spcAft>
              <a:buSzPts val="1000"/>
              <a:buFont typeface="Symbol" panose="05050102010706020507" pitchFamily="18" charset="2"/>
              <a:buChar char=""/>
              <a:tabLst>
                <a:tab pos="457200" algn="l"/>
              </a:tabLst>
            </a:pPr>
            <a:endParaRPr lang="es-MX" dirty="0"/>
          </a:p>
        </p:txBody>
      </p:sp>
    </p:spTree>
    <p:extLst>
      <p:ext uri="{BB962C8B-B14F-4D97-AF65-F5344CB8AC3E}">
        <p14:creationId xmlns:p14="http://schemas.microsoft.com/office/powerpoint/2010/main" val="3867460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31073" y="739072"/>
            <a:ext cx="11103429" cy="4070473"/>
          </a:xfrm>
          <a:prstGeom prst="rect">
            <a:avLst/>
          </a:prstGeom>
        </p:spPr>
        <p:txBody>
          <a:bodyPr wrap="square">
            <a:spAutoFit/>
          </a:bodyPr>
          <a:lstStyle/>
          <a:p>
            <a:pPr fontAlgn="base">
              <a:lnSpc>
                <a:spcPts val="1560"/>
              </a:lnSpc>
              <a:spcAft>
                <a:spcPts val="0"/>
              </a:spcAft>
            </a:pPr>
            <a:r>
              <a:rPr lang="es-MX" sz="2000" b="1" dirty="0"/>
              <a:t>Comparación y Uso</a:t>
            </a:r>
          </a:p>
          <a:p>
            <a:pPr fontAlgn="base">
              <a:lnSpc>
                <a:spcPts val="1560"/>
              </a:lnSpc>
              <a:spcAft>
                <a:spcPts val="0"/>
              </a:spcAft>
            </a:pPr>
            <a:endParaRPr lang="es-MX" sz="2000" b="1" dirty="0"/>
          </a:p>
          <a:p>
            <a:pPr fontAlgn="base">
              <a:lnSpc>
                <a:spcPts val="1560"/>
              </a:lnSpc>
              <a:spcAft>
                <a:spcPts val="0"/>
              </a:spcAft>
            </a:pPr>
            <a:endParaRPr lang="es-MX" sz="2000" b="1" dirty="0"/>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err="1"/>
              <a:t>Subnetting</a:t>
            </a:r>
            <a:r>
              <a:rPr lang="es-MX" b="1" dirty="0"/>
              <a:t>:</a:t>
            </a:r>
            <a:r>
              <a:rPr lang="es-MX" dirty="0"/>
              <a:t> Es el concepto general de dividir redes. Es esencial en cualquier diseño de red para crear segmentos lógicos dentro de una red.</a:t>
            </a:r>
          </a:p>
          <a:p>
            <a:pPr marL="342900" lvl="0" indent="-342900" fontAlgn="base">
              <a:lnSpc>
                <a:spcPct val="107000"/>
              </a:lnSpc>
              <a:spcAft>
                <a:spcPts val="0"/>
              </a:spcAft>
              <a:buSzPts val="1000"/>
              <a:buFont typeface="Symbol" panose="05050102010706020507" pitchFamily="18" charset="2"/>
              <a:buChar char=""/>
              <a:tabLst>
                <a:tab pos="457200" algn="l"/>
              </a:tabLst>
            </a:pPr>
            <a:endParaRPr lang="es-MX" dirty="0"/>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a:t>VLSM: </a:t>
            </a:r>
            <a:r>
              <a:rPr lang="es-MX" dirty="0"/>
              <a:t>Es una técnica avanzada de </a:t>
            </a:r>
            <a:r>
              <a:rPr lang="es-MX" dirty="0" err="1"/>
              <a:t>subnetting</a:t>
            </a:r>
            <a:r>
              <a:rPr lang="es-MX" dirty="0"/>
              <a:t>. Requiere el uso de enrutamiento dinámico que soporte VLSM, como OSPF, EIGRP, o RIP versión 2.</a:t>
            </a:r>
          </a:p>
          <a:p>
            <a:pPr marL="342900" lvl="0" indent="-342900" fontAlgn="base">
              <a:lnSpc>
                <a:spcPct val="107000"/>
              </a:lnSpc>
              <a:spcAft>
                <a:spcPts val="0"/>
              </a:spcAft>
              <a:buSzPts val="1000"/>
              <a:buFont typeface="Symbol" panose="05050102010706020507" pitchFamily="18" charset="2"/>
              <a:buChar char=""/>
              <a:tabLst>
                <a:tab pos="457200" algn="l"/>
              </a:tabLst>
            </a:pPr>
            <a:endParaRPr lang="es-MX" dirty="0"/>
          </a:p>
          <a:p>
            <a:pPr fontAlgn="base">
              <a:lnSpc>
                <a:spcPct val="107000"/>
              </a:lnSpc>
              <a:spcAft>
                <a:spcPts val="800"/>
              </a:spcAft>
            </a:pPr>
            <a:r>
              <a:rPr lang="es-MX" dirty="0"/>
              <a:t>En resumen, mientras que el </a:t>
            </a:r>
            <a:r>
              <a:rPr lang="es-MX" dirty="0" err="1"/>
              <a:t>subnetting</a:t>
            </a:r>
            <a:r>
              <a:rPr lang="es-MX" dirty="0"/>
              <a:t> proporciona la base para dividir una red en subredes más pequeñas, VLSM lleva esto un paso más allá al permitir subredes de varios tamaños, lo que mejora la eficiencia en la asignación de direcciones IP. </a:t>
            </a:r>
          </a:p>
          <a:p>
            <a:pPr fontAlgn="base">
              <a:lnSpc>
                <a:spcPct val="107000"/>
              </a:lnSpc>
              <a:spcAft>
                <a:spcPts val="800"/>
              </a:spcAft>
            </a:pPr>
            <a:r>
              <a:rPr lang="es-MX" dirty="0"/>
              <a:t>VLSM es particularmente útil en redes grandes y complejas donde las necesidades de direcciones IP varían significativamente de una subred a otra.</a:t>
            </a:r>
          </a:p>
        </p:txBody>
      </p:sp>
    </p:spTree>
    <p:extLst>
      <p:ext uri="{BB962C8B-B14F-4D97-AF65-F5344CB8AC3E}">
        <p14:creationId xmlns:p14="http://schemas.microsoft.com/office/powerpoint/2010/main" val="869468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l="31792" t="28506" r="9707" b="14196"/>
          <a:stretch/>
        </p:blipFill>
        <p:spPr>
          <a:xfrm>
            <a:off x="918359" y="933527"/>
            <a:ext cx="10524704" cy="5795445"/>
          </a:xfrm>
          <a:prstGeom prst="rect">
            <a:avLst/>
          </a:prstGeom>
        </p:spPr>
      </p:pic>
      <p:sp>
        <p:nvSpPr>
          <p:cNvPr id="3" name="Rectángulo 2"/>
          <p:cNvSpPr/>
          <p:nvPr/>
        </p:nvSpPr>
        <p:spPr>
          <a:xfrm>
            <a:off x="431566" y="286774"/>
            <a:ext cx="11226020" cy="461665"/>
          </a:xfrm>
          <a:prstGeom prst="rect">
            <a:avLst/>
          </a:prstGeom>
        </p:spPr>
        <p:txBody>
          <a:bodyPr wrap="square">
            <a:spAutoFit/>
          </a:bodyPr>
          <a:lstStyle/>
          <a:p>
            <a:r>
              <a:rPr lang="es-MX" dirty="0"/>
              <a:t> </a:t>
            </a:r>
            <a:r>
              <a:rPr lang="es-MX" sz="2400" b="1" dirty="0"/>
              <a:t>Subredes con una misma longitud de máscara</a:t>
            </a:r>
          </a:p>
        </p:txBody>
      </p:sp>
    </p:spTree>
    <p:extLst>
      <p:ext uri="{BB962C8B-B14F-4D97-AF65-F5344CB8AC3E}">
        <p14:creationId xmlns:p14="http://schemas.microsoft.com/office/powerpoint/2010/main" val="3452060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l="32766" t="32767" r="10208" b="11876"/>
          <a:stretch/>
        </p:blipFill>
        <p:spPr>
          <a:xfrm>
            <a:off x="901338" y="970376"/>
            <a:ext cx="10620102" cy="5796183"/>
          </a:xfrm>
          <a:prstGeom prst="rect">
            <a:avLst/>
          </a:prstGeom>
        </p:spPr>
      </p:pic>
      <p:sp>
        <p:nvSpPr>
          <p:cNvPr id="3" name="Rectángulo 2"/>
          <p:cNvSpPr/>
          <p:nvPr/>
        </p:nvSpPr>
        <p:spPr>
          <a:xfrm>
            <a:off x="431566" y="286774"/>
            <a:ext cx="11226020" cy="461665"/>
          </a:xfrm>
          <a:prstGeom prst="rect">
            <a:avLst/>
          </a:prstGeom>
        </p:spPr>
        <p:txBody>
          <a:bodyPr wrap="square">
            <a:spAutoFit/>
          </a:bodyPr>
          <a:lstStyle/>
          <a:p>
            <a:r>
              <a:rPr lang="es-MX" dirty="0"/>
              <a:t> </a:t>
            </a:r>
            <a:r>
              <a:rPr lang="es-MX" sz="2400" b="1" dirty="0"/>
              <a:t>Subredes con diferentes longitud de máscara</a:t>
            </a:r>
          </a:p>
        </p:txBody>
      </p:sp>
    </p:spTree>
    <p:extLst>
      <p:ext uri="{BB962C8B-B14F-4D97-AF65-F5344CB8AC3E}">
        <p14:creationId xmlns:p14="http://schemas.microsoft.com/office/powerpoint/2010/main" val="177898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4154984"/>
          </a:xfrm>
          <a:prstGeom prst="rect">
            <a:avLst/>
          </a:prstGeom>
        </p:spPr>
        <p:txBody>
          <a:bodyPr wrap="square">
            <a:spAutoFit/>
          </a:bodyPr>
          <a:lstStyle/>
          <a:p>
            <a:r>
              <a:rPr lang="es-MX" dirty="0"/>
              <a:t> </a:t>
            </a:r>
            <a:r>
              <a:rPr lang="es-MX" sz="2400" b="1" dirty="0"/>
              <a:t>CIDR </a:t>
            </a:r>
          </a:p>
          <a:p>
            <a:endParaRPr lang="es-MX" sz="2400" b="1" dirty="0"/>
          </a:p>
          <a:p>
            <a:r>
              <a:rPr lang="es-MX" dirty="0" err="1"/>
              <a:t>Classless</a:t>
            </a:r>
            <a:r>
              <a:rPr lang="es-MX" dirty="0"/>
              <a:t> Inter-</a:t>
            </a:r>
            <a:r>
              <a:rPr lang="es-MX" dirty="0" err="1"/>
              <a:t>Domain</a:t>
            </a:r>
            <a:r>
              <a:rPr lang="es-MX" dirty="0"/>
              <a:t> </a:t>
            </a:r>
            <a:r>
              <a:rPr lang="es-MX" dirty="0" err="1"/>
              <a:t>Routing</a:t>
            </a:r>
            <a:r>
              <a:rPr lang="es-MX" dirty="0"/>
              <a:t>, o CIDR, se introdujo para superar las limitaciones del esquema de direccionamiento IP por clases. CIDR permite una asignación más flexible y eficiente de direcciones IP al ignorar los límites tradicionales de las clases (A, B, C). Con CIDR, los prefijos de red pueden tener cualquier longitud, lo que permite la agregación de rutas y la consiguiente reducción del tamaño de las tablas de enrutamiento.</a:t>
            </a:r>
          </a:p>
          <a:p>
            <a:endParaRPr lang="es-MX" b="1" dirty="0"/>
          </a:p>
          <a:p>
            <a:r>
              <a:rPr lang="es-MX" b="1" dirty="0"/>
              <a:t>Ventajas de CIDR</a:t>
            </a:r>
            <a:endParaRPr lang="es-MX" dirty="0"/>
          </a:p>
          <a:p>
            <a:pPr lvl="0"/>
            <a:endParaRPr lang="es-MX" dirty="0"/>
          </a:p>
          <a:p>
            <a:pPr lvl="0"/>
            <a:r>
              <a:rPr lang="es-MX" b="1" dirty="0"/>
              <a:t>Escalabilidad:</a:t>
            </a:r>
            <a:r>
              <a:rPr lang="es-MX" dirty="0"/>
              <a:t> Admite un enrutamiento más eficiente en Internet.</a:t>
            </a:r>
          </a:p>
          <a:p>
            <a:pPr lvl="0"/>
            <a:r>
              <a:rPr lang="es-MX" b="1" dirty="0"/>
              <a:t>Flexibilidad: </a:t>
            </a:r>
            <a:r>
              <a:rPr lang="es-MX" dirty="0"/>
              <a:t>Elimina las restricciones del direccionamiento por clases.</a:t>
            </a:r>
          </a:p>
          <a:p>
            <a:pPr lvl="0"/>
            <a:r>
              <a:rPr lang="es-MX" b="1" dirty="0"/>
              <a:t>Agregación: </a:t>
            </a:r>
            <a:r>
              <a:rPr lang="es-MX" dirty="0"/>
              <a:t>Reduce las entradas de la tabla de enrutamiento mediante el resumen de rutas.</a:t>
            </a:r>
          </a:p>
          <a:p>
            <a:endParaRPr lang="es-MX" b="1" dirty="0"/>
          </a:p>
        </p:txBody>
      </p:sp>
    </p:spTree>
    <p:extLst>
      <p:ext uri="{BB962C8B-B14F-4D97-AF65-F5344CB8AC3E}">
        <p14:creationId xmlns:p14="http://schemas.microsoft.com/office/powerpoint/2010/main" val="412797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6278642"/>
          </a:xfrm>
          <a:prstGeom prst="rect">
            <a:avLst/>
          </a:prstGeom>
        </p:spPr>
        <p:txBody>
          <a:bodyPr wrap="square">
            <a:spAutoFit/>
          </a:bodyPr>
          <a:lstStyle/>
          <a:p>
            <a:r>
              <a:rPr lang="es-MX" dirty="0"/>
              <a:t> </a:t>
            </a:r>
            <a:r>
              <a:rPr lang="es-MX" sz="2400" b="1" dirty="0"/>
              <a:t>CIDR y VLSM.</a:t>
            </a:r>
          </a:p>
          <a:p>
            <a:endParaRPr lang="es-MX" dirty="0"/>
          </a:p>
          <a:p>
            <a:r>
              <a:rPr lang="es-MX" b="1" dirty="0"/>
              <a:t>CIDR</a:t>
            </a:r>
            <a:r>
              <a:rPr lang="es-MX" dirty="0"/>
              <a:t> (enrutamiento entre dominios sin clases ) usa </a:t>
            </a:r>
            <a:r>
              <a:rPr lang="es-MX" b="1" dirty="0"/>
              <a:t>VLSM</a:t>
            </a:r>
            <a:r>
              <a:rPr lang="es-MX" dirty="0"/>
              <a:t> (máscara de subred de longitud variable) para asignar direcciones IP a subredes de acuerdo con la necesidad individual en lugar de hacerlo por la clase. </a:t>
            </a:r>
          </a:p>
          <a:p>
            <a:endParaRPr lang="es-MX" dirty="0"/>
          </a:p>
          <a:p>
            <a:r>
              <a:rPr lang="es-MX" b="1" dirty="0"/>
              <a:t>CIDR</a:t>
            </a:r>
            <a:r>
              <a:rPr lang="es-MX" dirty="0"/>
              <a:t> puede utilizar una longitud de máscara diferente para cada red o subred, lo cual hace indispensable que los protocolos de enrutamiento reciban como parte de la información de cada red o subred, su longitud de mascara.</a:t>
            </a:r>
          </a:p>
          <a:p>
            <a:endParaRPr lang="es-MX" dirty="0"/>
          </a:p>
          <a:p>
            <a:r>
              <a:rPr lang="es-MX" dirty="0"/>
              <a:t>La subdivisión en subredes, fue diseñada para maximizar la eficiencia del direccionamiento. </a:t>
            </a:r>
          </a:p>
          <a:p>
            <a:endParaRPr lang="es-MX" dirty="0"/>
          </a:p>
          <a:p>
            <a:pPr lvl="0"/>
            <a:r>
              <a:rPr lang="es-MX" b="1" dirty="0"/>
              <a:t>VLSM</a:t>
            </a:r>
            <a:r>
              <a:rPr lang="es-MX" dirty="0"/>
              <a:t> (Máscara de subred de longitud variable): Permite crear subredes de distintos tamaños dentro de la misma red, optimizando la asignación de direcciones para satisfacer las necesidades de los distintos segmentos.</a:t>
            </a:r>
          </a:p>
          <a:p>
            <a:pPr lvl="0"/>
            <a:endParaRPr lang="es-MX" dirty="0"/>
          </a:p>
          <a:p>
            <a:pPr lvl="0"/>
            <a:r>
              <a:rPr lang="es-MX" b="1" dirty="0"/>
              <a:t>CIDR </a:t>
            </a:r>
            <a:r>
              <a:rPr lang="es-MX" dirty="0"/>
              <a:t>(Enrutamiento entre dominios sin clases): Método que sustituye a la arquitectura de red por clases y permite la asignación de direcciones IP de longitud variable y la agregación de rutas, lo que simplifica y mejora la eficacia del enrutamiento en Internet.</a:t>
            </a:r>
          </a:p>
          <a:p>
            <a:endParaRPr lang="es-MX" dirty="0"/>
          </a:p>
          <a:p>
            <a:endParaRPr lang="es-MX" dirty="0"/>
          </a:p>
          <a:p>
            <a:pPr marL="285750" indent="-285750">
              <a:buFont typeface="Arial" panose="020B0604020202020204" pitchFamily="34" charset="0"/>
              <a:buChar char="•"/>
            </a:pPr>
            <a:endParaRPr lang="es-MX" dirty="0"/>
          </a:p>
        </p:txBody>
      </p:sp>
    </p:spTree>
    <p:extLst>
      <p:ext uri="{BB962C8B-B14F-4D97-AF65-F5344CB8AC3E}">
        <p14:creationId xmlns:p14="http://schemas.microsoft.com/office/powerpoint/2010/main" val="500997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4431983"/>
          </a:xfrm>
          <a:prstGeom prst="rect">
            <a:avLst/>
          </a:prstGeom>
        </p:spPr>
        <p:txBody>
          <a:bodyPr wrap="square">
            <a:spAutoFit/>
          </a:bodyPr>
          <a:lstStyle/>
          <a:p>
            <a:r>
              <a:rPr lang="es-MX" dirty="0"/>
              <a:t> </a:t>
            </a:r>
            <a:r>
              <a:rPr lang="es-MX" sz="2400" b="1" dirty="0"/>
              <a:t>CIDR </a:t>
            </a:r>
          </a:p>
          <a:p>
            <a:endParaRPr lang="es-MX" sz="2400" b="1" dirty="0"/>
          </a:p>
          <a:p>
            <a:r>
              <a:rPr lang="es-MX" dirty="0" err="1"/>
              <a:t>Classless</a:t>
            </a:r>
            <a:r>
              <a:rPr lang="es-MX" dirty="0"/>
              <a:t> Inter-</a:t>
            </a:r>
            <a:r>
              <a:rPr lang="es-MX" dirty="0" err="1"/>
              <a:t>Domain</a:t>
            </a:r>
            <a:r>
              <a:rPr lang="es-MX" dirty="0"/>
              <a:t> </a:t>
            </a:r>
            <a:r>
              <a:rPr lang="es-MX" dirty="0" err="1"/>
              <a:t>Routing</a:t>
            </a:r>
            <a:r>
              <a:rPr lang="es-MX" dirty="0"/>
              <a:t>, o CIDR, se introdujo para superar las limitaciones del esquema de direccionamiento IP por clases. CIDR permite una asignación más flexible y eficiente de direcciones IP al ignorar los límites tradicionales de las clases (A, B, C). Con CIDR, los prefijos de red pueden tener cualquier longitud, lo que permite la agregación de rutas y la consiguiente reducción del tamaño de las tablas de enrutamiento.</a:t>
            </a:r>
          </a:p>
          <a:p>
            <a:endParaRPr lang="es-MX" b="1" dirty="0"/>
          </a:p>
          <a:p>
            <a:r>
              <a:rPr lang="es-MX" b="1" dirty="0"/>
              <a:t>Ventajas de CIDR</a:t>
            </a:r>
            <a:endParaRPr lang="es-MX" dirty="0"/>
          </a:p>
          <a:p>
            <a:pPr lvl="0"/>
            <a:endParaRPr lang="es-MX" dirty="0"/>
          </a:p>
          <a:p>
            <a:pPr lvl="0"/>
            <a:r>
              <a:rPr lang="es-MX" b="1" dirty="0"/>
              <a:t>Escalabilidad:</a:t>
            </a:r>
            <a:r>
              <a:rPr lang="es-MX" dirty="0"/>
              <a:t> Admite un enrutamiento más eficiente en Internet.</a:t>
            </a:r>
          </a:p>
          <a:p>
            <a:pPr lvl="0"/>
            <a:r>
              <a:rPr lang="es-MX" b="1" dirty="0"/>
              <a:t>Flexibilidad: </a:t>
            </a:r>
            <a:r>
              <a:rPr lang="es-MX" dirty="0"/>
              <a:t>Elimina las restricciones del direccionamiento por clases.</a:t>
            </a:r>
          </a:p>
          <a:p>
            <a:pPr lvl="0"/>
            <a:r>
              <a:rPr lang="es-MX" b="1" dirty="0"/>
              <a:t>Agregación: </a:t>
            </a:r>
            <a:r>
              <a:rPr lang="es-MX" dirty="0"/>
              <a:t>Reduce las entradas de la tabla de enrutamiento mediante el resumen de rutas.</a:t>
            </a:r>
          </a:p>
          <a:p>
            <a:endParaRPr lang="es-MX" b="1" dirty="0"/>
          </a:p>
          <a:p>
            <a:endParaRPr lang="es-MX" b="1" dirty="0"/>
          </a:p>
        </p:txBody>
      </p:sp>
    </p:spTree>
    <p:extLst>
      <p:ext uri="{BB962C8B-B14F-4D97-AF65-F5344CB8AC3E}">
        <p14:creationId xmlns:p14="http://schemas.microsoft.com/office/powerpoint/2010/main" val="351811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646331"/>
          </a:xfrm>
          <a:prstGeom prst="rect">
            <a:avLst/>
          </a:prstGeom>
        </p:spPr>
        <p:txBody>
          <a:bodyPr wrap="square">
            <a:spAutoFit/>
          </a:bodyPr>
          <a:lstStyle/>
          <a:p>
            <a:r>
              <a:rPr lang="es-MX" dirty="0"/>
              <a:t> </a:t>
            </a:r>
            <a:endParaRPr lang="es-MX" b="1" dirty="0"/>
          </a:p>
          <a:p>
            <a:r>
              <a:rPr lang="es-MX" b="1" dirty="0"/>
              <a:t>Anuncio de rutas / sumarización</a:t>
            </a:r>
          </a:p>
        </p:txBody>
      </p:sp>
      <p:pic>
        <p:nvPicPr>
          <p:cNvPr id="4" name="Imagen 3">
            <a:extLst>
              <a:ext uri="{FF2B5EF4-FFF2-40B4-BE49-F238E27FC236}">
                <a16:creationId xmlns:a16="http://schemas.microsoft.com/office/drawing/2014/main" id="{B38F5404-324B-1DE4-8780-3F756F3A35E0}"/>
              </a:ext>
            </a:extLst>
          </p:cNvPr>
          <p:cNvPicPr>
            <a:picLocks noChangeAspect="1"/>
          </p:cNvPicPr>
          <p:nvPr/>
        </p:nvPicPr>
        <p:blipFill>
          <a:blip r:embed="rId2"/>
          <a:stretch>
            <a:fillRect/>
          </a:stretch>
        </p:blipFill>
        <p:spPr>
          <a:xfrm>
            <a:off x="4236423" y="182598"/>
            <a:ext cx="6843353" cy="6492803"/>
          </a:xfrm>
          <a:prstGeom prst="rect">
            <a:avLst/>
          </a:prstGeom>
        </p:spPr>
      </p:pic>
    </p:spTree>
    <p:extLst>
      <p:ext uri="{BB962C8B-B14F-4D97-AF65-F5344CB8AC3E}">
        <p14:creationId xmlns:p14="http://schemas.microsoft.com/office/powerpoint/2010/main" val="1455419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6001643"/>
          </a:xfrm>
          <a:prstGeom prst="rect">
            <a:avLst/>
          </a:prstGeom>
        </p:spPr>
        <p:txBody>
          <a:bodyPr wrap="square">
            <a:spAutoFit/>
          </a:bodyPr>
          <a:lstStyle/>
          <a:p>
            <a:r>
              <a:rPr lang="es-MX" dirty="0"/>
              <a:t> </a:t>
            </a:r>
            <a:r>
              <a:rPr lang="es-MX" sz="2400" b="1" dirty="0"/>
              <a:t>Cuándo utilizar VLSM y CIDR</a:t>
            </a:r>
          </a:p>
          <a:p>
            <a:endParaRPr lang="es-MX" dirty="0"/>
          </a:p>
          <a:p>
            <a:pPr lvl="0"/>
            <a:r>
              <a:rPr lang="es-MX" b="1" dirty="0"/>
              <a:t>VLSM: </a:t>
            </a:r>
            <a:r>
              <a:rPr lang="es-MX" dirty="0"/>
              <a:t>Ideal cuando se necesita segmentar una red interna en subredes de diferentes tamaños, haciendo un uso eficiente de un espacio de direcciones IP limitado. Se utiliza en situaciones en las que se necesitan redes de distintos tamaños.</a:t>
            </a:r>
          </a:p>
          <a:p>
            <a:pPr lvl="0"/>
            <a:endParaRPr lang="es-MX" dirty="0"/>
          </a:p>
          <a:p>
            <a:pPr lvl="0"/>
            <a:r>
              <a:rPr lang="es-MX" b="1" dirty="0"/>
              <a:t>CIDR:</a:t>
            </a:r>
            <a:r>
              <a:rPr lang="es-MX" dirty="0"/>
              <a:t> Es el más adecuado para asignar direcciones IP a </a:t>
            </a:r>
            <a:r>
              <a:rPr lang="es-MX" b="1" dirty="0"/>
              <a:t>ISP</a:t>
            </a:r>
            <a:r>
              <a:rPr lang="es-MX" dirty="0"/>
              <a:t> y grandes organizaciones y para agregar rutas con el fin de minimizar el tamaño de la tabla de enrutamiento global. Se utiliza al asignar bloques IP y gestionar rutas entre varias redes.</a:t>
            </a:r>
          </a:p>
          <a:p>
            <a:pPr lvl="0"/>
            <a:endParaRPr lang="es-MX" dirty="0"/>
          </a:p>
          <a:p>
            <a:r>
              <a:rPr lang="es-MX" b="1" dirty="0"/>
              <a:t>Conclusiones: Complementariedad en el mundo de las redes</a:t>
            </a:r>
          </a:p>
          <a:p>
            <a:endParaRPr lang="es-MX" dirty="0"/>
          </a:p>
          <a:p>
            <a:r>
              <a:rPr lang="es-MX" dirty="0"/>
              <a:t>Aunque VLSM y CIDR pueden parecer similares a primera vista, tienen propósitos distintos en el ámbito de las redes IP. </a:t>
            </a:r>
          </a:p>
          <a:p>
            <a:endParaRPr lang="es-MX" dirty="0"/>
          </a:p>
          <a:p>
            <a:r>
              <a:rPr lang="es-MX" dirty="0"/>
              <a:t>VLSM es el método más adecuado para organizar la red interna y maximizar la utilización de las direcciones IP. </a:t>
            </a:r>
          </a:p>
          <a:p>
            <a:endParaRPr lang="es-MX" dirty="0"/>
          </a:p>
          <a:p>
            <a:r>
              <a:rPr lang="es-MX" dirty="0"/>
              <a:t>Por el contrario, CIDR revoluciona la forma en que se asignan y gestionan las direcciones IP a escala global, lo que conduce a un enrutamiento más eficiente y a la escalabilidad de Internet.</a:t>
            </a:r>
          </a:p>
          <a:p>
            <a:endParaRPr lang="es-MX" dirty="0"/>
          </a:p>
        </p:txBody>
      </p:sp>
    </p:spTree>
    <p:extLst>
      <p:ext uri="{BB962C8B-B14F-4D97-AF65-F5344CB8AC3E}">
        <p14:creationId xmlns:p14="http://schemas.microsoft.com/office/powerpoint/2010/main" val="3116345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2308324"/>
          </a:xfrm>
          <a:prstGeom prst="rect">
            <a:avLst/>
          </a:prstGeom>
        </p:spPr>
        <p:txBody>
          <a:bodyPr wrap="square">
            <a:spAutoFit/>
          </a:bodyPr>
          <a:lstStyle/>
          <a:p>
            <a:r>
              <a:rPr lang="es-MX" dirty="0"/>
              <a:t> </a:t>
            </a:r>
          </a:p>
          <a:p>
            <a:r>
              <a:rPr lang="es-MX" dirty="0"/>
              <a:t>Comprender las diferencias entre VLSM y CIDR es vital para que los administradores y planificadores de redes gestionen y optimicen eficazmente sus recursos de direcciones IP y estrategias de enrutamiento. </a:t>
            </a:r>
          </a:p>
          <a:p>
            <a:endParaRPr lang="es-MX" dirty="0"/>
          </a:p>
          <a:p>
            <a:r>
              <a:rPr lang="es-MX" dirty="0"/>
              <a:t>Si se aprovechan los puntos fuertes de cada uno, se pueden garantizar diseños de red más eficientes, flexibles y escalables que satisfagan las exigencias de la arquitectura moderna de Internet.</a:t>
            </a:r>
          </a:p>
        </p:txBody>
      </p:sp>
    </p:spTree>
    <p:extLst>
      <p:ext uri="{BB962C8B-B14F-4D97-AF65-F5344CB8AC3E}">
        <p14:creationId xmlns:p14="http://schemas.microsoft.com/office/powerpoint/2010/main" val="1608096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1477328"/>
          </a:xfrm>
          <a:prstGeom prst="rect">
            <a:avLst/>
          </a:prstGeom>
        </p:spPr>
        <p:txBody>
          <a:bodyPr wrap="square">
            <a:spAutoFit/>
          </a:bodyPr>
          <a:lstStyle/>
          <a:p>
            <a:r>
              <a:rPr lang="es-MX" dirty="0"/>
              <a:t> </a:t>
            </a:r>
            <a:r>
              <a:rPr lang="es-MX" b="1" dirty="0"/>
              <a:t>Principales diferencias entre VLSM y CIDR</a:t>
            </a:r>
          </a:p>
          <a:p>
            <a:endParaRPr lang="es-MX" dirty="0"/>
          </a:p>
          <a:p>
            <a:r>
              <a:rPr lang="es-MX" dirty="0"/>
              <a:t>Aunque tanto CIDR como VLSM pretenden optimizar el uso del espacio de direcciones IP, operan en diferentes capas del diseño de red:</a:t>
            </a:r>
          </a:p>
          <a:p>
            <a:endParaRPr lang="es-MX" dirty="0"/>
          </a:p>
        </p:txBody>
      </p:sp>
      <p:graphicFrame>
        <p:nvGraphicFramePr>
          <p:cNvPr id="3" name="Tabla 2"/>
          <p:cNvGraphicFramePr>
            <a:graphicFrameLocks noGrp="1"/>
          </p:cNvGraphicFramePr>
          <p:nvPr>
            <p:extLst>
              <p:ext uri="{D42A27DB-BD31-4B8C-83A1-F6EECF244321}">
                <p14:modId xmlns:p14="http://schemas.microsoft.com/office/powerpoint/2010/main" val="3400617312"/>
              </p:ext>
            </p:extLst>
          </p:nvPr>
        </p:nvGraphicFramePr>
        <p:xfrm>
          <a:off x="366251" y="2064547"/>
          <a:ext cx="10867806" cy="4140311"/>
        </p:xfrm>
        <a:graphic>
          <a:graphicData uri="http://schemas.openxmlformats.org/drawingml/2006/table">
            <a:tbl>
              <a:tblPr firstRow="1" firstCol="1" bandRow="1">
                <a:tableStyleId>{5C22544A-7EE6-4342-B048-85BDC9FD1C3A}</a:tableStyleId>
              </a:tblPr>
              <a:tblGrid>
                <a:gridCol w="2049981">
                  <a:extLst>
                    <a:ext uri="{9D8B030D-6E8A-4147-A177-3AD203B41FA5}">
                      <a16:colId xmlns:a16="http://schemas.microsoft.com/office/drawing/2014/main" val="3450950838"/>
                    </a:ext>
                  </a:extLst>
                </a:gridCol>
                <a:gridCol w="4201011">
                  <a:extLst>
                    <a:ext uri="{9D8B030D-6E8A-4147-A177-3AD203B41FA5}">
                      <a16:colId xmlns:a16="http://schemas.microsoft.com/office/drawing/2014/main" val="162657086"/>
                    </a:ext>
                  </a:extLst>
                </a:gridCol>
                <a:gridCol w="4616814">
                  <a:extLst>
                    <a:ext uri="{9D8B030D-6E8A-4147-A177-3AD203B41FA5}">
                      <a16:colId xmlns:a16="http://schemas.microsoft.com/office/drawing/2014/main" val="138467477"/>
                    </a:ext>
                  </a:extLst>
                </a:gridCol>
              </a:tblGrid>
              <a:tr h="632974">
                <a:tc>
                  <a:txBody>
                    <a:bodyPr/>
                    <a:lstStyle/>
                    <a:p>
                      <a:pPr>
                        <a:lnSpc>
                          <a:spcPct val="107000"/>
                        </a:lnSpc>
                        <a:spcAft>
                          <a:spcPts val="0"/>
                        </a:spcAft>
                      </a:pPr>
                      <a:r>
                        <a:rPr lang="es-MX" sz="1800" dirty="0">
                          <a:effectLst/>
                        </a:rPr>
                        <a:t>Característica</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MX" sz="1800" dirty="0">
                          <a:effectLst/>
                        </a:rPr>
                        <a:t>VLSM</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MX" sz="1800" dirty="0">
                          <a:effectLst/>
                        </a:rPr>
                        <a:t>CIDR</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84819682"/>
                  </a:ext>
                </a:extLst>
              </a:tr>
              <a:tr h="958051">
                <a:tc>
                  <a:txBody>
                    <a:bodyPr/>
                    <a:lstStyle/>
                    <a:p>
                      <a:pPr>
                        <a:lnSpc>
                          <a:spcPct val="107000"/>
                        </a:lnSpc>
                        <a:spcAft>
                          <a:spcPts val="0"/>
                        </a:spcAft>
                      </a:pPr>
                      <a:r>
                        <a:rPr lang="es-MX" sz="1800">
                          <a:effectLst/>
                        </a:rPr>
                        <a:t>Propósito</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dirty="0">
                          <a:effectLst/>
                        </a:rPr>
                        <a:t>Optimiza la creación de subredes internas dentro de una red.</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a:effectLst/>
                        </a:rPr>
                        <a:t>Optimiza la asignación de direcciones IP externas y la agregación de rutas.</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28144161"/>
                  </a:ext>
                </a:extLst>
              </a:tr>
              <a:tr h="633184">
                <a:tc>
                  <a:txBody>
                    <a:bodyPr/>
                    <a:lstStyle/>
                    <a:p>
                      <a:pPr>
                        <a:lnSpc>
                          <a:spcPct val="107000"/>
                        </a:lnSpc>
                        <a:spcAft>
                          <a:spcPts val="0"/>
                        </a:spcAft>
                      </a:pPr>
                      <a:r>
                        <a:rPr lang="es-MX" sz="1800">
                          <a:effectLst/>
                        </a:rPr>
                        <a:t>Utilización</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dirty="0">
                          <a:effectLst/>
                        </a:rPr>
                        <a:t>Dentro de la red de una sola organización.</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dirty="0">
                          <a:effectLst/>
                        </a:rPr>
                        <a:t>En diferentes dominios de Internet.</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51135499"/>
                  </a:ext>
                </a:extLst>
              </a:tr>
              <a:tr h="958051">
                <a:tc>
                  <a:txBody>
                    <a:bodyPr/>
                    <a:lstStyle/>
                    <a:p>
                      <a:pPr>
                        <a:lnSpc>
                          <a:spcPct val="107000"/>
                        </a:lnSpc>
                        <a:spcAft>
                          <a:spcPts val="0"/>
                        </a:spcAft>
                      </a:pPr>
                      <a:r>
                        <a:rPr lang="es-MX" sz="1800">
                          <a:effectLst/>
                        </a:rPr>
                        <a:t>Flexibilidad</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a:effectLst/>
                        </a:rPr>
                        <a:t>Permite variar el tamaño de las subredes dentro de una misma red.</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dirty="0">
                          <a:effectLst/>
                        </a:rPr>
                        <a:t>Permite la asignación de direcciones IP en bloques de longitud variable.</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40003688"/>
                  </a:ext>
                </a:extLst>
              </a:tr>
              <a:tr h="958051">
                <a:tc>
                  <a:txBody>
                    <a:bodyPr/>
                    <a:lstStyle/>
                    <a:p>
                      <a:pPr>
                        <a:lnSpc>
                          <a:spcPct val="107000"/>
                        </a:lnSpc>
                        <a:spcAft>
                          <a:spcPts val="0"/>
                        </a:spcAft>
                      </a:pPr>
                      <a:r>
                        <a:rPr lang="es-MX" sz="1800">
                          <a:effectLst/>
                        </a:rPr>
                        <a:t>Dirección Clases</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a:effectLst/>
                        </a:rPr>
                        <a:t>Funciona dentro de las redes de clase, pero con más flexibilidad.</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dirty="0">
                          <a:effectLst/>
                        </a:rPr>
                        <a:t>Elimina por completo las distinciones de clase.</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72608441"/>
                  </a:ext>
                </a:extLst>
              </a:tr>
            </a:tbl>
          </a:graphicData>
        </a:graphic>
      </p:graphicFrame>
    </p:spTree>
    <p:extLst>
      <p:ext uri="{BB962C8B-B14F-4D97-AF65-F5344CB8AC3E}">
        <p14:creationId xmlns:p14="http://schemas.microsoft.com/office/powerpoint/2010/main" val="438129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l="36580" t="20446" r="17184" b="6046"/>
          <a:stretch/>
        </p:blipFill>
        <p:spPr>
          <a:xfrm>
            <a:off x="3697941" y="67235"/>
            <a:ext cx="8148917" cy="6743071"/>
          </a:xfrm>
          <a:prstGeom prst="rect">
            <a:avLst/>
          </a:prstGeom>
        </p:spPr>
      </p:pic>
      <p:sp>
        <p:nvSpPr>
          <p:cNvPr id="3" name="Rectángulo 2"/>
          <p:cNvSpPr/>
          <p:nvPr/>
        </p:nvSpPr>
        <p:spPr>
          <a:xfrm>
            <a:off x="334362" y="487713"/>
            <a:ext cx="3027403" cy="3170099"/>
          </a:xfrm>
          <a:prstGeom prst="rect">
            <a:avLst/>
          </a:prstGeom>
        </p:spPr>
        <p:txBody>
          <a:bodyPr wrap="square">
            <a:spAutoFit/>
          </a:bodyPr>
          <a:lstStyle/>
          <a:p>
            <a:r>
              <a:rPr lang="es-MX" sz="2000" b="1" dirty="0"/>
              <a:t>Ejercicio: </a:t>
            </a:r>
          </a:p>
          <a:p>
            <a:endParaRPr lang="es-MX" sz="2000" b="1" dirty="0"/>
          </a:p>
          <a:p>
            <a:r>
              <a:rPr lang="es-MX" sz="2000" b="1" dirty="0"/>
              <a:t>Para la siguiente topología de red y la dirección IP 192.168.40.0/24 obtén con VLSM el direccionamiento IP para los host de cada subred</a:t>
            </a:r>
          </a:p>
        </p:txBody>
      </p:sp>
    </p:spTree>
    <p:extLst>
      <p:ext uri="{BB962C8B-B14F-4D97-AF65-F5344CB8AC3E}">
        <p14:creationId xmlns:p14="http://schemas.microsoft.com/office/powerpoint/2010/main" val="41564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13882" y="2117521"/>
            <a:ext cx="1466887" cy="671915"/>
          </a:xfrm>
          <a:prstGeom prst="rect">
            <a:avLst/>
          </a:prstGeom>
        </p:spPr>
        <p:txBody>
          <a:bodyPr wrap="square">
            <a:spAutoFit/>
          </a:bodyPr>
          <a:lstStyle/>
          <a:p>
            <a:pPr algn="ct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192.168.40.0 </a:t>
            </a:r>
          </a:p>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256-2 nodos</a:t>
            </a:r>
          </a:p>
        </p:txBody>
      </p:sp>
      <p:sp>
        <p:nvSpPr>
          <p:cNvPr id="8" name="CuadroTexto 7">
            <a:extLst>
              <a:ext uri="{FF2B5EF4-FFF2-40B4-BE49-F238E27FC236}">
                <a16:creationId xmlns:a16="http://schemas.microsoft.com/office/drawing/2014/main" id="{9D2A1FF1-0232-32F9-5E5A-776C5D119304}"/>
              </a:ext>
            </a:extLst>
          </p:cNvPr>
          <p:cNvSpPr txBox="1"/>
          <p:nvPr/>
        </p:nvSpPr>
        <p:spPr>
          <a:xfrm>
            <a:off x="10003563" y="4380111"/>
            <a:ext cx="2264637" cy="2450094"/>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s-MX"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8-2 nodos</a:t>
            </a: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5</a:t>
            </a: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s-MX"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a:t>
            </a:r>
          </a:p>
          <a:p>
            <a:pP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8-2 nodos</a:t>
            </a: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CuadroTexto 9">
            <a:extLst>
              <a:ext uri="{FF2B5EF4-FFF2-40B4-BE49-F238E27FC236}">
                <a16:creationId xmlns:a16="http://schemas.microsoft.com/office/drawing/2014/main" id="{EEA6399B-573F-D4CA-4571-BD730D5E2FB6}"/>
              </a:ext>
            </a:extLst>
          </p:cNvPr>
          <p:cNvSpPr txBox="1"/>
          <p:nvPr/>
        </p:nvSpPr>
        <p:spPr>
          <a:xfrm>
            <a:off x="1771650" y="631826"/>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25 bits</a:t>
            </a:r>
          </a:p>
        </p:txBody>
      </p:sp>
      <p:sp>
        <p:nvSpPr>
          <p:cNvPr id="12" name="CuadroTexto 11">
            <a:extLst>
              <a:ext uri="{FF2B5EF4-FFF2-40B4-BE49-F238E27FC236}">
                <a16:creationId xmlns:a16="http://schemas.microsoft.com/office/drawing/2014/main" id="{2AF92539-AD2C-EED3-A81E-018EAF81C766}"/>
              </a:ext>
            </a:extLst>
          </p:cNvPr>
          <p:cNvSpPr txBox="1"/>
          <p:nvPr/>
        </p:nvSpPr>
        <p:spPr>
          <a:xfrm>
            <a:off x="1239095" y="1402506"/>
            <a:ext cx="2426494" cy="2153731"/>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000 0000</a:t>
            </a:r>
          </a:p>
          <a:p>
            <a:pPr algn="ct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128-2 nodos</a:t>
            </a: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100</a:t>
            </a:r>
          </a:p>
          <a:p>
            <a:pPr>
              <a:lnSpc>
                <a:spcPct val="107000"/>
              </a:lnSpc>
            </a:pPr>
            <a:endParaRPr lang="es-MX"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000 0000</a:t>
            </a:r>
          </a:p>
          <a:p>
            <a:pP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128-2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CuadroTexto 12">
            <a:extLst>
              <a:ext uri="{FF2B5EF4-FFF2-40B4-BE49-F238E27FC236}">
                <a16:creationId xmlns:a16="http://schemas.microsoft.com/office/drawing/2014/main" id="{63A68109-7177-560B-490B-7E6CD204F70F}"/>
              </a:ext>
            </a:extLst>
          </p:cNvPr>
          <p:cNvSpPr txBox="1"/>
          <p:nvPr/>
        </p:nvSpPr>
        <p:spPr>
          <a:xfrm>
            <a:off x="85688" y="644527"/>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24 bits</a:t>
            </a:r>
          </a:p>
        </p:txBody>
      </p:sp>
      <p:sp>
        <p:nvSpPr>
          <p:cNvPr id="14" name="CuadroTexto 13">
            <a:extLst>
              <a:ext uri="{FF2B5EF4-FFF2-40B4-BE49-F238E27FC236}">
                <a16:creationId xmlns:a16="http://schemas.microsoft.com/office/drawing/2014/main" id="{4835BBEA-B3C5-D704-6A2A-A48E8206853E}"/>
              </a:ext>
            </a:extLst>
          </p:cNvPr>
          <p:cNvSpPr txBox="1"/>
          <p:nvPr/>
        </p:nvSpPr>
        <p:spPr>
          <a:xfrm>
            <a:off x="8169968" y="2601660"/>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28 bits</a:t>
            </a:r>
          </a:p>
        </p:txBody>
      </p:sp>
      <p:sp>
        <p:nvSpPr>
          <p:cNvPr id="16" name="CuadroTexto 15">
            <a:extLst>
              <a:ext uri="{FF2B5EF4-FFF2-40B4-BE49-F238E27FC236}">
                <a16:creationId xmlns:a16="http://schemas.microsoft.com/office/drawing/2014/main" id="{77EACFD8-2BE5-1AB8-EB04-B8522BE882BF}"/>
              </a:ext>
            </a:extLst>
          </p:cNvPr>
          <p:cNvSpPr txBox="1"/>
          <p:nvPr/>
        </p:nvSpPr>
        <p:spPr>
          <a:xfrm>
            <a:off x="3421194" y="2156174"/>
            <a:ext cx="2426494" cy="2450094"/>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64-2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40</a:t>
            </a:r>
          </a:p>
          <a:p>
            <a:pPr>
              <a:lnSpc>
                <a:spcPct val="107000"/>
              </a:lnSpc>
            </a:pPr>
            <a:endParaRPr lang="es-MX"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00 0000</a:t>
            </a:r>
          </a:p>
          <a:p>
            <a:pP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64-2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0DC80410-1BE8-C5B6-5C4E-49A2B042A2E4}"/>
              </a:ext>
            </a:extLst>
          </p:cNvPr>
          <p:cNvSpPr txBox="1"/>
          <p:nvPr/>
        </p:nvSpPr>
        <p:spPr>
          <a:xfrm>
            <a:off x="5610717" y="2884791"/>
            <a:ext cx="2502693" cy="2153731"/>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32-2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22</a:t>
            </a: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00000</a:t>
            </a:r>
          </a:p>
          <a:p>
            <a:pP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32-2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CuadroTexto 19">
            <a:extLst>
              <a:ext uri="{FF2B5EF4-FFF2-40B4-BE49-F238E27FC236}">
                <a16:creationId xmlns:a16="http://schemas.microsoft.com/office/drawing/2014/main" id="{F14C0CC1-0AE1-D39D-6C50-605ACEA11D8F}"/>
              </a:ext>
            </a:extLst>
          </p:cNvPr>
          <p:cNvSpPr txBox="1"/>
          <p:nvPr/>
        </p:nvSpPr>
        <p:spPr>
          <a:xfrm>
            <a:off x="7808258" y="3619660"/>
            <a:ext cx="2431255" cy="2153731"/>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16-2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10</a:t>
            </a:r>
          </a:p>
          <a:p>
            <a:pPr>
              <a:lnSpc>
                <a:spcPct val="107000"/>
              </a:lnSpc>
            </a:pPr>
            <a:endParaRPr lang="es-MX"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0000</a:t>
            </a:r>
          </a:p>
          <a:p>
            <a:pP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16-2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Abrir llave 20">
            <a:extLst>
              <a:ext uri="{FF2B5EF4-FFF2-40B4-BE49-F238E27FC236}">
                <a16:creationId xmlns:a16="http://schemas.microsoft.com/office/drawing/2014/main" id="{63533C39-8343-AE0A-ED49-783D5BFBD740}"/>
              </a:ext>
            </a:extLst>
          </p:cNvPr>
          <p:cNvSpPr/>
          <p:nvPr/>
        </p:nvSpPr>
        <p:spPr>
          <a:xfrm>
            <a:off x="1237941" y="1571625"/>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6" name="Abrir llave 25">
            <a:extLst>
              <a:ext uri="{FF2B5EF4-FFF2-40B4-BE49-F238E27FC236}">
                <a16:creationId xmlns:a16="http://schemas.microsoft.com/office/drawing/2014/main" id="{9AC09754-E74E-85D0-8B70-0381979C2E4C}"/>
              </a:ext>
            </a:extLst>
          </p:cNvPr>
          <p:cNvSpPr/>
          <p:nvPr/>
        </p:nvSpPr>
        <p:spPr>
          <a:xfrm>
            <a:off x="3430794" y="2324099"/>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7" name="Abrir llave 26">
            <a:extLst>
              <a:ext uri="{FF2B5EF4-FFF2-40B4-BE49-F238E27FC236}">
                <a16:creationId xmlns:a16="http://schemas.microsoft.com/office/drawing/2014/main" id="{8E24DF0C-DC31-24E4-D216-47B3C6BAB392}"/>
              </a:ext>
            </a:extLst>
          </p:cNvPr>
          <p:cNvSpPr/>
          <p:nvPr/>
        </p:nvSpPr>
        <p:spPr>
          <a:xfrm>
            <a:off x="5614150" y="3067978"/>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8" name="Abrir llave 27">
            <a:extLst>
              <a:ext uri="{FF2B5EF4-FFF2-40B4-BE49-F238E27FC236}">
                <a16:creationId xmlns:a16="http://schemas.microsoft.com/office/drawing/2014/main" id="{EF0A9799-3D15-B0EA-089C-B260949548CB}"/>
              </a:ext>
            </a:extLst>
          </p:cNvPr>
          <p:cNvSpPr/>
          <p:nvPr/>
        </p:nvSpPr>
        <p:spPr>
          <a:xfrm>
            <a:off x="7792816" y="3801404"/>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9" name="Abrir llave 28">
            <a:extLst>
              <a:ext uri="{FF2B5EF4-FFF2-40B4-BE49-F238E27FC236}">
                <a16:creationId xmlns:a16="http://schemas.microsoft.com/office/drawing/2014/main" id="{77C2B498-2D7B-5D83-8A66-8144346DC9CC}"/>
              </a:ext>
            </a:extLst>
          </p:cNvPr>
          <p:cNvSpPr/>
          <p:nvPr/>
        </p:nvSpPr>
        <p:spPr>
          <a:xfrm>
            <a:off x="9950793" y="4563405"/>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32" name="CuadroTexto 31">
            <a:extLst>
              <a:ext uri="{FF2B5EF4-FFF2-40B4-BE49-F238E27FC236}">
                <a16:creationId xmlns:a16="http://schemas.microsoft.com/office/drawing/2014/main" id="{5930D759-FF61-290D-925E-0482B4093309}"/>
              </a:ext>
            </a:extLst>
          </p:cNvPr>
          <p:cNvSpPr txBox="1"/>
          <p:nvPr/>
        </p:nvSpPr>
        <p:spPr>
          <a:xfrm>
            <a:off x="6096000" y="1962146"/>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27 bits</a:t>
            </a:r>
          </a:p>
        </p:txBody>
      </p:sp>
      <p:sp>
        <p:nvSpPr>
          <p:cNvPr id="33" name="CuadroTexto 32">
            <a:extLst>
              <a:ext uri="{FF2B5EF4-FFF2-40B4-BE49-F238E27FC236}">
                <a16:creationId xmlns:a16="http://schemas.microsoft.com/office/drawing/2014/main" id="{97F21E29-0FEF-6B53-6841-E8D8DCB990BD}"/>
              </a:ext>
            </a:extLst>
          </p:cNvPr>
          <p:cNvSpPr txBox="1"/>
          <p:nvPr/>
        </p:nvSpPr>
        <p:spPr>
          <a:xfrm>
            <a:off x="4312242" y="1462039"/>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26 bits</a:t>
            </a:r>
          </a:p>
        </p:txBody>
      </p:sp>
      <p:sp>
        <p:nvSpPr>
          <p:cNvPr id="34" name="CuadroTexto 33">
            <a:extLst>
              <a:ext uri="{FF2B5EF4-FFF2-40B4-BE49-F238E27FC236}">
                <a16:creationId xmlns:a16="http://schemas.microsoft.com/office/drawing/2014/main" id="{093CBBE6-00B0-D7F6-0D30-E05E2BEDDCD1}"/>
              </a:ext>
            </a:extLst>
          </p:cNvPr>
          <p:cNvSpPr txBox="1"/>
          <p:nvPr/>
        </p:nvSpPr>
        <p:spPr>
          <a:xfrm>
            <a:off x="10447716" y="3245646"/>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29 bits</a:t>
            </a:r>
          </a:p>
        </p:txBody>
      </p:sp>
    </p:spTree>
    <p:extLst>
      <p:ext uri="{BB962C8B-B14F-4D97-AF65-F5344CB8AC3E}">
        <p14:creationId xmlns:p14="http://schemas.microsoft.com/office/powerpoint/2010/main" val="4164423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5">
            <a:extLst>
              <a:ext uri="{FF2B5EF4-FFF2-40B4-BE49-F238E27FC236}">
                <a16:creationId xmlns:a16="http://schemas.microsoft.com/office/drawing/2014/main" id="{3B2CEC60-19D7-17CC-E9D4-1528E0671D59}"/>
              </a:ext>
            </a:extLst>
          </p:cNvPr>
          <p:cNvGraphicFramePr>
            <a:graphicFrameLocks noGrp="1"/>
          </p:cNvGraphicFramePr>
          <p:nvPr>
            <p:extLst>
              <p:ext uri="{D42A27DB-BD31-4B8C-83A1-F6EECF244321}">
                <p14:modId xmlns:p14="http://schemas.microsoft.com/office/powerpoint/2010/main" val="2258402939"/>
              </p:ext>
            </p:extLst>
          </p:nvPr>
        </p:nvGraphicFramePr>
        <p:xfrm>
          <a:off x="992642" y="2102194"/>
          <a:ext cx="10132556" cy="3386265"/>
        </p:xfrm>
        <a:graphic>
          <a:graphicData uri="http://schemas.openxmlformats.org/drawingml/2006/table">
            <a:tbl>
              <a:tblPr firstRow="1" firstCol="1" bandRow="1">
                <a:tableStyleId>{5C22544A-7EE6-4342-B048-85BDC9FD1C3A}</a:tableStyleId>
              </a:tblPr>
              <a:tblGrid>
                <a:gridCol w="831224">
                  <a:extLst>
                    <a:ext uri="{9D8B030D-6E8A-4147-A177-3AD203B41FA5}">
                      <a16:colId xmlns:a16="http://schemas.microsoft.com/office/drawing/2014/main" val="2302045383"/>
                    </a:ext>
                  </a:extLst>
                </a:gridCol>
                <a:gridCol w="585959">
                  <a:extLst>
                    <a:ext uri="{9D8B030D-6E8A-4147-A177-3AD203B41FA5}">
                      <a16:colId xmlns:a16="http://schemas.microsoft.com/office/drawing/2014/main" val="3713811543"/>
                    </a:ext>
                  </a:extLst>
                </a:gridCol>
                <a:gridCol w="998257">
                  <a:extLst>
                    <a:ext uri="{9D8B030D-6E8A-4147-A177-3AD203B41FA5}">
                      <a16:colId xmlns:a16="http://schemas.microsoft.com/office/drawing/2014/main" val="2393434225"/>
                    </a:ext>
                  </a:extLst>
                </a:gridCol>
                <a:gridCol w="637039">
                  <a:extLst>
                    <a:ext uri="{9D8B030D-6E8A-4147-A177-3AD203B41FA5}">
                      <a16:colId xmlns:a16="http://schemas.microsoft.com/office/drawing/2014/main" val="1971026643"/>
                    </a:ext>
                  </a:extLst>
                </a:gridCol>
                <a:gridCol w="722257">
                  <a:extLst>
                    <a:ext uri="{9D8B030D-6E8A-4147-A177-3AD203B41FA5}">
                      <a16:colId xmlns:a16="http://schemas.microsoft.com/office/drawing/2014/main" val="2952114619"/>
                    </a:ext>
                  </a:extLst>
                </a:gridCol>
                <a:gridCol w="2025673">
                  <a:extLst>
                    <a:ext uri="{9D8B030D-6E8A-4147-A177-3AD203B41FA5}">
                      <a16:colId xmlns:a16="http://schemas.microsoft.com/office/drawing/2014/main" val="120784140"/>
                    </a:ext>
                  </a:extLst>
                </a:gridCol>
                <a:gridCol w="2177949">
                  <a:extLst>
                    <a:ext uri="{9D8B030D-6E8A-4147-A177-3AD203B41FA5}">
                      <a16:colId xmlns:a16="http://schemas.microsoft.com/office/drawing/2014/main" val="3348634526"/>
                    </a:ext>
                  </a:extLst>
                </a:gridCol>
                <a:gridCol w="2154198">
                  <a:extLst>
                    <a:ext uri="{9D8B030D-6E8A-4147-A177-3AD203B41FA5}">
                      <a16:colId xmlns:a16="http://schemas.microsoft.com/office/drawing/2014/main" val="1722685656"/>
                    </a:ext>
                  </a:extLst>
                </a:gridCol>
              </a:tblGrid>
              <a:tr h="547104">
                <a:tc>
                  <a:txBody>
                    <a:bodyPr/>
                    <a:lstStyle/>
                    <a:p>
                      <a:pPr>
                        <a:lnSpc>
                          <a:spcPct val="150000"/>
                        </a:lnSpc>
                        <a:spcAft>
                          <a:spcPts val="0"/>
                        </a:spcAft>
                      </a:pPr>
                      <a:r>
                        <a:rPr lang="es-MX" sz="1800" kern="100" dirty="0">
                          <a:effectLst/>
                        </a:rPr>
                        <a:t>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#n</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Max</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Bits host</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err="1">
                          <a:effectLst/>
                        </a:rPr>
                        <a:t>masc</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IP red</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IP inicio</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IP fin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2253850508"/>
                  </a:ext>
                </a:extLst>
              </a:tr>
              <a:tr h="541147">
                <a:tc>
                  <a:txBody>
                    <a:bodyPr/>
                    <a:lstStyle/>
                    <a:p>
                      <a:pPr>
                        <a:lnSpc>
                          <a:spcPct val="150000"/>
                        </a:lnSpc>
                        <a:spcAft>
                          <a:spcPts val="0"/>
                        </a:spcAft>
                      </a:pPr>
                      <a:r>
                        <a:rPr lang="es-MX" sz="1800" kern="100" dirty="0" err="1">
                          <a:effectLst/>
                        </a:rPr>
                        <a:t>Lan</a:t>
                      </a:r>
                      <a:r>
                        <a:rPr lang="es-MX" sz="1800" kern="100" dirty="0">
                          <a:effectLst/>
                        </a:rPr>
                        <a:t> 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100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128-2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7</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192.168.40.100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3708287412"/>
                  </a:ext>
                </a:extLst>
              </a:tr>
              <a:tr h="523875">
                <a:tc>
                  <a:txBody>
                    <a:bodyPr/>
                    <a:lstStyle/>
                    <a:p>
                      <a:pPr>
                        <a:lnSpc>
                          <a:spcPct val="150000"/>
                        </a:lnSpc>
                        <a:spcAft>
                          <a:spcPts val="0"/>
                        </a:spcAft>
                      </a:pPr>
                      <a:r>
                        <a:rPr lang="es-MX" sz="1800" kern="100" dirty="0" err="1">
                          <a:effectLst/>
                        </a:rPr>
                        <a:t>Lan</a:t>
                      </a:r>
                      <a:r>
                        <a:rPr lang="es-MX" sz="1800" kern="100" dirty="0">
                          <a:effectLst/>
                        </a:rPr>
                        <a:t> 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a:effectLst/>
                        </a:rPr>
                        <a:t>40</a:t>
                      </a:r>
                      <a:endParaRPr lang="es-MX"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64-2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a:effectLst/>
                        </a:rPr>
                        <a:t>6</a:t>
                      </a:r>
                      <a:endParaRPr lang="es-MX"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26</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192.168.40.128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192.168.40.129</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192.168.40.168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963403024"/>
                  </a:ext>
                </a:extLst>
              </a:tr>
              <a:tr h="514350">
                <a:tc>
                  <a:txBody>
                    <a:bodyPr/>
                    <a:lstStyle/>
                    <a:p>
                      <a:pPr>
                        <a:lnSpc>
                          <a:spcPct val="150000"/>
                        </a:lnSpc>
                        <a:spcAft>
                          <a:spcPts val="0"/>
                        </a:spcAft>
                      </a:pPr>
                      <a:r>
                        <a:rPr lang="es-MX" sz="1800" kern="100" dirty="0" err="1">
                          <a:effectLst/>
                        </a:rPr>
                        <a:t>Lan</a:t>
                      </a:r>
                      <a:r>
                        <a:rPr lang="es-MX" sz="1800" kern="100" dirty="0">
                          <a:effectLst/>
                        </a:rPr>
                        <a:t> 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32-2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a:effectLst/>
                        </a:rPr>
                        <a:t>27</a:t>
                      </a:r>
                      <a:endParaRPr lang="es-MX"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192.168.40.192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192.168.40.193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192.168.40.214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3174516102"/>
                  </a:ext>
                </a:extLst>
              </a:tr>
              <a:tr h="514350">
                <a:tc>
                  <a:txBody>
                    <a:bodyPr/>
                    <a:lstStyle/>
                    <a:p>
                      <a:pPr>
                        <a:lnSpc>
                          <a:spcPct val="150000"/>
                        </a:lnSpc>
                        <a:spcAft>
                          <a:spcPts val="0"/>
                        </a:spcAft>
                      </a:pPr>
                      <a:r>
                        <a:rPr lang="es-MX" sz="1800" kern="100" dirty="0" err="1">
                          <a:effectLst/>
                        </a:rPr>
                        <a:t>Lan</a:t>
                      </a:r>
                      <a:r>
                        <a:rPr lang="es-MX" sz="1800" kern="100" dirty="0">
                          <a:effectLst/>
                        </a:rPr>
                        <a:t> 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16-2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192.168.40.224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192.168.40.225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192.168.40.234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2392094949"/>
                  </a:ext>
                </a:extLst>
              </a:tr>
              <a:tr h="514350">
                <a:tc>
                  <a:txBody>
                    <a:bodyPr/>
                    <a:lstStyle/>
                    <a:p>
                      <a:pPr>
                        <a:lnSpc>
                          <a:spcPct val="150000"/>
                        </a:lnSpc>
                        <a:spcAft>
                          <a:spcPts val="0"/>
                        </a:spcAft>
                      </a:pPr>
                      <a:r>
                        <a:rPr lang="es-MX" sz="1800" kern="100" dirty="0" err="1">
                          <a:effectLst/>
                        </a:rPr>
                        <a:t>Lan</a:t>
                      </a:r>
                      <a:r>
                        <a:rPr lang="es-MX" sz="1800" kern="100" dirty="0">
                          <a:effectLst/>
                        </a:rPr>
                        <a:t> 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8-2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29</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192.168.40.240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192.168.40.241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192.168.40.245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290106689"/>
                  </a:ext>
                </a:extLst>
              </a:tr>
            </a:tbl>
          </a:graphicData>
        </a:graphic>
      </p:graphicFrame>
    </p:spTree>
    <p:extLst>
      <p:ext uri="{BB962C8B-B14F-4D97-AF65-F5344CB8AC3E}">
        <p14:creationId xmlns:p14="http://schemas.microsoft.com/office/powerpoint/2010/main" val="2887569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55985" y="252581"/>
            <a:ext cx="10142049" cy="3447098"/>
          </a:xfrm>
          <a:prstGeom prst="rect">
            <a:avLst/>
          </a:prstGeom>
        </p:spPr>
        <p:txBody>
          <a:bodyPr wrap="square">
            <a:spAutoFit/>
          </a:bodyPr>
          <a:lstStyle/>
          <a:p>
            <a:r>
              <a:rPr lang="es-MX" sz="2000" b="1" dirty="0"/>
              <a:t>Ejercicio 4: </a:t>
            </a:r>
            <a:r>
              <a:rPr lang="es-MX" dirty="0"/>
              <a:t>Dada la siguiente topología y la dirección IP 192.168.1.0/24, se pide que por medio VLSM obtenga el direccionamiento IP para los hosts de las 3 subredes, las interfaces Ethernet de los </a:t>
            </a:r>
            <a:r>
              <a:rPr lang="es-MX" dirty="0" err="1"/>
              <a:t>routers</a:t>
            </a:r>
            <a:r>
              <a:rPr lang="es-MX" dirty="0"/>
              <a:t> y los enlaces seriales entre los </a:t>
            </a:r>
            <a:r>
              <a:rPr lang="es-MX" dirty="0" err="1"/>
              <a:t>routers</a:t>
            </a:r>
            <a:r>
              <a:rPr lang="es-MX" dirty="0"/>
              <a:t>. </a:t>
            </a:r>
          </a:p>
          <a:p>
            <a:endParaRPr lang="es-MX" dirty="0"/>
          </a:p>
          <a:p>
            <a:r>
              <a:rPr lang="es-MX" b="1" dirty="0"/>
              <a:t>Red 1: </a:t>
            </a:r>
            <a:r>
              <a:rPr lang="es-MX" dirty="0"/>
              <a:t>20 host + 2 (red y </a:t>
            </a:r>
            <a:r>
              <a:rPr lang="es-MX" dirty="0" err="1"/>
              <a:t>broadcast</a:t>
            </a:r>
            <a:r>
              <a:rPr lang="es-MX" dirty="0"/>
              <a:t>) + 1(Ethernet) = </a:t>
            </a:r>
            <a:r>
              <a:rPr lang="es-MX" b="1" dirty="0"/>
              <a:t>23 direcciones </a:t>
            </a:r>
          </a:p>
          <a:p>
            <a:r>
              <a:rPr lang="es-MX" b="1" dirty="0"/>
              <a:t>Red 2: </a:t>
            </a:r>
            <a:r>
              <a:rPr lang="es-MX" dirty="0"/>
              <a:t>100 host + 2 (red y </a:t>
            </a:r>
            <a:r>
              <a:rPr lang="es-MX" dirty="0" err="1"/>
              <a:t>broadcast</a:t>
            </a:r>
            <a:r>
              <a:rPr lang="es-MX" dirty="0"/>
              <a:t>) + 1(Ethernet) = </a:t>
            </a:r>
            <a:r>
              <a:rPr lang="es-MX" b="1" dirty="0"/>
              <a:t>103 direcciones </a:t>
            </a:r>
            <a:endParaRPr lang="es-MX" dirty="0"/>
          </a:p>
          <a:p>
            <a:r>
              <a:rPr lang="es-MX" b="1" dirty="0"/>
              <a:t>Red 3: </a:t>
            </a:r>
            <a:r>
              <a:rPr lang="es-MX" dirty="0"/>
              <a:t>50 host + 2 (red y </a:t>
            </a:r>
            <a:r>
              <a:rPr lang="es-MX" dirty="0" err="1"/>
              <a:t>broadcast</a:t>
            </a:r>
            <a:r>
              <a:rPr lang="es-MX" dirty="0"/>
              <a:t>) + 1(Ethernet) = </a:t>
            </a:r>
            <a:r>
              <a:rPr lang="es-MX" b="1" dirty="0"/>
              <a:t>53 direcciones </a:t>
            </a:r>
            <a:endParaRPr lang="es-MX" dirty="0"/>
          </a:p>
          <a:p>
            <a:r>
              <a:rPr lang="es-MX" b="1" dirty="0"/>
              <a:t>Enlace A: </a:t>
            </a:r>
            <a:r>
              <a:rPr lang="es-MX" dirty="0"/>
              <a:t>2 + 2 (red y </a:t>
            </a:r>
            <a:r>
              <a:rPr lang="es-MX" dirty="0" err="1"/>
              <a:t>broadcast</a:t>
            </a:r>
            <a:r>
              <a:rPr lang="es-MX" dirty="0"/>
              <a:t>) = </a:t>
            </a:r>
            <a:r>
              <a:rPr lang="es-MX" b="1" dirty="0"/>
              <a:t>4 direcciones </a:t>
            </a:r>
          </a:p>
          <a:p>
            <a:r>
              <a:rPr lang="es-MX" b="1" dirty="0"/>
              <a:t>Enlace B: </a:t>
            </a:r>
            <a:r>
              <a:rPr lang="es-MX" dirty="0"/>
              <a:t>2 + 2 (red y </a:t>
            </a:r>
            <a:r>
              <a:rPr lang="es-MX" dirty="0" err="1"/>
              <a:t>broadcast</a:t>
            </a:r>
            <a:r>
              <a:rPr lang="es-MX" dirty="0"/>
              <a:t>) = </a:t>
            </a:r>
            <a:r>
              <a:rPr lang="es-MX" b="1" dirty="0"/>
              <a:t>4 direcciones </a:t>
            </a:r>
          </a:p>
          <a:p>
            <a:r>
              <a:rPr lang="es-MX" b="1" dirty="0"/>
              <a:t>Enlace C: </a:t>
            </a:r>
            <a:r>
              <a:rPr lang="es-MX" dirty="0"/>
              <a:t>2 + 2 (red y </a:t>
            </a:r>
            <a:r>
              <a:rPr lang="es-MX" dirty="0" err="1"/>
              <a:t>broadcast</a:t>
            </a:r>
            <a:r>
              <a:rPr lang="es-MX" dirty="0"/>
              <a:t>) = </a:t>
            </a:r>
            <a:r>
              <a:rPr lang="es-MX" b="1" dirty="0"/>
              <a:t>4 direcciones </a:t>
            </a:r>
            <a:endParaRPr lang="es-MX" dirty="0"/>
          </a:p>
          <a:p>
            <a:endParaRPr lang="es-MX" b="1" dirty="0"/>
          </a:p>
          <a:p>
            <a:r>
              <a:rPr lang="es-MX" b="1" dirty="0"/>
              <a:t>Total de 191 direcciones </a:t>
            </a:r>
            <a:endParaRPr lang="es-MX" sz="2000" b="1" dirty="0"/>
          </a:p>
        </p:txBody>
      </p:sp>
      <p:pic>
        <p:nvPicPr>
          <p:cNvPr id="4" name="Imagen 3"/>
          <p:cNvPicPr>
            <a:picLocks noChangeAspect="1"/>
          </p:cNvPicPr>
          <p:nvPr/>
        </p:nvPicPr>
        <p:blipFill rotWithShape="1">
          <a:blip r:embed="rId2"/>
          <a:srcRect l="35275" t="35089" r="16334" b="19018"/>
          <a:stretch/>
        </p:blipFill>
        <p:spPr>
          <a:xfrm>
            <a:off x="5327009" y="3080288"/>
            <a:ext cx="6766560" cy="3607897"/>
          </a:xfrm>
          <a:prstGeom prst="rect">
            <a:avLst/>
          </a:prstGeom>
        </p:spPr>
      </p:pic>
    </p:spTree>
    <p:extLst>
      <p:ext uri="{BB962C8B-B14F-4D97-AF65-F5344CB8AC3E}">
        <p14:creationId xmlns:p14="http://schemas.microsoft.com/office/powerpoint/2010/main" val="2200041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13882" y="1765096"/>
            <a:ext cx="1466887" cy="671915"/>
          </a:xfrm>
          <a:prstGeom prst="rect">
            <a:avLst/>
          </a:prstGeom>
        </p:spPr>
        <p:txBody>
          <a:bodyPr wrap="square">
            <a:spAutoFit/>
          </a:bodyPr>
          <a:lstStyle/>
          <a:p>
            <a:pPr algn="ct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192.168.40.0 </a:t>
            </a:r>
          </a:p>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256-2 nodos</a:t>
            </a:r>
          </a:p>
        </p:txBody>
      </p:sp>
      <p:sp>
        <p:nvSpPr>
          <p:cNvPr id="10" name="CuadroTexto 9">
            <a:extLst>
              <a:ext uri="{FF2B5EF4-FFF2-40B4-BE49-F238E27FC236}">
                <a16:creationId xmlns:a16="http://schemas.microsoft.com/office/drawing/2014/main" id="{EEA6399B-573F-D4CA-4571-BD730D5E2FB6}"/>
              </a:ext>
            </a:extLst>
          </p:cNvPr>
          <p:cNvSpPr txBox="1"/>
          <p:nvPr/>
        </p:nvSpPr>
        <p:spPr>
          <a:xfrm>
            <a:off x="1771650" y="279401"/>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25 bits</a:t>
            </a:r>
          </a:p>
        </p:txBody>
      </p:sp>
      <p:sp>
        <p:nvSpPr>
          <p:cNvPr id="12" name="CuadroTexto 11">
            <a:extLst>
              <a:ext uri="{FF2B5EF4-FFF2-40B4-BE49-F238E27FC236}">
                <a16:creationId xmlns:a16="http://schemas.microsoft.com/office/drawing/2014/main" id="{2AF92539-AD2C-EED3-A81E-018EAF81C766}"/>
              </a:ext>
            </a:extLst>
          </p:cNvPr>
          <p:cNvSpPr txBox="1"/>
          <p:nvPr/>
        </p:nvSpPr>
        <p:spPr>
          <a:xfrm>
            <a:off x="1239095" y="1050081"/>
            <a:ext cx="2426494" cy="2450094"/>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000 0000</a:t>
            </a:r>
          </a:p>
          <a:p>
            <a:pPr algn="ct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128 - direcciones</a:t>
            </a: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103</a:t>
            </a:r>
          </a:p>
          <a:p>
            <a:pPr>
              <a:lnSpc>
                <a:spcPct val="107000"/>
              </a:lnSpc>
            </a:pPr>
            <a:endParaRPr lang="es-MX"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128 -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CuadroTexto 12">
            <a:extLst>
              <a:ext uri="{FF2B5EF4-FFF2-40B4-BE49-F238E27FC236}">
                <a16:creationId xmlns:a16="http://schemas.microsoft.com/office/drawing/2014/main" id="{63A68109-7177-560B-490B-7E6CD204F70F}"/>
              </a:ext>
            </a:extLst>
          </p:cNvPr>
          <p:cNvSpPr txBox="1"/>
          <p:nvPr/>
        </p:nvSpPr>
        <p:spPr>
          <a:xfrm>
            <a:off x="85688" y="292102"/>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24 bits</a:t>
            </a:r>
          </a:p>
        </p:txBody>
      </p:sp>
      <p:sp>
        <p:nvSpPr>
          <p:cNvPr id="14" name="CuadroTexto 13">
            <a:extLst>
              <a:ext uri="{FF2B5EF4-FFF2-40B4-BE49-F238E27FC236}">
                <a16:creationId xmlns:a16="http://schemas.microsoft.com/office/drawing/2014/main" id="{4835BBEA-B3C5-D704-6A2A-A48E8206853E}"/>
              </a:ext>
            </a:extLst>
          </p:cNvPr>
          <p:cNvSpPr txBox="1"/>
          <p:nvPr/>
        </p:nvSpPr>
        <p:spPr>
          <a:xfrm>
            <a:off x="8169968" y="1268160"/>
            <a:ext cx="1248267" cy="375552"/>
          </a:xfrm>
          <a:prstGeom prst="rect">
            <a:avLst/>
          </a:prstGeom>
          <a:noFill/>
        </p:spPr>
        <p:txBody>
          <a:bodyPr wrap="square">
            <a:spAutoFit/>
          </a:bodyPr>
          <a:lstStyle/>
          <a:p>
            <a:pPr algn="ctr">
              <a:lnSpc>
                <a:spcPct val="107000"/>
              </a:lnSpc>
              <a:spcAft>
                <a:spcPts val="800"/>
              </a:spcAft>
            </a:pPr>
            <a:r>
              <a:rPr lang="es-MX" kern="100" dirty="0">
                <a:latin typeface="Calibri" panose="020F0502020204030204" pitchFamily="34" charset="0"/>
                <a:ea typeface="Calibri" panose="020F0502020204030204" pitchFamily="34" charset="0"/>
                <a:cs typeface="Times New Roman" panose="02020603050405020304" pitchFamily="18" charset="0"/>
              </a:rPr>
              <a:t>30</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bits</a:t>
            </a:r>
          </a:p>
        </p:txBody>
      </p:sp>
      <p:sp>
        <p:nvSpPr>
          <p:cNvPr id="16" name="CuadroTexto 15">
            <a:extLst>
              <a:ext uri="{FF2B5EF4-FFF2-40B4-BE49-F238E27FC236}">
                <a16:creationId xmlns:a16="http://schemas.microsoft.com/office/drawing/2014/main" id="{77EACFD8-2BE5-1AB8-EB04-B8522BE882BF}"/>
              </a:ext>
            </a:extLst>
          </p:cNvPr>
          <p:cNvSpPr txBox="1"/>
          <p:nvPr/>
        </p:nvSpPr>
        <p:spPr>
          <a:xfrm>
            <a:off x="3421194" y="1803749"/>
            <a:ext cx="2426494" cy="2153731"/>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64 -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53</a:t>
            </a:r>
          </a:p>
          <a:p>
            <a:pPr>
              <a:lnSpc>
                <a:spcPct val="107000"/>
              </a:lnSpc>
            </a:pPr>
            <a:endParaRPr lang="es-MX"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64 -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0DC80410-1BE8-C5B6-5C4E-49A2B042A2E4}"/>
              </a:ext>
            </a:extLst>
          </p:cNvPr>
          <p:cNvSpPr txBox="1"/>
          <p:nvPr/>
        </p:nvSpPr>
        <p:spPr>
          <a:xfrm>
            <a:off x="5610717" y="2532366"/>
            <a:ext cx="2502693" cy="2153731"/>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32 -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23</a:t>
            </a: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32 -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CuadroTexto 19">
            <a:extLst>
              <a:ext uri="{FF2B5EF4-FFF2-40B4-BE49-F238E27FC236}">
                <a16:creationId xmlns:a16="http://schemas.microsoft.com/office/drawing/2014/main" id="{F14C0CC1-0AE1-D39D-6C50-605ACEA11D8F}"/>
              </a:ext>
            </a:extLst>
          </p:cNvPr>
          <p:cNvSpPr txBox="1"/>
          <p:nvPr/>
        </p:nvSpPr>
        <p:spPr>
          <a:xfrm>
            <a:off x="7917405" y="1933575"/>
            <a:ext cx="2431255" cy="4821000"/>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Abrir llave 20">
            <a:extLst>
              <a:ext uri="{FF2B5EF4-FFF2-40B4-BE49-F238E27FC236}">
                <a16:creationId xmlns:a16="http://schemas.microsoft.com/office/drawing/2014/main" id="{63533C39-8343-AE0A-ED49-783D5BFBD740}"/>
              </a:ext>
            </a:extLst>
          </p:cNvPr>
          <p:cNvSpPr/>
          <p:nvPr/>
        </p:nvSpPr>
        <p:spPr>
          <a:xfrm>
            <a:off x="1237941" y="1219200"/>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6" name="Abrir llave 25">
            <a:extLst>
              <a:ext uri="{FF2B5EF4-FFF2-40B4-BE49-F238E27FC236}">
                <a16:creationId xmlns:a16="http://schemas.microsoft.com/office/drawing/2014/main" id="{9AC09754-E74E-85D0-8B70-0381979C2E4C}"/>
              </a:ext>
            </a:extLst>
          </p:cNvPr>
          <p:cNvSpPr/>
          <p:nvPr/>
        </p:nvSpPr>
        <p:spPr>
          <a:xfrm>
            <a:off x="3430794" y="1971674"/>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7" name="Abrir llave 26">
            <a:extLst>
              <a:ext uri="{FF2B5EF4-FFF2-40B4-BE49-F238E27FC236}">
                <a16:creationId xmlns:a16="http://schemas.microsoft.com/office/drawing/2014/main" id="{8E24DF0C-DC31-24E4-D216-47B3C6BAB392}"/>
              </a:ext>
            </a:extLst>
          </p:cNvPr>
          <p:cNvSpPr/>
          <p:nvPr/>
        </p:nvSpPr>
        <p:spPr>
          <a:xfrm>
            <a:off x="5614150" y="2715553"/>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8" name="Abrir llave 27">
            <a:extLst>
              <a:ext uri="{FF2B5EF4-FFF2-40B4-BE49-F238E27FC236}">
                <a16:creationId xmlns:a16="http://schemas.microsoft.com/office/drawing/2014/main" id="{EF0A9799-3D15-B0EA-089C-B260949548CB}"/>
              </a:ext>
            </a:extLst>
          </p:cNvPr>
          <p:cNvSpPr/>
          <p:nvPr/>
        </p:nvSpPr>
        <p:spPr>
          <a:xfrm>
            <a:off x="7792815" y="2084586"/>
            <a:ext cx="123061" cy="4201914"/>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32" name="CuadroTexto 31">
            <a:extLst>
              <a:ext uri="{FF2B5EF4-FFF2-40B4-BE49-F238E27FC236}">
                <a16:creationId xmlns:a16="http://schemas.microsoft.com/office/drawing/2014/main" id="{5930D759-FF61-290D-925E-0482B4093309}"/>
              </a:ext>
            </a:extLst>
          </p:cNvPr>
          <p:cNvSpPr txBox="1"/>
          <p:nvPr/>
        </p:nvSpPr>
        <p:spPr>
          <a:xfrm>
            <a:off x="6096000" y="1609721"/>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27 bits</a:t>
            </a:r>
          </a:p>
        </p:txBody>
      </p:sp>
      <p:sp>
        <p:nvSpPr>
          <p:cNvPr id="33" name="CuadroTexto 32">
            <a:extLst>
              <a:ext uri="{FF2B5EF4-FFF2-40B4-BE49-F238E27FC236}">
                <a16:creationId xmlns:a16="http://schemas.microsoft.com/office/drawing/2014/main" id="{97F21E29-0FEF-6B53-6841-E8D8DCB990BD}"/>
              </a:ext>
            </a:extLst>
          </p:cNvPr>
          <p:cNvSpPr txBox="1"/>
          <p:nvPr/>
        </p:nvSpPr>
        <p:spPr>
          <a:xfrm>
            <a:off x="4312242" y="1109614"/>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26 bits</a:t>
            </a:r>
          </a:p>
        </p:txBody>
      </p:sp>
      <p:sp>
        <p:nvSpPr>
          <p:cNvPr id="4" name="CuadroTexto 3">
            <a:extLst>
              <a:ext uri="{FF2B5EF4-FFF2-40B4-BE49-F238E27FC236}">
                <a16:creationId xmlns:a16="http://schemas.microsoft.com/office/drawing/2014/main" id="{6816923C-E307-E011-534C-67B4BF4F450F}"/>
              </a:ext>
            </a:extLst>
          </p:cNvPr>
          <p:cNvSpPr txBox="1"/>
          <p:nvPr/>
        </p:nvSpPr>
        <p:spPr>
          <a:xfrm>
            <a:off x="10301656" y="3467100"/>
            <a:ext cx="1617722" cy="968278"/>
          </a:xfrm>
          <a:prstGeom prst="rect">
            <a:avLst/>
          </a:prstGeom>
          <a:noFill/>
        </p:spPr>
        <p:txBody>
          <a:bodyPr wrap="square">
            <a:spAutoFit/>
          </a:bodyPr>
          <a:lstStyle/>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4</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p>
          <a:p>
            <a:pPr algn="ct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por subred</a:t>
            </a:r>
          </a:p>
        </p:txBody>
      </p:sp>
      <p:sp>
        <p:nvSpPr>
          <p:cNvPr id="6" name="Rectángulo 5">
            <a:extLst>
              <a:ext uri="{FF2B5EF4-FFF2-40B4-BE49-F238E27FC236}">
                <a16:creationId xmlns:a16="http://schemas.microsoft.com/office/drawing/2014/main" id="{AE70EC3D-C9C8-B160-F5EC-1ED0C0694970}"/>
              </a:ext>
            </a:extLst>
          </p:cNvPr>
          <p:cNvSpPr/>
          <p:nvPr/>
        </p:nvSpPr>
        <p:spPr>
          <a:xfrm>
            <a:off x="9496425" y="1814259"/>
            <a:ext cx="419100" cy="47103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731619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5">
            <a:extLst>
              <a:ext uri="{FF2B5EF4-FFF2-40B4-BE49-F238E27FC236}">
                <a16:creationId xmlns:a16="http://schemas.microsoft.com/office/drawing/2014/main" id="{3B2CEC60-19D7-17CC-E9D4-1528E0671D59}"/>
              </a:ext>
            </a:extLst>
          </p:cNvPr>
          <p:cNvGraphicFramePr>
            <a:graphicFrameLocks noGrp="1"/>
          </p:cNvGraphicFramePr>
          <p:nvPr>
            <p:extLst>
              <p:ext uri="{D42A27DB-BD31-4B8C-83A1-F6EECF244321}">
                <p14:modId xmlns:p14="http://schemas.microsoft.com/office/powerpoint/2010/main" val="1566811986"/>
              </p:ext>
            </p:extLst>
          </p:nvPr>
        </p:nvGraphicFramePr>
        <p:xfrm>
          <a:off x="992642" y="2102194"/>
          <a:ext cx="10132556" cy="3965675"/>
        </p:xfrm>
        <a:graphic>
          <a:graphicData uri="http://schemas.openxmlformats.org/drawingml/2006/table">
            <a:tbl>
              <a:tblPr firstRow="1" firstCol="1" bandRow="1">
                <a:tableStyleId>{5C22544A-7EE6-4342-B048-85BDC9FD1C3A}</a:tableStyleId>
              </a:tblPr>
              <a:tblGrid>
                <a:gridCol w="1055233">
                  <a:extLst>
                    <a:ext uri="{9D8B030D-6E8A-4147-A177-3AD203B41FA5}">
                      <a16:colId xmlns:a16="http://schemas.microsoft.com/office/drawing/2014/main" val="2302045383"/>
                    </a:ext>
                  </a:extLst>
                </a:gridCol>
                <a:gridCol w="609600">
                  <a:extLst>
                    <a:ext uri="{9D8B030D-6E8A-4147-A177-3AD203B41FA5}">
                      <a16:colId xmlns:a16="http://schemas.microsoft.com/office/drawing/2014/main" val="3713811543"/>
                    </a:ext>
                  </a:extLst>
                </a:gridCol>
                <a:gridCol w="847725">
                  <a:extLst>
                    <a:ext uri="{9D8B030D-6E8A-4147-A177-3AD203B41FA5}">
                      <a16:colId xmlns:a16="http://schemas.microsoft.com/office/drawing/2014/main" val="2393434225"/>
                    </a:ext>
                  </a:extLst>
                </a:gridCol>
                <a:gridCol w="781050">
                  <a:extLst>
                    <a:ext uri="{9D8B030D-6E8A-4147-A177-3AD203B41FA5}">
                      <a16:colId xmlns:a16="http://schemas.microsoft.com/office/drawing/2014/main" val="1971026643"/>
                    </a:ext>
                  </a:extLst>
                </a:gridCol>
                <a:gridCol w="838200">
                  <a:extLst>
                    <a:ext uri="{9D8B030D-6E8A-4147-A177-3AD203B41FA5}">
                      <a16:colId xmlns:a16="http://schemas.microsoft.com/office/drawing/2014/main" val="2952114619"/>
                    </a:ext>
                  </a:extLst>
                </a:gridCol>
                <a:gridCol w="1933575">
                  <a:extLst>
                    <a:ext uri="{9D8B030D-6E8A-4147-A177-3AD203B41FA5}">
                      <a16:colId xmlns:a16="http://schemas.microsoft.com/office/drawing/2014/main" val="120784140"/>
                    </a:ext>
                  </a:extLst>
                </a:gridCol>
                <a:gridCol w="1933575">
                  <a:extLst>
                    <a:ext uri="{9D8B030D-6E8A-4147-A177-3AD203B41FA5}">
                      <a16:colId xmlns:a16="http://schemas.microsoft.com/office/drawing/2014/main" val="3348634526"/>
                    </a:ext>
                  </a:extLst>
                </a:gridCol>
                <a:gridCol w="2133598">
                  <a:extLst>
                    <a:ext uri="{9D8B030D-6E8A-4147-A177-3AD203B41FA5}">
                      <a16:colId xmlns:a16="http://schemas.microsoft.com/office/drawing/2014/main" val="1722685656"/>
                    </a:ext>
                  </a:extLst>
                </a:gridCol>
              </a:tblGrid>
              <a:tr h="547104">
                <a:tc>
                  <a:txBody>
                    <a:bodyPr/>
                    <a:lstStyle/>
                    <a:p>
                      <a:pPr>
                        <a:lnSpc>
                          <a:spcPct val="150000"/>
                        </a:lnSpc>
                        <a:spcAft>
                          <a:spcPts val="0"/>
                        </a:spcAft>
                      </a:pPr>
                      <a:r>
                        <a:rPr lang="es-MX" sz="1800" kern="100" dirty="0">
                          <a:effectLst/>
                        </a:rPr>
                        <a:t>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 </a:t>
                      </a:r>
                    </a:p>
                    <a:p>
                      <a:pPr algn="ctr">
                        <a:lnSpc>
                          <a:spcPct val="150000"/>
                        </a:lnSpc>
                        <a:spcAft>
                          <a:spcPts val="0"/>
                        </a:spcAft>
                      </a:pPr>
                      <a:r>
                        <a:rPr lang="es-MX" sz="1800" kern="100" dirty="0" err="1">
                          <a:effectLst/>
                        </a:rPr>
                        <a:t>direc</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Max</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Bits host</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err="1">
                          <a:effectLst/>
                        </a:rPr>
                        <a:t>masc</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IP red</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IP inicio</a:t>
                      </a:r>
                    </a:p>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(HOST 1)</a:t>
                      </a:r>
                    </a:p>
                  </a:txBody>
                  <a:tcPr marL="17780" marR="17780" marT="0" marB="0"/>
                </a:tc>
                <a:tc>
                  <a:txBody>
                    <a:bodyPr/>
                    <a:lstStyle/>
                    <a:p>
                      <a:pPr algn="ctr">
                        <a:lnSpc>
                          <a:spcPct val="150000"/>
                        </a:lnSpc>
                        <a:spcAft>
                          <a:spcPts val="0"/>
                        </a:spcAft>
                      </a:pPr>
                      <a:r>
                        <a:rPr lang="es-MX" sz="1800" kern="100" dirty="0">
                          <a:effectLst/>
                        </a:rPr>
                        <a:t>IP fin (BROADCAST)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2253850508"/>
                  </a:ext>
                </a:extLst>
              </a:tr>
              <a:tr h="548613">
                <a:tc>
                  <a:txBody>
                    <a:bodyPr/>
                    <a:lstStyle/>
                    <a:p>
                      <a:pPr>
                        <a:lnSpc>
                          <a:spcPct val="150000"/>
                        </a:lnSpc>
                        <a:spcAft>
                          <a:spcPts val="0"/>
                        </a:spcAft>
                      </a:pPr>
                      <a:r>
                        <a:rPr lang="es-MX" sz="1800" kern="100" dirty="0">
                          <a:effectLst/>
                        </a:rPr>
                        <a:t>Red 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100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128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7</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192.168.1.127</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2124850562"/>
                  </a:ext>
                </a:extLst>
              </a:tr>
              <a:tr h="542925">
                <a:tc>
                  <a:txBody>
                    <a:bodyPr/>
                    <a:lstStyle/>
                    <a:p>
                      <a:pPr>
                        <a:lnSpc>
                          <a:spcPct val="150000"/>
                        </a:lnSpc>
                        <a:spcAft>
                          <a:spcPts val="0"/>
                        </a:spcAft>
                      </a:pPr>
                      <a:r>
                        <a:rPr lang="es-MX" sz="1800" kern="100" dirty="0">
                          <a:effectLst/>
                        </a:rPr>
                        <a:t>red 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50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64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6</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26</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192.168.1.128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192.168.1.129</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192.168.1.191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423169282"/>
                  </a:ext>
                </a:extLst>
              </a:tr>
              <a:tr h="541147">
                <a:tc>
                  <a:txBody>
                    <a:bodyPr/>
                    <a:lstStyle/>
                    <a:p>
                      <a:pPr>
                        <a:lnSpc>
                          <a:spcPct val="150000"/>
                        </a:lnSpc>
                        <a:spcAft>
                          <a:spcPts val="0"/>
                        </a:spcAft>
                      </a:pPr>
                      <a:r>
                        <a:rPr lang="es-MX" sz="1800" kern="100" dirty="0">
                          <a:effectLst/>
                        </a:rPr>
                        <a:t>Red 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32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5</a:t>
                      </a:r>
                    </a:p>
                  </a:txBody>
                  <a:tcPr marL="17780" marR="17780" marT="0" marB="0"/>
                </a:tc>
                <a:tc>
                  <a:txBody>
                    <a:bodyPr/>
                    <a:lstStyle/>
                    <a:p>
                      <a:pPr algn="ctr">
                        <a:lnSpc>
                          <a:spcPct val="150000"/>
                        </a:lnSpc>
                        <a:spcAft>
                          <a:spcPts val="0"/>
                        </a:spcAft>
                      </a:pPr>
                      <a:r>
                        <a:rPr lang="es-MX" sz="1800" kern="100" dirty="0">
                          <a:effectLst/>
                        </a:rPr>
                        <a:t>27</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192.168.1.192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192.168.1.193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3708287412"/>
                  </a:ext>
                </a:extLst>
              </a:tr>
              <a:tr h="523875">
                <a:tc>
                  <a:txBody>
                    <a:bodyPr/>
                    <a:lstStyle/>
                    <a:p>
                      <a:pPr>
                        <a:lnSpc>
                          <a:spcPct val="150000"/>
                        </a:lnSpc>
                        <a:spcAft>
                          <a:spcPts val="0"/>
                        </a:spcAft>
                      </a:pPr>
                      <a:r>
                        <a:rPr lang="es-MX" sz="1800" kern="100" dirty="0">
                          <a:effectLst/>
                        </a:rPr>
                        <a:t>Enlace A</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30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192.168.1.227</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963403024"/>
                  </a:ext>
                </a:extLst>
              </a:tr>
              <a:tr h="514350">
                <a:tc>
                  <a:txBody>
                    <a:bodyPr/>
                    <a:lstStyle/>
                    <a:p>
                      <a:pPr>
                        <a:lnSpc>
                          <a:spcPct val="150000"/>
                        </a:lnSpc>
                        <a:spcAft>
                          <a:spcPts val="0"/>
                        </a:spcAft>
                      </a:pPr>
                      <a:r>
                        <a:rPr lang="es-MX" sz="1800" kern="100" dirty="0">
                          <a:effectLst/>
                        </a:rPr>
                        <a:t>Enlace B</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30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192.168.1.229</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192.168.1.231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3174516102"/>
                  </a:ext>
                </a:extLst>
              </a:tr>
              <a:tr h="514350">
                <a:tc>
                  <a:txBody>
                    <a:bodyPr/>
                    <a:lstStyle/>
                    <a:p>
                      <a:pPr>
                        <a:lnSpc>
                          <a:spcPct val="150000"/>
                        </a:lnSpc>
                        <a:spcAft>
                          <a:spcPts val="0"/>
                        </a:spcAft>
                      </a:pPr>
                      <a:r>
                        <a:rPr lang="es-MX" sz="1800" b="1" kern="100" dirty="0">
                          <a:solidFill>
                            <a:schemeClr val="lt1"/>
                          </a:solidFill>
                          <a:effectLst/>
                          <a:latin typeface="+mn-lt"/>
                          <a:ea typeface="+mn-ea"/>
                          <a:cs typeface="+mn-cs"/>
                        </a:rPr>
                        <a:t>Enlace C</a:t>
                      </a:r>
                    </a:p>
                  </a:txBody>
                  <a:tcPr marL="17780" marR="17780" marT="0" marB="0"/>
                </a:tc>
                <a:tc>
                  <a:txBody>
                    <a:bodyPr/>
                    <a:lstStyle/>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4</a:t>
                      </a:r>
                    </a:p>
                  </a:txBody>
                  <a:tcPr marL="17780" marR="17780" marT="0" marB="0"/>
                </a:tc>
                <a:tc>
                  <a:txBody>
                    <a:bodyPr/>
                    <a:lstStyle/>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4</a:t>
                      </a:r>
                    </a:p>
                  </a:txBody>
                  <a:tcPr marL="17780" marR="17780" marT="0" marB="0"/>
                </a:tc>
                <a:tc>
                  <a:txBody>
                    <a:bodyPr/>
                    <a:lstStyle/>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a:t>
                      </a:r>
                    </a:p>
                  </a:txBody>
                  <a:tcPr marL="17780" marR="17780" marT="0" marB="0"/>
                </a:tc>
                <a:tc>
                  <a:txBody>
                    <a:bodyPr/>
                    <a:lstStyle/>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30</a:t>
                      </a:r>
                    </a:p>
                  </a:txBody>
                  <a:tcPr marL="17780" marR="17780" marT="0" marB="0"/>
                </a:tc>
                <a:tc>
                  <a:txBody>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es-MX" sz="1800" kern="100" dirty="0">
                          <a:effectLst/>
                        </a:rPr>
                        <a:t>192.168.1.232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192.168.1.233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192.168.1.235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3114560360"/>
                  </a:ext>
                </a:extLst>
              </a:tr>
            </a:tbl>
          </a:graphicData>
        </a:graphic>
      </p:graphicFrame>
    </p:spTree>
    <p:extLst>
      <p:ext uri="{BB962C8B-B14F-4D97-AF65-F5344CB8AC3E}">
        <p14:creationId xmlns:p14="http://schemas.microsoft.com/office/powerpoint/2010/main" val="4170217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68965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1600438"/>
          </a:xfrm>
          <a:prstGeom prst="rect">
            <a:avLst/>
          </a:prstGeom>
        </p:spPr>
        <p:txBody>
          <a:bodyPr wrap="square">
            <a:spAutoFit/>
          </a:bodyPr>
          <a:lstStyle/>
          <a:p>
            <a:r>
              <a:rPr lang="es-MX" dirty="0"/>
              <a:t> </a:t>
            </a:r>
            <a:r>
              <a:rPr lang="es-MX" altLang="es-MX" sz="2000" b="1" dirty="0"/>
              <a:t>Cisco IOS</a:t>
            </a:r>
          </a:p>
          <a:p>
            <a:endParaRPr lang="es-MX" sz="2400" b="1"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Todos los terminales y dispositivos de red requieren un sistema operativo (SO), éste tiene 3 partes que son: </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	</a:t>
            </a:r>
            <a:endParaRPr lang="es-MX" dirty="0"/>
          </a:p>
        </p:txBody>
      </p:sp>
      <p:pic>
        <p:nvPicPr>
          <p:cNvPr id="3" name="Picture 2" descr="Cisco IOS Sistema Operativo">
            <a:hlinkClick r:id="rId2"/>
            <a:extLst>
              <a:ext uri="{FF2B5EF4-FFF2-40B4-BE49-F238E27FC236}">
                <a16:creationId xmlns:a16="http://schemas.microsoft.com/office/drawing/2014/main" id="{C26CD53F-90EE-406C-B9A8-4AE49CA17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8725" y="1846262"/>
            <a:ext cx="5715000" cy="4762501"/>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7ABEC44C-D913-78AE-5462-7A9AD1C6CE57}"/>
              </a:ext>
            </a:extLst>
          </p:cNvPr>
          <p:cNvSpPr txBox="1"/>
          <p:nvPr/>
        </p:nvSpPr>
        <p:spPr>
          <a:xfrm>
            <a:off x="366252" y="2073076"/>
            <a:ext cx="5729748" cy="4308872"/>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ts val="1200"/>
              </a:spcAft>
              <a:buClrTx/>
              <a:buSzTx/>
              <a:buFont typeface="+mj-lt"/>
              <a:buAutoNum type="arabicPeriod"/>
              <a:tabLst/>
            </a:pPr>
            <a:r>
              <a:rPr lang="es-MX" altLang="es-MX" dirty="0"/>
              <a:t>Shell, que es la parte que interactúa con las aplicaciones y el usuario; 	</a:t>
            </a:r>
          </a:p>
          <a:p>
            <a:pPr marL="342900" marR="0" lvl="0" indent="-342900" algn="l" defTabSz="914400" rtl="0" eaLnBrk="0" fontAlgn="base" latinLnBrk="0" hangingPunct="0">
              <a:lnSpc>
                <a:spcPct val="100000"/>
              </a:lnSpc>
              <a:spcBef>
                <a:spcPct val="0"/>
              </a:spcBef>
              <a:spcAft>
                <a:spcPts val="1200"/>
              </a:spcAft>
              <a:buClrTx/>
              <a:buSzTx/>
              <a:buFont typeface="+mj-lt"/>
              <a:buAutoNum type="arabicPeriod"/>
              <a:tabLst/>
            </a:pPr>
            <a:r>
              <a:rPr lang="es-MX" altLang="es-MX" dirty="0"/>
              <a:t>Núcleo, que es parte del SO que se comunica con el hardware de la PC; 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s-MX" altLang="es-MX" dirty="0"/>
              <a:t>Hardware, que es la parte física de la computadora.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a:spcAft>
                <a:spcPts val="1200"/>
              </a:spcAft>
            </a:pPr>
            <a:r>
              <a:rPr lang="es-ES" dirty="0"/>
              <a:t>Podemos interactuar con el </a:t>
            </a:r>
            <a:r>
              <a:rPr lang="es-ES" dirty="0" err="1"/>
              <a:t>shell</a:t>
            </a:r>
            <a:r>
              <a:rPr lang="es-ES" dirty="0"/>
              <a:t> mediante:</a:t>
            </a:r>
          </a:p>
          <a:p>
            <a:pPr marL="285750" indent="-285750">
              <a:spcAft>
                <a:spcPts val="1200"/>
              </a:spcAft>
              <a:buFont typeface="Arial" panose="020B0604020202020204" pitchFamily="34" charset="0"/>
              <a:buChar char="•"/>
            </a:pPr>
            <a:r>
              <a:rPr lang="es-ES" dirty="0"/>
              <a:t>La interfaz de línea de comandos (CLI), que es un entorno basado en texto, o </a:t>
            </a:r>
          </a:p>
          <a:p>
            <a:pPr marL="285750" indent="-285750">
              <a:spcAft>
                <a:spcPts val="1200"/>
              </a:spcAft>
              <a:buFont typeface="Arial" panose="020B0604020202020204" pitchFamily="34" charset="0"/>
              <a:buChar char="•"/>
            </a:pPr>
            <a:r>
              <a:rPr lang="es-ES" dirty="0"/>
              <a:t>Una interfaz gráfica del usuario (GUI), como Windows, SO X, Apple IOS o Android, que utiliza iconos gráficos, menús y ventanas</a:t>
            </a:r>
            <a:r>
              <a:rPr lang="es-ES" b="0" i="0" dirty="0">
                <a:solidFill>
                  <a:srgbClr val="444444"/>
                </a:solidFill>
                <a:effectLst/>
                <a:latin typeface="Lato" panose="020F0502020204030203" pitchFamily="34" charset="0"/>
              </a:rPr>
              <a:t>.</a:t>
            </a:r>
            <a:endParaRPr lang="es-MX" dirty="0"/>
          </a:p>
        </p:txBody>
      </p:sp>
    </p:spTree>
    <p:extLst>
      <p:ext uri="{BB962C8B-B14F-4D97-AF65-F5344CB8AC3E}">
        <p14:creationId xmlns:p14="http://schemas.microsoft.com/office/powerpoint/2010/main" val="27045456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06CEB33-1D32-651B-9154-A10DD64DD314}"/>
              </a:ext>
            </a:extLst>
          </p:cNvPr>
          <p:cNvSpPr txBox="1"/>
          <p:nvPr/>
        </p:nvSpPr>
        <p:spPr>
          <a:xfrm>
            <a:off x="495300" y="1175088"/>
            <a:ext cx="11144250" cy="5078313"/>
          </a:xfrm>
          <a:prstGeom prst="rect">
            <a:avLst/>
          </a:prstGeom>
          <a:noFill/>
        </p:spPr>
        <p:txBody>
          <a:bodyPr wrap="square">
            <a:spAutoFit/>
          </a:bodyPr>
          <a:lstStyle/>
          <a:p>
            <a:pPr algn="l"/>
            <a:r>
              <a:rPr lang="es-ES" b="0" i="0" dirty="0">
                <a:solidFill>
                  <a:srgbClr val="444444"/>
                </a:solidFill>
                <a:effectLst/>
                <a:latin typeface="Lato" panose="020F0502020204030203" pitchFamily="34" charset="0"/>
              </a:rPr>
              <a:t>Todos los dispositivos de red de Cisco vienen con un IOS predeterminado y es posible cambiar la versión o el conjunto de características del IOS.</a:t>
            </a:r>
          </a:p>
          <a:p>
            <a:pPr algn="l"/>
            <a:endParaRPr lang="es-ES" b="0" i="0" dirty="0">
              <a:solidFill>
                <a:srgbClr val="444444"/>
              </a:solidFill>
              <a:effectLst/>
              <a:latin typeface="Lato" panose="020F0502020204030203" pitchFamily="34" charset="0"/>
            </a:endParaRPr>
          </a:p>
          <a:p>
            <a:pPr algn="l"/>
            <a:r>
              <a:rPr lang="es-ES" b="0" i="0" dirty="0">
                <a:solidFill>
                  <a:srgbClr val="444444"/>
                </a:solidFill>
                <a:effectLst/>
                <a:latin typeface="Lato" panose="020F0502020204030203" pitchFamily="34" charset="0"/>
              </a:rPr>
              <a:t>Cisco IOS permite que un técnico haga lo siguiente:</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Utilice un teclado para ejecutar programas de red basados en CLI.</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Utilice un teclado para introducir texto y comandos basados en texto.</a:t>
            </a:r>
          </a:p>
          <a:p>
            <a:pPr marL="742950" lvl="1" indent="-285750">
              <a:buFont typeface="Arial" panose="020B0604020202020204" pitchFamily="34" charset="0"/>
              <a:buChar char="•"/>
            </a:pPr>
            <a:endParaRPr lang="es-ES" b="0" i="0" dirty="0">
              <a:solidFill>
                <a:srgbClr val="444444"/>
              </a:solidFill>
              <a:effectLst/>
              <a:latin typeface="Lato" panose="020F0502020204030203" pitchFamily="34" charset="0"/>
            </a:endParaRPr>
          </a:p>
          <a:p>
            <a:pPr algn="l"/>
            <a:r>
              <a:rPr lang="es-ES" b="0" i="0" dirty="0">
                <a:solidFill>
                  <a:srgbClr val="444444"/>
                </a:solidFill>
                <a:effectLst/>
                <a:latin typeface="Lato" panose="020F0502020204030203" pitchFamily="34" charset="0"/>
              </a:rPr>
              <a:t>El IOS del switch o del </a:t>
            </a:r>
            <a:r>
              <a:rPr lang="es-ES" b="0" i="0" dirty="0" err="1">
                <a:solidFill>
                  <a:srgbClr val="444444"/>
                </a:solidFill>
                <a:effectLst/>
                <a:latin typeface="Lato" panose="020F0502020204030203" pitchFamily="34" charset="0"/>
              </a:rPr>
              <a:t>router</a:t>
            </a:r>
            <a:r>
              <a:rPr lang="es-ES" b="0" i="0" dirty="0">
                <a:solidFill>
                  <a:srgbClr val="444444"/>
                </a:solidFill>
                <a:effectLst/>
                <a:latin typeface="Lato" panose="020F0502020204030203" pitchFamily="34" charset="0"/>
              </a:rPr>
              <a:t> proporciona opciones para lo siguiente:</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Configurar interfaces.</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Habilitar funciones de enrutamiento y conmutación.</a:t>
            </a:r>
          </a:p>
          <a:p>
            <a:pPr algn="l"/>
            <a:endParaRPr lang="es-ES" b="0" i="0" dirty="0">
              <a:solidFill>
                <a:srgbClr val="444444"/>
              </a:solidFill>
              <a:effectLst/>
              <a:latin typeface="Lato" panose="020F0502020204030203" pitchFamily="34" charset="0"/>
            </a:endParaRPr>
          </a:p>
          <a:p>
            <a:pPr algn="l"/>
            <a:r>
              <a:rPr lang="es-ES" b="0" i="0" dirty="0">
                <a:solidFill>
                  <a:srgbClr val="444444"/>
                </a:solidFill>
                <a:effectLst/>
                <a:latin typeface="Lato" panose="020F0502020204030203" pitchFamily="34" charset="0"/>
              </a:rPr>
              <a:t>El IOS se almacena en memoria flash, esto quiere decir lo siguiente:</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Es un almacenamiento no volátil: no se pierde la información cuando se corta la alimentación.</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Se puede modificar o sobrescribir según sea necesario.</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Se puede utilizar para almacenar varias versiones del IOS.</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El IOS se copia de la memoria flash a la RAM volátil.</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La cantidad de memoria flash y RAM determina qué IOS se puede utilizar.</a:t>
            </a:r>
          </a:p>
          <a:p>
            <a:pPr algn="l"/>
            <a:endParaRPr lang="es-ES" b="0" i="0" dirty="0">
              <a:solidFill>
                <a:srgbClr val="444444"/>
              </a:solidFill>
              <a:effectLst/>
              <a:latin typeface="Lato" panose="020F0502020204030203" pitchFamily="34" charset="0"/>
            </a:endParaRPr>
          </a:p>
        </p:txBody>
      </p:sp>
    </p:spTree>
    <p:extLst>
      <p:ext uri="{BB962C8B-B14F-4D97-AF65-F5344CB8AC3E}">
        <p14:creationId xmlns:p14="http://schemas.microsoft.com/office/powerpoint/2010/main" val="3221817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1877437"/>
          </a:xfrm>
          <a:prstGeom prst="rect">
            <a:avLst/>
          </a:prstGeom>
        </p:spPr>
        <p:txBody>
          <a:bodyPr wrap="square">
            <a:spAutoFit/>
          </a:bodyPr>
          <a:lstStyle/>
          <a:p>
            <a:r>
              <a:rPr lang="es-MX" dirty="0"/>
              <a:t> </a:t>
            </a:r>
            <a:r>
              <a:rPr lang="es-ES" sz="2000" b="1" dirty="0"/>
              <a:t>Funciones del</a:t>
            </a:r>
            <a:r>
              <a:rPr lang="es-MX" altLang="es-MX" sz="2000" b="1" dirty="0"/>
              <a:t> IOS</a:t>
            </a:r>
          </a:p>
          <a:p>
            <a:endParaRPr lang="es-MX" sz="2400" b="1" dirty="0"/>
          </a:p>
          <a:p>
            <a:pPr defTabSz="914400" eaLnBrk="0" fontAlgn="base" hangingPunct="0">
              <a:spcBef>
                <a:spcPct val="0"/>
              </a:spcBef>
              <a:spcAft>
                <a:spcPct val="0"/>
              </a:spcAft>
            </a:pPr>
            <a:r>
              <a:rPr lang="es-ES" dirty="0"/>
              <a:t>Las funciones principales que realizan o habilitan los </a:t>
            </a:r>
            <a:r>
              <a:rPr lang="es-ES" dirty="0" err="1"/>
              <a:t>routers</a:t>
            </a:r>
            <a:r>
              <a:rPr lang="es-ES" dirty="0"/>
              <a:t> y switches Cisco incluyen las siguientes: Seguridad, Enrutamiento, </a:t>
            </a:r>
            <a:r>
              <a:rPr lang="es-ES" dirty="0" err="1"/>
              <a:t>QoS</a:t>
            </a:r>
            <a:r>
              <a:rPr lang="es-ES" dirty="0"/>
              <a:t>, Direccionamiento, Administración de recursos e Interfaz.</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	</a:t>
            </a:r>
            <a:endParaRPr lang="es-MX" dirty="0"/>
          </a:p>
        </p:txBody>
      </p:sp>
      <p:pic>
        <p:nvPicPr>
          <p:cNvPr id="3074" name="Picture 2" descr="Funciones del Cisco IOS Netacad">
            <a:extLst>
              <a:ext uri="{FF2B5EF4-FFF2-40B4-BE49-F238E27FC236}">
                <a16:creationId xmlns:a16="http://schemas.microsoft.com/office/drawing/2014/main" id="{E22C8190-2BDC-189D-11CA-38001B1D70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3924" y="2039081"/>
            <a:ext cx="5476875" cy="4564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93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92348" cy="5816977"/>
          </a:xfrm>
          <a:prstGeom prst="rect">
            <a:avLst/>
          </a:prstGeom>
        </p:spPr>
        <p:txBody>
          <a:bodyPr wrap="square">
            <a:spAutoFit/>
          </a:bodyPr>
          <a:lstStyle/>
          <a:p>
            <a:r>
              <a:rPr lang="es-MX" dirty="0"/>
              <a:t> </a:t>
            </a:r>
            <a:r>
              <a:rPr lang="es-ES" sz="2000" b="1" dirty="0"/>
              <a:t>Métodos de Acceso a Cisco</a:t>
            </a:r>
            <a:r>
              <a:rPr lang="es-MX" altLang="es-MX" sz="2000" b="1" dirty="0"/>
              <a:t> IOS</a:t>
            </a:r>
          </a:p>
          <a:p>
            <a:endParaRPr lang="es-MX" sz="2400" b="1" dirty="0"/>
          </a:p>
          <a:p>
            <a:pPr algn="l"/>
            <a:r>
              <a:rPr lang="es-ES" dirty="0"/>
              <a:t>Existen varias formas de acceder al entorno de la CLI y configurar el dispositivo. Los métodos más comunes son los siguientes: 1) Consola; 2) Auxiliar y 3) Terminal virtual (Telnet/SSH)</a:t>
            </a:r>
          </a:p>
          <a:p>
            <a:pPr marL="742950" lvl="1" indent="-285750">
              <a:buFont typeface="Arial" panose="020B0604020202020204" pitchFamily="34" charset="0"/>
              <a:buChar char="•"/>
            </a:pPr>
            <a:endParaRPr lang="es-ES" dirty="0"/>
          </a:p>
          <a:p>
            <a:pPr algn="l"/>
            <a:r>
              <a:rPr lang="es-ES" sz="2000" b="1" dirty="0"/>
              <a:t>Puerto de consola</a:t>
            </a:r>
          </a:p>
          <a:p>
            <a:pPr marL="742950" lvl="1" indent="-285750">
              <a:buFont typeface="Arial" panose="020B0604020202020204" pitchFamily="34" charset="0"/>
              <a:buChar char="•"/>
            </a:pPr>
            <a:r>
              <a:rPr lang="es-ES" dirty="0"/>
              <a:t>Se puede acceder al dispositivo incluso si no hay servicios de red configurados (fuera de banda)</a:t>
            </a:r>
          </a:p>
          <a:p>
            <a:pPr marL="742950" lvl="1" indent="-285750">
              <a:buFont typeface="Arial" panose="020B0604020202020204" pitchFamily="34" charset="0"/>
              <a:buChar char="•"/>
            </a:pPr>
            <a:r>
              <a:rPr lang="es-ES" dirty="0"/>
              <a:t>Forma utilizada para la configuración inicial del dispositivo.</a:t>
            </a:r>
          </a:p>
          <a:p>
            <a:pPr marL="742950" lvl="1" indent="-285750">
              <a:buFont typeface="Arial" panose="020B0604020202020204" pitchFamily="34" charset="0"/>
              <a:buChar char="•"/>
            </a:pPr>
            <a:r>
              <a:rPr lang="es-ES" dirty="0"/>
              <a:t>Necesita un cable de consola especial.</a:t>
            </a:r>
          </a:p>
          <a:p>
            <a:pPr marL="742950" lvl="1" indent="-285750">
              <a:buFont typeface="Arial" panose="020B0604020202020204" pitchFamily="34" charset="0"/>
              <a:buChar char="•"/>
            </a:pPr>
            <a:r>
              <a:rPr lang="es-ES" dirty="0"/>
              <a:t>Permite que se introduzcan comandos de configuración.</a:t>
            </a:r>
          </a:p>
          <a:p>
            <a:pPr marL="742950" lvl="1" indent="-285750">
              <a:buFont typeface="Arial" panose="020B0604020202020204" pitchFamily="34" charset="0"/>
              <a:buChar char="•"/>
            </a:pPr>
            <a:r>
              <a:rPr lang="es-ES" dirty="0"/>
              <a:t>Se debe configurar con contraseñas para impedir el acceso no autorizado.</a:t>
            </a:r>
          </a:p>
          <a:p>
            <a:pPr marL="742950" lvl="1" indent="-285750">
              <a:buFont typeface="Arial" panose="020B0604020202020204" pitchFamily="34" charset="0"/>
              <a:buChar char="•"/>
            </a:pPr>
            <a:r>
              <a:rPr lang="es-ES" dirty="0"/>
              <a:t>El dispositivo debe estar ubicado en una sala segura para que no se pueda acceder fácilmente al puerto de consola.</a:t>
            </a:r>
          </a:p>
          <a:p>
            <a:pPr marL="742950" lvl="1" indent="-285750">
              <a:buFont typeface="Arial" panose="020B0604020202020204" pitchFamily="34" charset="0"/>
              <a:buChar char="•"/>
            </a:pPr>
            <a:endParaRPr lang="es-ES" dirty="0"/>
          </a:p>
          <a:p>
            <a:pPr algn="l"/>
            <a:r>
              <a:rPr lang="es-ES" sz="2000" b="1" dirty="0"/>
              <a:t>Puerto Auxiliar</a:t>
            </a:r>
          </a:p>
          <a:p>
            <a:pPr marL="742950" lvl="1" indent="-285750">
              <a:buFont typeface="Arial" panose="020B0604020202020204" pitchFamily="34" charset="0"/>
              <a:buChar char="•"/>
            </a:pPr>
            <a:r>
              <a:rPr lang="es-ES" dirty="0"/>
              <a:t>Conexión fuera de banda. </a:t>
            </a:r>
          </a:p>
          <a:p>
            <a:pPr marL="742950" lvl="1" indent="-285750">
              <a:buFont typeface="Arial" panose="020B0604020202020204" pitchFamily="34" charset="0"/>
              <a:buChar char="•"/>
            </a:pPr>
            <a:r>
              <a:rPr lang="es-ES" dirty="0"/>
              <a:t>Utiliza la línea telefónica.</a:t>
            </a:r>
          </a:p>
          <a:p>
            <a:pPr marL="742950" lvl="1" indent="-285750">
              <a:buFont typeface="Arial" panose="020B0604020202020204" pitchFamily="34" charset="0"/>
              <a:buChar char="•"/>
            </a:pPr>
            <a:r>
              <a:rPr lang="es-ES" dirty="0"/>
              <a:t>Se puede utilizar como puerto de consola.</a:t>
            </a:r>
          </a:p>
          <a:p>
            <a:pPr marL="742950" lvl="1" indent="-285750">
              <a:buFont typeface="Arial" panose="020B0604020202020204" pitchFamily="34" charset="0"/>
              <a:buChar char="•"/>
            </a:pPr>
            <a:r>
              <a:rPr lang="es-ES" dirty="0"/>
              <a:t>Los switch </a:t>
            </a:r>
            <a:r>
              <a:rPr lang="es-ES" dirty="0" err="1"/>
              <a:t>catalys</a:t>
            </a:r>
            <a:r>
              <a:rPr lang="es-ES" dirty="0"/>
              <a:t> de cisco, no tienen puerto auxiliar.</a:t>
            </a:r>
          </a:p>
        </p:txBody>
      </p:sp>
    </p:spTree>
    <p:extLst>
      <p:ext uri="{BB962C8B-B14F-4D97-AF65-F5344CB8AC3E}">
        <p14:creationId xmlns:p14="http://schemas.microsoft.com/office/powerpoint/2010/main" val="15452944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425294"/>
            <a:ext cx="11292348" cy="3170099"/>
          </a:xfrm>
          <a:prstGeom prst="rect">
            <a:avLst/>
          </a:prstGeom>
        </p:spPr>
        <p:txBody>
          <a:bodyPr wrap="square">
            <a:spAutoFit/>
          </a:bodyPr>
          <a:lstStyle/>
          <a:p>
            <a:r>
              <a:rPr lang="es-MX" dirty="0"/>
              <a:t> </a:t>
            </a:r>
            <a:r>
              <a:rPr lang="es-ES" sz="2000" b="1" dirty="0"/>
              <a:t>Terminal virtual</a:t>
            </a:r>
          </a:p>
          <a:p>
            <a:pPr lvl="1"/>
            <a:r>
              <a:rPr lang="es-ES" dirty="0"/>
              <a:t>Existen dos formas, mediante Telnet o por Shell Seguro (SSH)</a:t>
            </a:r>
          </a:p>
          <a:p>
            <a:pPr lvl="1"/>
            <a:endParaRPr lang="es-ES" dirty="0"/>
          </a:p>
          <a:p>
            <a:pPr marL="742950" lvl="1" indent="-285750">
              <a:buFont typeface="Wingdings" panose="05000000000000000000" pitchFamily="2" charset="2"/>
              <a:buChar char="v"/>
            </a:pPr>
            <a:r>
              <a:rPr lang="es-ES" b="1" dirty="0"/>
              <a:t>Telnet</a:t>
            </a:r>
          </a:p>
          <a:p>
            <a:pPr marL="1200150" lvl="2" indent="-285750">
              <a:buFont typeface="Arial" panose="020B0604020202020204" pitchFamily="34" charset="0"/>
              <a:buChar char="•"/>
            </a:pPr>
            <a:r>
              <a:rPr lang="es-ES" dirty="0"/>
              <a:t>Método para acceder de forma remota a la CLI a través de una red.</a:t>
            </a:r>
          </a:p>
          <a:p>
            <a:pPr marL="1200150" lvl="2" indent="-285750">
              <a:buFont typeface="Arial" panose="020B0604020202020204" pitchFamily="34" charset="0"/>
              <a:buChar char="•"/>
            </a:pPr>
            <a:r>
              <a:rPr lang="es-ES" dirty="0"/>
              <a:t>Requiere servicios de red activos y que haya una interfaz activa configurada.</a:t>
            </a:r>
          </a:p>
          <a:p>
            <a:pPr marL="1657350" lvl="3" indent="-285750">
              <a:buFont typeface="Arial" panose="020B0604020202020204" pitchFamily="34" charset="0"/>
              <a:buChar char="•"/>
            </a:pPr>
            <a:endParaRPr lang="es-ES" dirty="0"/>
          </a:p>
          <a:p>
            <a:pPr marL="742950" lvl="1" indent="-285750">
              <a:buFont typeface="Wingdings" panose="05000000000000000000" pitchFamily="2" charset="2"/>
              <a:buChar char="v"/>
            </a:pPr>
            <a:r>
              <a:rPr lang="es-ES" b="1" dirty="0"/>
              <a:t>Shell seguro (SSH)</a:t>
            </a:r>
          </a:p>
          <a:p>
            <a:pPr marL="1200150" lvl="2" indent="-285750">
              <a:buFont typeface="Arial" panose="020B0604020202020204" pitchFamily="34" charset="0"/>
              <a:buChar char="•"/>
            </a:pPr>
            <a:r>
              <a:rPr lang="es-ES" dirty="0"/>
              <a:t>Inicio de sesión remoto similar a Telnet, pero utiliza más seguridad.</a:t>
            </a:r>
          </a:p>
          <a:p>
            <a:pPr marL="1200150" lvl="2" indent="-285750">
              <a:buFont typeface="Arial" panose="020B0604020202020204" pitchFamily="34" charset="0"/>
              <a:buChar char="•"/>
            </a:pPr>
            <a:r>
              <a:rPr lang="es-ES" dirty="0"/>
              <a:t>Cuenta con autenticación de contraseña más segura.</a:t>
            </a:r>
          </a:p>
          <a:p>
            <a:pPr marL="1200150" lvl="2" indent="-285750">
              <a:buFont typeface="Arial" panose="020B0604020202020204" pitchFamily="34" charset="0"/>
              <a:buChar char="•"/>
            </a:pPr>
            <a:r>
              <a:rPr lang="es-ES" dirty="0"/>
              <a:t>Utiliza encriptación al transportar datos.</a:t>
            </a:r>
          </a:p>
        </p:txBody>
      </p:sp>
      <p:pic>
        <p:nvPicPr>
          <p:cNvPr id="6148" name="Picture 4" descr="Emular terminal con PuTTY o SecureCRT">
            <a:extLst>
              <a:ext uri="{FF2B5EF4-FFF2-40B4-BE49-F238E27FC236}">
                <a16:creationId xmlns:a16="http://schemas.microsoft.com/office/drawing/2014/main" id="{DE74C5E1-9054-9381-6579-953D5D2C9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3238500"/>
            <a:ext cx="4343400" cy="361950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7BCE47D5-6F38-D177-AEDE-E7E2D198664D}"/>
              </a:ext>
            </a:extLst>
          </p:cNvPr>
          <p:cNvSpPr txBox="1"/>
          <p:nvPr/>
        </p:nvSpPr>
        <p:spPr>
          <a:xfrm>
            <a:off x="366252" y="3795535"/>
            <a:ext cx="7101348" cy="2862322"/>
          </a:xfrm>
          <a:prstGeom prst="rect">
            <a:avLst/>
          </a:prstGeom>
          <a:noFill/>
        </p:spPr>
        <p:txBody>
          <a:bodyPr wrap="square">
            <a:spAutoFit/>
          </a:bodyPr>
          <a:lstStyle/>
          <a:p>
            <a:pPr algn="l"/>
            <a:r>
              <a:rPr lang="es-ES" b="1" dirty="0"/>
              <a:t>Programas de emulación de terminal. </a:t>
            </a:r>
            <a:r>
              <a:rPr lang="es-ES" dirty="0"/>
              <a:t>Usados para conectarse a un dispositivo de red mediante los métodos de acceso mencionados:</a:t>
            </a:r>
          </a:p>
          <a:p>
            <a:pPr marL="1200150" lvl="2" indent="-285750">
              <a:buFont typeface="Arial" panose="020B0604020202020204" pitchFamily="34" charset="0"/>
              <a:buChar char="•"/>
            </a:pPr>
            <a:r>
              <a:rPr lang="es-ES" dirty="0" err="1"/>
              <a:t>PuTTY</a:t>
            </a:r>
            <a:r>
              <a:rPr lang="es-ES" dirty="0"/>
              <a:t> (</a:t>
            </a:r>
            <a:r>
              <a:rPr lang="es-ES" dirty="0">
                <a:hlinkClick r:id="rId3">
                  <a:extLst>
                    <a:ext uri="{A12FA001-AC4F-418D-AE19-62706E023703}">
                      <ahyp:hlinkClr xmlns:ahyp="http://schemas.microsoft.com/office/drawing/2018/hyperlinkcolor" val="tx"/>
                    </a:ext>
                  </a:extLst>
                </a:hlinkClick>
              </a:rPr>
              <a:t>Descargar</a:t>
            </a:r>
            <a:r>
              <a:rPr lang="es-ES" dirty="0"/>
              <a:t>)</a:t>
            </a:r>
          </a:p>
          <a:p>
            <a:pPr marL="1200150" lvl="2" indent="-285750">
              <a:buFont typeface="Arial" panose="020B0604020202020204" pitchFamily="34" charset="0"/>
              <a:buChar char="•"/>
            </a:pPr>
            <a:r>
              <a:rPr lang="es-ES" dirty="0"/>
              <a:t>Tera </a:t>
            </a:r>
            <a:r>
              <a:rPr lang="es-ES" dirty="0" err="1"/>
              <a:t>Term</a:t>
            </a:r>
            <a:r>
              <a:rPr lang="es-ES" dirty="0"/>
              <a:t> (</a:t>
            </a:r>
            <a:r>
              <a:rPr lang="es-ES" dirty="0">
                <a:hlinkClick r:id="rId4">
                  <a:extLst>
                    <a:ext uri="{A12FA001-AC4F-418D-AE19-62706E023703}">
                      <ahyp:hlinkClr xmlns:ahyp="http://schemas.microsoft.com/office/drawing/2018/hyperlinkcolor" val="tx"/>
                    </a:ext>
                  </a:extLst>
                </a:hlinkClick>
              </a:rPr>
              <a:t>Descargar</a:t>
            </a:r>
            <a:r>
              <a:rPr lang="es-ES" dirty="0"/>
              <a:t>)</a:t>
            </a:r>
          </a:p>
          <a:p>
            <a:pPr marL="1200150" lvl="2" indent="-285750">
              <a:buFont typeface="Arial" panose="020B0604020202020204" pitchFamily="34" charset="0"/>
              <a:buChar char="•"/>
            </a:pPr>
            <a:r>
              <a:rPr lang="es-ES" dirty="0" err="1"/>
              <a:t>SecureCRT</a:t>
            </a:r>
            <a:r>
              <a:rPr lang="es-ES" dirty="0"/>
              <a:t> (</a:t>
            </a:r>
            <a:r>
              <a:rPr lang="es-ES" dirty="0">
                <a:hlinkClick r:id="rId5">
                  <a:extLst>
                    <a:ext uri="{A12FA001-AC4F-418D-AE19-62706E023703}">
                      <ahyp:hlinkClr xmlns:ahyp="http://schemas.microsoft.com/office/drawing/2018/hyperlinkcolor" val="tx"/>
                    </a:ext>
                  </a:extLst>
                </a:hlinkClick>
              </a:rPr>
              <a:t>Descargar</a:t>
            </a:r>
            <a:r>
              <a:rPr lang="es-ES" dirty="0"/>
              <a:t>)</a:t>
            </a:r>
          </a:p>
          <a:p>
            <a:pPr marL="1200150" lvl="2" indent="-285750">
              <a:buFont typeface="Arial" panose="020B0604020202020204" pitchFamily="34" charset="0"/>
              <a:buChar char="•"/>
            </a:pPr>
            <a:r>
              <a:rPr lang="es-ES" dirty="0" err="1"/>
              <a:t>HyperTerminal</a:t>
            </a:r>
            <a:r>
              <a:rPr lang="es-ES" dirty="0"/>
              <a:t> (</a:t>
            </a:r>
            <a:r>
              <a:rPr lang="es-ES" dirty="0">
                <a:hlinkClick r:id="rId6">
                  <a:extLst>
                    <a:ext uri="{A12FA001-AC4F-418D-AE19-62706E023703}">
                      <ahyp:hlinkClr xmlns:ahyp="http://schemas.microsoft.com/office/drawing/2018/hyperlinkcolor" val="tx"/>
                    </a:ext>
                  </a:extLst>
                </a:hlinkClick>
              </a:rPr>
              <a:t>Descargar</a:t>
            </a:r>
            <a:r>
              <a:rPr lang="es-ES" dirty="0"/>
              <a:t>)</a:t>
            </a:r>
          </a:p>
          <a:p>
            <a:pPr marL="1200150" lvl="2" indent="-285750">
              <a:buFont typeface="Arial" panose="020B0604020202020204" pitchFamily="34" charset="0"/>
              <a:buChar char="•"/>
            </a:pPr>
            <a:r>
              <a:rPr lang="es-ES" dirty="0"/>
              <a:t>OS X Terminal</a:t>
            </a:r>
          </a:p>
          <a:p>
            <a:pPr marL="1200150" lvl="2" indent="-285750">
              <a:buFont typeface="Arial" panose="020B0604020202020204" pitchFamily="34" charset="0"/>
              <a:buChar char="•"/>
            </a:pPr>
            <a:r>
              <a:rPr lang="es-ES" b="1" dirty="0" err="1"/>
              <a:t>minicom</a:t>
            </a:r>
            <a:endParaRPr lang="es-ES" b="1" dirty="0"/>
          </a:p>
          <a:p>
            <a:pPr marL="1200150" lvl="2" indent="-285750">
              <a:buFont typeface="Arial" panose="020B0604020202020204" pitchFamily="34" charset="0"/>
              <a:buChar char="•"/>
            </a:pPr>
            <a:endParaRPr lang="es-ES" dirty="0"/>
          </a:p>
        </p:txBody>
      </p:sp>
    </p:spTree>
    <p:extLst>
      <p:ext uri="{BB962C8B-B14F-4D97-AF65-F5344CB8AC3E}">
        <p14:creationId xmlns:p14="http://schemas.microsoft.com/office/powerpoint/2010/main" val="3648566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587219"/>
            <a:ext cx="11416173" cy="6309420"/>
          </a:xfrm>
          <a:prstGeom prst="rect">
            <a:avLst/>
          </a:prstGeom>
        </p:spPr>
        <p:txBody>
          <a:bodyPr wrap="square">
            <a:spAutoFit/>
          </a:bodyPr>
          <a:lstStyle/>
          <a:p>
            <a:r>
              <a:rPr lang="es-MX" dirty="0"/>
              <a:t> </a:t>
            </a:r>
            <a:r>
              <a:rPr lang="es-MX" sz="2000" b="1" dirty="0"/>
              <a:t>Modos de funcionamiento de Cisco IOS</a:t>
            </a:r>
          </a:p>
          <a:p>
            <a:endParaRPr lang="es-MX" sz="2400" b="1" dirty="0"/>
          </a:p>
          <a:p>
            <a:pPr marL="285750" indent="-285750">
              <a:buFont typeface="Arial" panose="020B0604020202020204" pitchFamily="34" charset="0"/>
              <a:buChar char="•"/>
            </a:pPr>
            <a:r>
              <a:rPr lang="es-ES" b="1" dirty="0"/>
              <a:t>Modo EXEC Usuario: </a:t>
            </a:r>
            <a:r>
              <a:rPr lang="es-ES" dirty="0"/>
              <a:t>Este modo tiene capacidades limitadas, es útil para operaciones básicas. permite un número limitado de comandos básicos de monitoreo, pero </a:t>
            </a:r>
            <a:r>
              <a:rPr lang="es-ES" b="1" dirty="0"/>
              <a:t>no permite </a:t>
            </a:r>
            <a:r>
              <a:rPr lang="es-ES" dirty="0"/>
              <a:t>la ejecución de ningún comando que pueda cambiar la configuración del dispositivo. </a:t>
            </a:r>
            <a:r>
              <a:rPr lang="es-MX" dirty="0"/>
              <a:t>A menudo se le conoce como modo “solo lectura”.</a:t>
            </a:r>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r>
              <a:rPr lang="es-ES" b="1" dirty="0"/>
              <a:t>Modo EXEC Privilegiado: </a:t>
            </a:r>
            <a:r>
              <a:rPr lang="es-ES" dirty="0"/>
              <a:t>Permite acceso a todos los comandos y funciones. El usuario puede usar cualquier comando de monitoreo y ejecutar comandos de configuración y administración. Los modos de configuración superiores, solo se pueden alcanzar desde el modo EXEC privilegiado.</a:t>
            </a:r>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r>
              <a:rPr lang="es-ES" dirty="0"/>
              <a:t>Para configurar el dispositivo, el usuario debe ingresar al modo de configuración global (</a:t>
            </a:r>
            <a:r>
              <a:rPr lang="es-ES" dirty="0" err="1"/>
              <a:t>config</a:t>
            </a:r>
            <a:r>
              <a:rPr lang="es-ES" dirty="0"/>
              <a:t> global), desde ahí, se realizan cambios en la configuración de la CLI que afectan el funcionamiento del dispositivo en su conjunto. El modo de configuración global se identifica mediante un mensaje que termina con (</a:t>
            </a:r>
            <a:r>
              <a:rPr lang="es-ES" dirty="0" err="1"/>
              <a:t>config</a:t>
            </a:r>
            <a:r>
              <a:rPr lang="es-ES" dirty="0"/>
              <a:t>)# después del nombre del dispositivo, como:</a:t>
            </a:r>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r>
              <a:rPr lang="es-ES" dirty="0"/>
              <a:t>Comando: configure terminal</a:t>
            </a:r>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endParaRPr lang="es-MX" dirty="0"/>
          </a:p>
        </p:txBody>
      </p:sp>
      <p:sp>
        <p:nvSpPr>
          <p:cNvPr id="5" name="CuadroTexto 4">
            <a:extLst>
              <a:ext uri="{FF2B5EF4-FFF2-40B4-BE49-F238E27FC236}">
                <a16:creationId xmlns:a16="http://schemas.microsoft.com/office/drawing/2014/main" id="{E4C61D40-5068-4C56-612E-E4D826FDA367}"/>
              </a:ext>
            </a:extLst>
          </p:cNvPr>
          <p:cNvSpPr txBox="1"/>
          <p:nvPr/>
        </p:nvSpPr>
        <p:spPr>
          <a:xfrm>
            <a:off x="3248025" y="5419311"/>
            <a:ext cx="4933950" cy="369332"/>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739327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587219"/>
            <a:ext cx="11416173" cy="5355312"/>
          </a:xfrm>
          <a:prstGeom prst="rect">
            <a:avLst/>
          </a:prstGeom>
        </p:spPr>
        <p:txBody>
          <a:bodyPr wrap="square">
            <a:spAutoFit/>
          </a:bodyPr>
          <a:lstStyle/>
          <a:p>
            <a:r>
              <a:rPr lang="es-MX" dirty="0"/>
              <a:t> </a:t>
            </a:r>
            <a:endParaRPr lang="es-MX" sz="2400" b="1" dirty="0"/>
          </a:p>
          <a:p>
            <a:pPr marR="0" lvl="0" fontAlgn="base">
              <a:lnSpc>
                <a:spcPct val="100000"/>
              </a:lnSpc>
              <a:spcBef>
                <a:spcPct val="0"/>
              </a:spcBef>
              <a:spcAft>
                <a:spcPct val="0"/>
              </a:spcAft>
              <a:buClrTx/>
              <a:buSzTx/>
              <a:tabLst/>
            </a:pPr>
            <a:r>
              <a:rPr lang="es-MX" altLang="es-MX" dirty="0"/>
              <a:t>Se accede al modo de configuración global antes que otros modos de configuración específicos. Desde el modo de configuración global, el usuario puede ingresar a diferentes modos de </a:t>
            </a:r>
            <a:r>
              <a:rPr lang="es-MX" altLang="es-MX" dirty="0" err="1"/>
              <a:t>subconfiguración</a:t>
            </a:r>
            <a:r>
              <a:rPr lang="es-MX" altLang="es-MX" dirty="0"/>
              <a:t>. Cada uno de estos modos permite la configuración de una parte o función particular del dispositivo IOS. Dos modos de </a:t>
            </a:r>
            <a:r>
              <a:rPr lang="es-MX" altLang="es-MX" dirty="0" err="1"/>
              <a:t>subconfiguración</a:t>
            </a:r>
            <a:r>
              <a:rPr lang="es-MX" altLang="es-MX" dirty="0"/>
              <a:t> comunes incluyen:</a:t>
            </a:r>
          </a:p>
          <a:p>
            <a:pPr marR="0" lvl="0" fontAlgn="base">
              <a:lnSpc>
                <a:spcPct val="100000"/>
              </a:lnSpc>
              <a:spcBef>
                <a:spcPct val="0"/>
              </a:spcBef>
              <a:spcAft>
                <a:spcPct val="0"/>
              </a:spcAft>
              <a:buClrTx/>
              <a:buSzTx/>
              <a:tabLst/>
            </a:pPr>
            <a:endParaRPr lang="es-MX" altLang="es-MX" dirty="0"/>
          </a:p>
          <a:p>
            <a:pPr marL="285750" marR="0" lvl="0" indent="-285750" fontAlgn="base">
              <a:lnSpc>
                <a:spcPct val="100000"/>
              </a:lnSpc>
              <a:spcBef>
                <a:spcPct val="0"/>
              </a:spcBef>
              <a:spcAft>
                <a:spcPct val="0"/>
              </a:spcAft>
              <a:buClrTx/>
              <a:buSzTx/>
              <a:buFont typeface="Arial" panose="020B0604020202020204" pitchFamily="34" charset="0"/>
              <a:buChar char="•"/>
              <a:tabLst/>
            </a:pPr>
            <a:r>
              <a:rPr lang="es-MX" altLang="es-MX" b="1" dirty="0"/>
              <a:t>Modo de configuración de línea: </a:t>
            </a:r>
            <a:r>
              <a:rPr lang="es-MX" altLang="es-MX" dirty="0"/>
              <a:t>se utiliza para configurar el acceso a la consola, SSH, Telnet o AUX.</a:t>
            </a:r>
          </a:p>
          <a:p>
            <a:pPr marL="285750" marR="0" lvl="0" indent="-285750" fontAlgn="base">
              <a:lnSpc>
                <a:spcPct val="100000"/>
              </a:lnSpc>
              <a:spcBef>
                <a:spcPct val="0"/>
              </a:spcBef>
              <a:spcAft>
                <a:spcPct val="0"/>
              </a:spcAft>
              <a:buClrTx/>
              <a:buSzTx/>
              <a:buFont typeface="Arial" panose="020B0604020202020204" pitchFamily="34" charset="0"/>
              <a:buChar char="•"/>
              <a:tabLst/>
            </a:pPr>
            <a:r>
              <a:rPr lang="es-MX" altLang="es-MX" b="1" dirty="0"/>
              <a:t>Modo de configuración de interfaz: </a:t>
            </a:r>
            <a:r>
              <a:rPr lang="es-MX" altLang="es-MX" dirty="0"/>
              <a:t>se utiliza para configurar un puerto o una interfaz de red de </a:t>
            </a:r>
            <a:r>
              <a:rPr lang="es-MX" altLang="es-MX" dirty="0" err="1"/>
              <a:t>Router</a:t>
            </a:r>
            <a:r>
              <a:rPr lang="es-MX" altLang="es-MX" dirty="0"/>
              <a:t>.</a:t>
            </a:r>
          </a:p>
          <a:p>
            <a:pPr marL="285750" marR="0" lvl="0" indent="-285750" fontAlgn="base">
              <a:lnSpc>
                <a:spcPct val="100000"/>
              </a:lnSpc>
              <a:spcBef>
                <a:spcPct val="0"/>
              </a:spcBef>
              <a:spcAft>
                <a:spcPct val="0"/>
              </a:spcAft>
              <a:buClrTx/>
              <a:buSzTx/>
              <a:buFont typeface="Arial" panose="020B0604020202020204" pitchFamily="34" charset="0"/>
              <a:buChar char="•"/>
              <a:tabLst/>
            </a:pPr>
            <a:endParaRPr lang="es-MX" altLang="es-MX" dirty="0"/>
          </a:p>
          <a:p>
            <a:pPr marR="0" lvl="0" fontAlgn="base">
              <a:lnSpc>
                <a:spcPct val="100000"/>
              </a:lnSpc>
              <a:spcBef>
                <a:spcPct val="0"/>
              </a:spcBef>
              <a:spcAft>
                <a:spcPct val="0"/>
              </a:spcAft>
              <a:buClrTx/>
              <a:buSzTx/>
              <a:tabLst/>
            </a:pPr>
            <a:r>
              <a:rPr lang="es-MX" altLang="es-MX" dirty="0"/>
              <a:t>Cuando se utiliza la CLI, el modo se identifica mediante la línea de comandos que es exclusiva de ese modo. Por defecto, cada solicitud comienza con el nombre del dispositivo. Después del nombre, el resto del mensaje indica el modo. Por ejemplo, el indicador predeterminado para el modo de configuración de línea </a:t>
            </a:r>
            <a:r>
              <a:rPr kumimoji="0" lang="es-MX" altLang="es-MX" sz="1800" b="0" i="0" u="none" strike="noStrike" cap="none" normalizeH="0" baseline="0" dirty="0">
                <a:ln>
                  <a:noFill/>
                </a:ln>
                <a:solidFill>
                  <a:srgbClr val="444444"/>
                </a:solidFill>
                <a:effectLst/>
              </a:rPr>
              <a:t>es </a:t>
            </a:r>
            <a:r>
              <a:rPr kumimoji="0" lang="es-MX" altLang="es-MX" b="1" i="0" u="none" strike="noStrike" cap="none" normalizeH="0" baseline="0" dirty="0">
                <a:ln>
                  <a:noFill/>
                </a:ln>
                <a:solidFill>
                  <a:srgbClr val="555555"/>
                </a:solidFill>
                <a:effectLst/>
              </a:rPr>
              <a:t>Switch(</a:t>
            </a:r>
            <a:r>
              <a:rPr kumimoji="0" lang="es-MX" altLang="es-MX" b="1" i="0" u="none" strike="noStrike" cap="none" normalizeH="0" baseline="0" dirty="0" err="1">
                <a:ln>
                  <a:noFill/>
                </a:ln>
                <a:solidFill>
                  <a:srgbClr val="555555"/>
                </a:solidFill>
                <a:effectLst/>
              </a:rPr>
              <a:t>config</a:t>
            </a:r>
            <a:r>
              <a:rPr kumimoji="0" lang="es-MX" altLang="es-MX" b="1" i="0" u="none" strike="noStrike" cap="none" normalizeH="0" baseline="0" dirty="0">
                <a:ln>
                  <a:noFill/>
                </a:ln>
                <a:solidFill>
                  <a:srgbClr val="555555"/>
                </a:solidFill>
                <a:effectLst/>
              </a:rPr>
              <a:t>-line)#</a:t>
            </a:r>
            <a:r>
              <a:rPr kumimoji="0" lang="es-MX" altLang="es-MX" sz="1800" b="0" i="0" u="none" strike="noStrike" cap="none" normalizeH="0" baseline="0" dirty="0">
                <a:ln>
                  <a:noFill/>
                </a:ln>
                <a:solidFill>
                  <a:srgbClr val="444444"/>
                </a:solidFill>
                <a:effectLst/>
              </a:rPr>
              <a:t> y el indicador </a:t>
            </a:r>
            <a:r>
              <a:rPr lang="es-MX" altLang="es-MX" dirty="0"/>
              <a:t>predeterminado</a:t>
            </a:r>
            <a:r>
              <a:rPr kumimoji="0" lang="es-MX" altLang="es-MX" sz="1800" b="0" i="0" u="none" strike="noStrike" cap="none" normalizeH="0" baseline="0" dirty="0">
                <a:ln>
                  <a:noFill/>
                </a:ln>
                <a:solidFill>
                  <a:srgbClr val="444444"/>
                </a:solidFill>
                <a:effectLst/>
              </a:rPr>
              <a:t> para el modo de configuración de interfaz es </a:t>
            </a:r>
            <a:r>
              <a:rPr kumimoji="0" lang="es-MX" altLang="es-MX" b="1" i="0" u="none" strike="noStrike" cap="none" normalizeH="0" baseline="0" dirty="0">
                <a:ln>
                  <a:noFill/>
                </a:ln>
                <a:solidFill>
                  <a:srgbClr val="555555"/>
                </a:solidFill>
                <a:effectLst/>
              </a:rPr>
              <a:t>Switch(</a:t>
            </a:r>
            <a:r>
              <a:rPr kumimoji="0" lang="es-MX" altLang="es-MX" b="1" i="0" u="none" strike="noStrike" cap="none" normalizeH="0" baseline="0" dirty="0" err="1">
                <a:ln>
                  <a:noFill/>
                </a:ln>
                <a:solidFill>
                  <a:srgbClr val="555555"/>
                </a:solidFill>
                <a:effectLst/>
              </a:rPr>
              <a:t>config-if</a:t>
            </a:r>
            <a:r>
              <a:rPr kumimoji="0" lang="es-MX" altLang="es-MX" b="1" i="0" u="none" strike="noStrike" cap="none" normalizeH="0" baseline="0" dirty="0">
                <a:ln>
                  <a:noFill/>
                </a:ln>
                <a:solidFill>
                  <a:srgbClr val="555555"/>
                </a:solidFill>
                <a:effectLst/>
              </a:rPr>
              <a:t>)#</a:t>
            </a:r>
            <a:r>
              <a:rPr kumimoji="0" lang="es-MX" altLang="es-MX" sz="1800" b="0" i="0" u="none" strike="noStrike" cap="none" normalizeH="0" baseline="0" dirty="0">
                <a:ln>
                  <a:noFill/>
                </a:ln>
                <a:solidFill>
                  <a:srgbClr val="444444"/>
                </a:solidFill>
                <a:effectLst/>
              </a:rPr>
              <a:t>.</a:t>
            </a:r>
          </a:p>
          <a:p>
            <a:pPr marR="0" lvl="0" fontAlgn="base">
              <a:lnSpc>
                <a:spcPct val="100000"/>
              </a:lnSpc>
              <a:spcBef>
                <a:spcPct val="0"/>
              </a:spcBef>
              <a:spcAft>
                <a:spcPct val="0"/>
              </a:spcAft>
              <a:buClrTx/>
              <a:buSzTx/>
              <a:tabLst/>
            </a:pPr>
            <a:endParaRPr lang="es-MX" altLang="es-MX" dirty="0"/>
          </a:p>
          <a:p>
            <a:pPr marR="0" lvl="0" fontAlgn="base">
              <a:lnSpc>
                <a:spcPct val="100000"/>
              </a:lnSpc>
              <a:spcBef>
                <a:spcPct val="0"/>
              </a:spcBef>
              <a:spcAft>
                <a:spcPct val="0"/>
              </a:spcAft>
              <a:buClrTx/>
              <a:buSzTx/>
              <a:tabLst/>
            </a:pPr>
            <a:r>
              <a:rPr lang="es-ES" dirty="0"/>
              <a:t>Una vez entendido los modos de ejecución (que son sólo dos), la navegación entre los modos también se realiza mediante comandos y estos son los primeros comandos que debes aprender:</a:t>
            </a:r>
            <a:endParaRPr lang="es-MX" altLang="es-MX" dirty="0"/>
          </a:p>
        </p:txBody>
      </p:sp>
      <p:sp>
        <p:nvSpPr>
          <p:cNvPr id="6" name="CuadroTexto 5">
            <a:extLst>
              <a:ext uri="{FF2B5EF4-FFF2-40B4-BE49-F238E27FC236}">
                <a16:creationId xmlns:a16="http://schemas.microsoft.com/office/drawing/2014/main" id="{339788C2-24A5-674B-C8E7-7846DE60E631}"/>
              </a:ext>
            </a:extLst>
          </p:cNvPr>
          <p:cNvSpPr txBox="1"/>
          <p:nvPr/>
        </p:nvSpPr>
        <p:spPr>
          <a:xfrm>
            <a:off x="816768" y="6094595"/>
            <a:ext cx="4136231"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&gt;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enable</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
        <p:nvSpPr>
          <p:cNvPr id="7" name="CuadroTexto 6">
            <a:extLst>
              <a:ext uri="{FF2B5EF4-FFF2-40B4-BE49-F238E27FC236}">
                <a16:creationId xmlns:a16="http://schemas.microsoft.com/office/drawing/2014/main" id="{53F00D05-019D-6078-4FD5-4DAAC6A210D8}"/>
              </a:ext>
            </a:extLst>
          </p:cNvPr>
          <p:cNvSpPr txBox="1"/>
          <p:nvPr/>
        </p:nvSpPr>
        <p:spPr>
          <a:xfrm>
            <a:off x="6284119" y="6095640"/>
            <a:ext cx="4374356"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Router</a:t>
            </a:r>
            <a:r>
              <a:rPr lang="es-MX" altLang="es-MX" dirty="0" err="1">
                <a:solidFill>
                  <a:srgbClr val="FFFFFF"/>
                </a:solidFill>
                <a:latin typeface="Courier New" panose="02070309020205020404" pitchFamily="49" charset="0"/>
                <a:cs typeface="Courier New" panose="02070309020205020404" pitchFamily="49" charset="0"/>
              </a:rPr>
              <a:t>#disab</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le</a:t>
            </a:r>
            <a:endPar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lang="es-MX" altLang="es-MX" dirty="0">
                <a:solidFill>
                  <a:srgbClr val="FFFFFF"/>
                </a:solidFill>
                <a:latin typeface="Courier New" panose="02070309020205020404" pitchFamily="49" charset="0"/>
                <a:cs typeface="Courier New" panose="02070309020205020404" pitchFamily="49" charset="0"/>
              </a:rPr>
              <a:t>&gt;</a:t>
            </a:r>
            <a:endParaRPr kumimoji="0" lang="es-MX" altLang="es-MX" sz="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9849011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587219"/>
            <a:ext cx="6529849" cy="369332"/>
          </a:xfrm>
          <a:prstGeom prst="rect">
            <a:avLst/>
          </a:prstGeom>
        </p:spPr>
        <p:txBody>
          <a:bodyPr wrap="square">
            <a:spAutoFit/>
          </a:bodyPr>
          <a:lstStyle/>
          <a:p>
            <a:r>
              <a:rPr lang="es-MX" dirty="0"/>
              <a:t> </a:t>
            </a:r>
            <a:r>
              <a:rPr lang="es-MX" altLang="es-MX" dirty="0"/>
              <a:t>Si deseas acceder al modo de configuración global:</a:t>
            </a:r>
          </a:p>
        </p:txBody>
      </p:sp>
      <p:sp>
        <p:nvSpPr>
          <p:cNvPr id="6" name="CuadroTexto 5">
            <a:extLst>
              <a:ext uri="{FF2B5EF4-FFF2-40B4-BE49-F238E27FC236}">
                <a16:creationId xmlns:a16="http://schemas.microsoft.com/office/drawing/2014/main" id="{339788C2-24A5-674B-C8E7-7846DE60E631}"/>
              </a:ext>
            </a:extLst>
          </p:cNvPr>
          <p:cNvSpPr txBox="1"/>
          <p:nvPr/>
        </p:nvSpPr>
        <p:spPr>
          <a:xfrm>
            <a:off x="5374481" y="997498"/>
            <a:ext cx="4136231"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lang="es-MX" altLang="es-MX" dirty="0">
                <a:solidFill>
                  <a:srgbClr val="FFFFFF"/>
                </a:solidFill>
                <a:latin typeface="Courier New" panose="02070309020205020404" pitchFamily="49" charset="0"/>
                <a:cs typeface="Courier New" panose="02070309020205020404" pitchFamily="49" charset="0"/>
              </a:rPr>
              <a:t># configure terminal</a:t>
            </a:r>
          </a:p>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
        <p:nvSpPr>
          <p:cNvPr id="25" name="Rectángulo 24">
            <a:extLst>
              <a:ext uri="{FF2B5EF4-FFF2-40B4-BE49-F238E27FC236}">
                <a16:creationId xmlns:a16="http://schemas.microsoft.com/office/drawing/2014/main" id="{D8CE252F-3897-6548-F5FF-CB4BD98E8C09}"/>
              </a:ext>
            </a:extLst>
          </p:cNvPr>
          <p:cNvSpPr/>
          <p:nvPr/>
        </p:nvSpPr>
        <p:spPr>
          <a:xfrm>
            <a:off x="366251" y="1844861"/>
            <a:ext cx="9063499" cy="369332"/>
          </a:xfrm>
          <a:prstGeom prst="rect">
            <a:avLst/>
          </a:prstGeom>
        </p:spPr>
        <p:txBody>
          <a:bodyPr wrap="square">
            <a:spAutoFit/>
          </a:bodyPr>
          <a:lstStyle/>
          <a:p>
            <a:r>
              <a:rPr lang="es-MX" dirty="0"/>
              <a:t> </a:t>
            </a:r>
            <a:r>
              <a:rPr lang="es-MX" altLang="es-MX" dirty="0"/>
              <a:t>Entrar en el modo de </a:t>
            </a:r>
            <a:r>
              <a:rPr lang="es-MX" altLang="es-MX" dirty="0" err="1"/>
              <a:t>subconfiguración</a:t>
            </a:r>
            <a:r>
              <a:rPr lang="es-MX" altLang="es-MX" dirty="0"/>
              <a:t> de línea para el puerto de consola:</a:t>
            </a:r>
          </a:p>
        </p:txBody>
      </p:sp>
      <p:sp>
        <p:nvSpPr>
          <p:cNvPr id="26" name="CuadroTexto 25">
            <a:extLst>
              <a:ext uri="{FF2B5EF4-FFF2-40B4-BE49-F238E27FC236}">
                <a16:creationId xmlns:a16="http://schemas.microsoft.com/office/drawing/2014/main" id="{BF76B084-BB63-30D1-AA07-D5142DB35D9C}"/>
              </a:ext>
            </a:extLst>
          </p:cNvPr>
          <p:cNvSpPr txBox="1"/>
          <p:nvPr/>
        </p:nvSpPr>
        <p:spPr>
          <a:xfrm>
            <a:off x="5374481" y="2255140"/>
            <a:ext cx="6451268" cy="769441"/>
          </a:xfrm>
          <a:prstGeom prst="rect">
            <a:avLst/>
          </a:prstGeom>
          <a:solidFill>
            <a:schemeClr val="tx1"/>
          </a:solidFill>
        </p:spPr>
        <p:txBody>
          <a:bodyPr wrap="square">
            <a:spAutoFit/>
          </a:bodyPr>
          <a:lstStyle/>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)#line </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console</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 0 </a:t>
            </a:r>
          </a:p>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-line)#</a:t>
            </a:r>
            <a:endParaRPr kumimoji="0" lang="es-MX" altLang="es-MX" sz="800" b="0" i="0" u="none" strike="noStrike" cap="none" normalizeH="0" baseline="0" dirty="0">
              <a:ln>
                <a:noFill/>
              </a:ln>
              <a:solidFill>
                <a:schemeClr val="tx1"/>
              </a:solidFill>
              <a:effectLst/>
            </a:endParaRPr>
          </a:p>
          <a:p>
            <a:pPr defTabSz="914400" eaLnBrk="0" fontAlgn="base" hangingPunct="0">
              <a:spcBef>
                <a:spcPct val="0"/>
              </a:spcBef>
              <a:spcAft>
                <a:spcPct val="0"/>
              </a:spcAft>
            </a:pPr>
            <a:endParaRPr kumimoji="0" lang="es-MX" altLang="es-MX" sz="800" b="0" i="0" u="none" strike="noStrike" cap="none" normalizeH="0" baseline="0" dirty="0">
              <a:ln>
                <a:noFill/>
              </a:ln>
              <a:solidFill>
                <a:schemeClr val="tx1"/>
              </a:solidFill>
              <a:effectLst/>
            </a:endParaRPr>
          </a:p>
        </p:txBody>
      </p:sp>
      <p:sp>
        <p:nvSpPr>
          <p:cNvPr id="27" name="Rectángulo 26">
            <a:extLst>
              <a:ext uri="{FF2B5EF4-FFF2-40B4-BE49-F238E27FC236}">
                <a16:creationId xmlns:a16="http://schemas.microsoft.com/office/drawing/2014/main" id="{4365D5AD-0567-3385-52A5-3C0ECA6D4059}"/>
              </a:ext>
            </a:extLst>
          </p:cNvPr>
          <p:cNvSpPr/>
          <p:nvPr/>
        </p:nvSpPr>
        <p:spPr>
          <a:xfrm>
            <a:off x="366251" y="3102503"/>
            <a:ext cx="9606424" cy="646331"/>
          </a:xfrm>
          <a:prstGeom prst="rect">
            <a:avLst/>
          </a:prstGeom>
        </p:spPr>
        <p:txBody>
          <a:bodyPr wrap="square">
            <a:spAutoFit/>
          </a:bodyPr>
          <a:lstStyle/>
          <a:p>
            <a:r>
              <a:rPr lang="es-MX" dirty="0"/>
              <a:t> </a:t>
            </a:r>
            <a:r>
              <a:rPr lang="es-MX" altLang="es-MX" dirty="0"/>
              <a:t>El comando </a:t>
            </a:r>
            <a:r>
              <a:rPr lang="es-MX" altLang="es-MX" b="1" i="1" dirty="0" err="1"/>
              <a:t>exit</a:t>
            </a:r>
            <a:r>
              <a:rPr lang="es-MX" altLang="es-MX" dirty="0"/>
              <a:t> permite salir del modo de comando anterior en la jerarquía.</a:t>
            </a:r>
          </a:p>
          <a:p>
            <a:endParaRPr lang="es-MX" altLang="es-MX" dirty="0"/>
          </a:p>
        </p:txBody>
      </p:sp>
      <p:sp>
        <p:nvSpPr>
          <p:cNvPr id="28" name="CuadroTexto 27">
            <a:extLst>
              <a:ext uri="{FF2B5EF4-FFF2-40B4-BE49-F238E27FC236}">
                <a16:creationId xmlns:a16="http://schemas.microsoft.com/office/drawing/2014/main" id="{ADC95D4D-0AB3-100C-9A77-D088F9F5F14D}"/>
              </a:ext>
            </a:extLst>
          </p:cNvPr>
          <p:cNvSpPr txBox="1"/>
          <p:nvPr/>
        </p:nvSpPr>
        <p:spPr>
          <a:xfrm>
            <a:off x="5374481" y="3512782"/>
            <a:ext cx="6141244"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-line)#</a:t>
            </a:r>
            <a:r>
              <a:rPr lang="es-MX" altLang="es-MX" dirty="0">
                <a:solidFill>
                  <a:srgbClr val="FFFFFF"/>
                </a:solidFill>
                <a:latin typeface="Courier New" panose="02070309020205020404" pitchFamily="49" charset="0"/>
                <a:cs typeface="Courier New" panose="02070309020205020404" pitchFamily="49" charset="0"/>
              </a:rPr>
              <a:t> </a:t>
            </a:r>
            <a:r>
              <a:rPr lang="es-MX" altLang="es-MX" dirty="0" err="1">
                <a:solidFill>
                  <a:srgbClr val="FFFFFF"/>
                </a:solidFill>
                <a:latin typeface="Courier New" panose="02070309020205020404" pitchFamily="49" charset="0"/>
                <a:cs typeface="Courier New" panose="02070309020205020404" pitchFamily="49" charset="0"/>
              </a:rPr>
              <a:t>exit</a:t>
            </a:r>
            <a:endParaRPr lang="es-MX" altLang="es-MX" dirty="0">
              <a:solidFill>
                <a:srgbClr val="FFFFFF"/>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
        <p:nvSpPr>
          <p:cNvPr id="29" name="Rectángulo 28">
            <a:extLst>
              <a:ext uri="{FF2B5EF4-FFF2-40B4-BE49-F238E27FC236}">
                <a16:creationId xmlns:a16="http://schemas.microsoft.com/office/drawing/2014/main" id="{B85C5C3B-147F-CB31-46DB-2EB8A5F54010}"/>
              </a:ext>
            </a:extLst>
          </p:cNvPr>
          <p:cNvSpPr/>
          <p:nvPr/>
        </p:nvSpPr>
        <p:spPr>
          <a:xfrm>
            <a:off x="366251" y="4200060"/>
            <a:ext cx="11753850" cy="646331"/>
          </a:xfrm>
          <a:prstGeom prst="rect">
            <a:avLst/>
          </a:prstGeom>
        </p:spPr>
        <p:txBody>
          <a:bodyPr wrap="square">
            <a:spAutoFit/>
          </a:bodyPr>
          <a:lstStyle/>
          <a:p>
            <a:r>
              <a:rPr lang="es-MX" altLang="es-MX" dirty="0"/>
              <a:t>Para pasar de cualquier modo </a:t>
            </a:r>
            <a:r>
              <a:rPr lang="es-MX" altLang="es-MX" dirty="0" err="1"/>
              <a:t>subconfiguración</a:t>
            </a:r>
            <a:r>
              <a:rPr lang="es-MX" altLang="es-MX" dirty="0"/>
              <a:t> al modo EXEC privilegiado, introduce el comando </a:t>
            </a:r>
          </a:p>
          <a:p>
            <a:r>
              <a:rPr lang="es-MX" altLang="es-MX" b="1" i="1" dirty="0" err="1"/>
              <a:t>end</a:t>
            </a:r>
            <a:r>
              <a:rPr lang="es-MX" altLang="es-MX" dirty="0"/>
              <a:t> o </a:t>
            </a:r>
            <a:r>
              <a:rPr lang="es-MX" altLang="es-MX" b="1" i="1" dirty="0" err="1"/>
              <a:t>Ctrl</a:t>
            </a:r>
            <a:r>
              <a:rPr lang="es-MX" altLang="es-MX" b="1" i="1" dirty="0"/>
              <a:t> + Z.</a:t>
            </a:r>
            <a:endParaRPr lang="es-MX" altLang="es-MX" dirty="0"/>
          </a:p>
        </p:txBody>
      </p:sp>
      <p:sp>
        <p:nvSpPr>
          <p:cNvPr id="31" name="CuadroTexto 30">
            <a:extLst>
              <a:ext uri="{FF2B5EF4-FFF2-40B4-BE49-F238E27FC236}">
                <a16:creationId xmlns:a16="http://schemas.microsoft.com/office/drawing/2014/main" id="{F4FEF9A4-6DD7-55B3-6A00-A7A916AD0F47}"/>
              </a:ext>
            </a:extLst>
          </p:cNvPr>
          <p:cNvSpPr txBox="1"/>
          <p:nvPr/>
        </p:nvSpPr>
        <p:spPr>
          <a:xfrm>
            <a:off x="5374481" y="4601147"/>
            <a:ext cx="6141244"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-line)#</a:t>
            </a:r>
            <a:r>
              <a:rPr lang="es-MX" altLang="es-MX" dirty="0">
                <a:solidFill>
                  <a:srgbClr val="FFFFFF"/>
                </a:solidFill>
                <a:latin typeface="Courier New" panose="02070309020205020404" pitchFamily="49" charset="0"/>
                <a:cs typeface="Courier New" panose="02070309020205020404" pitchFamily="49" charset="0"/>
              </a:rPr>
              <a:t> </a:t>
            </a:r>
            <a:r>
              <a:rPr lang="es-MX" altLang="es-MX" dirty="0" err="1">
                <a:solidFill>
                  <a:srgbClr val="FFFFFF"/>
                </a:solidFill>
                <a:latin typeface="Courier New" panose="02070309020205020404" pitchFamily="49" charset="0"/>
                <a:cs typeface="Courier New" panose="02070309020205020404" pitchFamily="49" charset="0"/>
              </a:rPr>
              <a:t>end</a:t>
            </a:r>
            <a:endParaRPr lang="es-MX" altLang="es-MX" dirty="0">
              <a:solidFill>
                <a:srgbClr val="FFFFFF"/>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
        <p:nvSpPr>
          <p:cNvPr id="32" name="Rectángulo 31">
            <a:extLst>
              <a:ext uri="{FF2B5EF4-FFF2-40B4-BE49-F238E27FC236}">
                <a16:creationId xmlns:a16="http://schemas.microsoft.com/office/drawing/2014/main" id="{DE267843-C7CC-13AE-D9C4-782BC7D79075}"/>
              </a:ext>
            </a:extLst>
          </p:cNvPr>
          <p:cNvSpPr/>
          <p:nvPr/>
        </p:nvSpPr>
        <p:spPr>
          <a:xfrm>
            <a:off x="366251" y="5375539"/>
            <a:ext cx="11753850" cy="36933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rgbClr val="444444"/>
                </a:solidFill>
                <a:effectLst/>
                <a:latin typeface="Lato" panose="020F0502020204030203" pitchFamily="34" charset="0"/>
              </a:rPr>
              <a:t>También puedes pasar directamente de un modo de </a:t>
            </a:r>
            <a:r>
              <a:rPr kumimoji="0" lang="es-MX" altLang="es-MX" sz="1800" b="0" i="0" u="none" strike="noStrike" cap="none" normalizeH="0" baseline="0" dirty="0" err="1">
                <a:ln>
                  <a:noFill/>
                </a:ln>
                <a:solidFill>
                  <a:srgbClr val="444444"/>
                </a:solidFill>
                <a:effectLst/>
                <a:latin typeface="Lato" panose="020F0502020204030203" pitchFamily="34" charset="0"/>
              </a:rPr>
              <a:t>subconfiguración</a:t>
            </a:r>
            <a:r>
              <a:rPr kumimoji="0" lang="es-MX" altLang="es-MX" sz="1800" b="0" i="0" u="none" strike="noStrike" cap="none" normalizeH="0" baseline="0" dirty="0">
                <a:ln>
                  <a:noFill/>
                </a:ln>
                <a:solidFill>
                  <a:srgbClr val="444444"/>
                </a:solidFill>
                <a:effectLst/>
                <a:latin typeface="Lato" panose="020F0502020204030203" pitchFamily="34" charset="0"/>
              </a:rPr>
              <a:t> a otro.</a:t>
            </a:r>
            <a:endParaRPr lang="es-MX" altLang="es-MX" dirty="0"/>
          </a:p>
        </p:txBody>
      </p:sp>
      <p:sp>
        <p:nvSpPr>
          <p:cNvPr id="33" name="CuadroTexto 32">
            <a:extLst>
              <a:ext uri="{FF2B5EF4-FFF2-40B4-BE49-F238E27FC236}">
                <a16:creationId xmlns:a16="http://schemas.microsoft.com/office/drawing/2014/main" id="{EB542FB2-0496-F5BF-EFE1-7DF2D1C2B703}"/>
              </a:ext>
            </a:extLst>
          </p:cNvPr>
          <p:cNvSpPr txBox="1"/>
          <p:nvPr/>
        </p:nvSpPr>
        <p:spPr>
          <a:xfrm>
            <a:off x="5374481" y="5776626"/>
            <a:ext cx="6655594"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-line)#</a:t>
            </a:r>
            <a:r>
              <a:rPr lang="es-MX" altLang="es-MX" dirty="0">
                <a:solidFill>
                  <a:srgbClr val="FFFFFF"/>
                </a:solidFill>
                <a:latin typeface="Courier New" panose="02070309020205020404" pitchFamily="49" charset="0"/>
                <a:cs typeface="Courier New" panose="02070309020205020404" pitchFamily="49" charset="0"/>
              </a:rPr>
              <a:t> </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interface </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FastEthernet</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 0/1 </a:t>
            </a:r>
            <a:endParaRPr lang="es-MX" altLang="es-MX" dirty="0">
              <a:solidFill>
                <a:srgbClr val="FFFFFF"/>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config-if</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520433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Estructura jerárquica modos config IOS">
            <a:hlinkClick r:id="rId2"/>
            <a:extLst>
              <a:ext uri="{FF2B5EF4-FFF2-40B4-BE49-F238E27FC236}">
                <a16:creationId xmlns:a16="http://schemas.microsoft.com/office/drawing/2014/main" id="{CCFE0241-C997-CA42-5A07-3DF44EC9E3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788" b="12376"/>
          <a:stretch/>
        </p:blipFill>
        <p:spPr bwMode="auto">
          <a:xfrm>
            <a:off x="711385" y="95249"/>
            <a:ext cx="9547040" cy="6669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6799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587219"/>
            <a:ext cx="11416173" cy="2062103"/>
          </a:xfrm>
          <a:prstGeom prst="rect">
            <a:avLst/>
          </a:prstGeom>
        </p:spPr>
        <p:txBody>
          <a:bodyPr wrap="square">
            <a:spAutoFit/>
          </a:bodyPr>
          <a:lstStyle/>
          <a:p>
            <a:r>
              <a:rPr lang="es-MX" dirty="0"/>
              <a:t> </a:t>
            </a:r>
            <a:r>
              <a:rPr lang="es-ES" sz="2000" b="1" dirty="0"/>
              <a:t>Estructura de comandos </a:t>
            </a:r>
            <a:r>
              <a:rPr lang="es-MX" sz="2000" b="1" dirty="0"/>
              <a:t>IOS</a:t>
            </a:r>
          </a:p>
          <a:p>
            <a:endParaRPr lang="es-MX" dirty="0"/>
          </a:p>
          <a:p>
            <a:pPr algn="l"/>
            <a:r>
              <a:rPr lang="es-ES" dirty="0"/>
              <a:t>La sintaxis general para un comando es el comando seguido de las palabras clave y los argumentos correspondientes.</a:t>
            </a:r>
          </a:p>
          <a:p>
            <a:pPr marL="742950" lvl="1" indent="-285750">
              <a:buFont typeface="Arial" panose="020B0604020202020204" pitchFamily="34" charset="0"/>
              <a:buChar char="•"/>
              <a:tabLst>
                <a:tab pos="5381625" algn="l"/>
              </a:tabLst>
            </a:pPr>
            <a:r>
              <a:rPr lang="es-ES" b="1" dirty="0"/>
              <a:t>Palabra clave: </a:t>
            </a:r>
            <a:r>
              <a:rPr lang="es-ES" dirty="0"/>
              <a:t>un parámetro específico definido en el sistema operativo</a:t>
            </a:r>
          </a:p>
          <a:p>
            <a:pPr marL="742950" lvl="1" indent="-285750">
              <a:buFont typeface="Arial" panose="020B0604020202020204" pitchFamily="34" charset="0"/>
              <a:buChar char="•"/>
              <a:tabLst>
                <a:tab pos="5381625" algn="l"/>
              </a:tabLst>
            </a:pPr>
            <a:r>
              <a:rPr lang="es-ES" b="1" dirty="0"/>
              <a:t>Argumento: </a:t>
            </a:r>
            <a:r>
              <a:rPr lang="es-ES" dirty="0"/>
              <a:t>no está predefinido; es un valor o una variable definidos por el usuario</a:t>
            </a:r>
          </a:p>
          <a:p>
            <a:pPr algn="l"/>
            <a:endParaRPr lang="es-MX" dirty="0"/>
          </a:p>
        </p:txBody>
      </p:sp>
      <p:pic>
        <p:nvPicPr>
          <p:cNvPr id="11266" name="Picture 2" descr="Estructura de comando Cisco IOS">
            <a:extLst>
              <a:ext uri="{FF2B5EF4-FFF2-40B4-BE49-F238E27FC236}">
                <a16:creationId xmlns:a16="http://schemas.microsoft.com/office/drawing/2014/main" id="{17C605B5-F6B5-86D5-0A20-24F4224864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5" t="20400" r="1334" b="32029"/>
          <a:stretch/>
        </p:blipFill>
        <p:spPr bwMode="auto">
          <a:xfrm>
            <a:off x="2047875" y="2858872"/>
            <a:ext cx="7361444" cy="3008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85450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87914" y="434819"/>
            <a:ext cx="3926912" cy="3170099"/>
          </a:xfrm>
          <a:prstGeom prst="rect">
            <a:avLst/>
          </a:prstGeom>
        </p:spPr>
        <p:txBody>
          <a:bodyPr wrap="square">
            <a:spAutoFit/>
          </a:bodyPr>
          <a:lstStyle/>
          <a:p>
            <a:r>
              <a:rPr lang="es-MX" dirty="0"/>
              <a:t> </a:t>
            </a:r>
            <a:r>
              <a:rPr lang="es-ES" sz="2000" b="1" dirty="0"/>
              <a:t>Ayuda del </a:t>
            </a:r>
            <a:r>
              <a:rPr lang="es-MX" sz="2000" b="1" dirty="0"/>
              <a:t>IOS</a:t>
            </a:r>
          </a:p>
          <a:p>
            <a:endParaRPr lang="es-MX" dirty="0"/>
          </a:p>
          <a:p>
            <a:r>
              <a:rPr lang="es-ES" dirty="0"/>
              <a:t>El IOS tiene dos formas de ayuda disponibles: </a:t>
            </a:r>
          </a:p>
          <a:p>
            <a:endParaRPr lang="es-ES" dirty="0"/>
          </a:p>
          <a:p>
            <a:pPr marL="285750" indent="-285750">
              <a:buFont typeface="Arial" panose="020B0604020202020204" pitchFamily="34" charset="0"/>
              <a:buChar char="•"/>
            </a:pPr>
            <a:r>
              <a:rPr lang="es-ES" dirty="0"/>
              <a:t>Ayuda contextual  </a:t>
            </a:r>
          </a:p>
          <a:p>
            <a:pPr marL="285750" indent="-285750">
              <a:buFont typeface="Arial" panose="020B0604020202020204" pitchFamily="34" charset="0"/>
              <a:buChar char="•"/>
            </a:pPr>
            <a:r>
              <a:rPr lang="es-ES" dirty="0"/>
              <a:t>Verificador de sintaxis de comandos. </a:t>
            </a:r>
          </a:p>
          <a:p>
            <a:endParaRPr lang="es-ES" dirty="0"/>
          </a:p>
          <a:p>
            <a:r>
              <a:rPr lang="es-ES" dirty="0"/>
              <a:t>Ejemplos:</a:t>
            </a:r>
          </a:p>
          <a:p>
            <a:pPr algn="l"/>
            <a:endParaRPr lang="es-MX" dirty="0"/>
          </a:p>
        </p:txBody>
      </p:sp>
      <p:pic>
        <p:nvPicPr>
          <p:cNvPr id="7" name="Imagen 6">
            <a:extLst>
              <a:ext uri="{FF2B5EF4-FFF2-40B4-BE49-F238E27FC236}">
                <a16:creationId xmlns:a16="http://schemas.microsoft.com/office/drawing/2014/main" id="{675F0346-FEB7-6E5A-4AC3-C0A2F5E68869}"/>
              </a:ext>
            </a:extLst>
          </p:cNvPr>
          <p:cNvPicPr>
            <a:picLocks noChangeAspect="1"/>
          </p:cNvPicPr>
          <p:nvPr/>
        </p:nvPicPr>
        <p:blipFill>
          <a:blip r:embed="rId2"/>
          <a:stretch>
            <a:fillRect/>
          </a:stretch>
        </p:blipFill>
        <p:spPr>
          <a:xfrm>
            <a:off x="4184612" y="790698"/>
            <a:ext cx="8007388" cy="5814889"/>
          </a:xfrm>
          <a:prstGeom prst="rect">
            <a:avLst/>
          </a:prstGeom>
        </p:spPr>
      </p:pic>
      <p:sp>
        <p:nvSpPr>
          <p:cNvPr id="9" name="CuadroTexto 8">
            <a:extLst>
              <a:ext uri="{FF2B5EF4-FFF2-40B4-BE49-F238E27FC236}">
                <a16:creationId xmlns:a16="http://schemas.microsoft.com/office/drawing/2014/main" id="{D61A3C68-5AAC-9FC5-D86E-A20B03D20928}"/>
              </a:ext>
            </a:extLst>
          </p:cNvPr>
          <p:cNvSpPr txBox="1"/>
          <p:nvPr/>
        </p:nvSpPr>
        <p:spPr>
          <a:xfrm>
            <a:off x="1607626" y="4610100"/>
            <a:ext cx="2802449" cy="369332"/>
          </a:xfrm>
          <a:prstGeom prst="rect">
            <a:avLst/>
          </a:prstGeom>
          <a:noFill/>
        </p:spPr>
        <p:txBody>
          <a:bodyPr wrap="square">
            <a:spAutoFit/>
          </a:bodyPr>
          <a:lstStyle/>
          <a:p>
            <a:r>
              <a:rPr lang="es-ES" b="1" dirty="0"/>
              <a:t>Ayuda Contextual: </a:t>
            </a:r>
          </a:p>
        </p:txBody>
      </p:sp>
    </p:spTree>
    <p:extLst>
      <p:ext uri="{BB962C8B-B14F-4D97-AF65-F5344CB8AC3E}">
        <p14:creationId xmlns:p14="http://schemas.microsoft.com/office/powerpoint/2010/main" val="35319133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D61A3C68-5AAC-9FC5-D86E-A20B03D20928}"/>
              </a:ext>
            </a:extLst>
          </p:cNvPr>
          <p:cNvSpPr txBox="1"/>
          <p:nvPr/>
        </p:nvSpPr>
        <p:spPr>
          <a:xfrm>
            <a:off x="550351" y="609723"/>
            <a:ext cx="2802449" cy="646331"/>
          </a:xfrm>
          <a:prstGeom prst="rect">
            <a:avLst/>
          </a:prstGeom>
          <a:noFill/>
        </p:spPr>
        <p:txBody>
          <a:bodyPr wrap="square">
            <a:spAutoFit/>
          </a:bodyPr>
          <a:lstStyle/>
          <a:p>
            <a:r>
              <a:rPr lang="es-ES" b="1" dirty="0"/>
              <a:t>Verificador de sintaxis de comandos : </a:t>
            </a:r>
          </a:p>
        </p:txBody>
      </p:sp>
      <p:pic>
        <p:nvPicPr>
          <p:cNvPr id="4" name="Imagen 3">
            <a:extLst>
              <a:ext uri="{FF2B5EF4-FFF2-40B4-BE49-F238E27FC236}">
                <a16:creationId xmlns:a16="http://schemas.microsoft.com/office/drawing/2014/main" id="{08BAB8BF-75D3-DEC3-C284-8011ED0C8292}"/>
              </a:ext>
            </a:extLst>
          </p:cNvPr>
          <p:cNvPicPr>
            <a:picLocks noChangeAspect="1"/>
          </p:cNvPicPr>
          <p:nvPr/>
        </p:nvPicPr>
        <p:blipFill rotWithShape="1">
          <a:blip r:embed="rId2"/>
          <a:srcRect b="3428"/>
          <a:stretch/>
        </p:blipFill>
        <p:spPr>
          <a:xfrm>
            <a:off x="4112707" y="418973"/>
            <a:ext cx="7412544" cy="6439027"/>
          </a:xfrm>
          <a:prstGeom prst="rect">
            <a:avLst/>
          </a:prstGeom>
        </p:spPr>
      </p:pic>
      <p:sp>
        <p:nvSpPr>
          <p:cNvPr id="6" name="CuadroTexto 5">
            <a:extLst>
              <a:ext uri="{FF2B5EF4-FFF2-40B4-BE49-F238E27FC236}">
                <a16:creationId xmlns:a16="http://schemas.microsoft.com/office/drawing/2014/main" id="{65E35B6C-6915-C218-81E1-EC1F6C184426}"/>
              </a:ext>
            </a:extLst>
          </p:cNvPr>
          <p:cNvSpPr txBox="1"/>
          <p:nvPr/>
        </p:nvSpPr>
        <p:spPr>
          <a:xfrm>
            <a:off x="205593" y="6006584"/>
            <a:ext cx="3491963" cy="646331"/>
          </a:xfrm>
          <a:prstGeom prst="rect">
            <a:avLst/>
          </a:prstGeom>
          <a:noFill/>
        </p:spPr>
        <p:txBody>
          <a:bodyPr wrap="square">
            <a:spAutoFit/>
          </a:bodyPr>
          <a:lstStyle/>
          <a:p>
            <a:pPr algn="l"/>
            <a:r>
              <a:rPr lang="es-MX" b="0" i="0" dirty="0">
                <a:solidFill>
                  <a:srgbClr val="111111"/>
                </a:solidFill>
                <a:effectLst/>
                <a:latin typeface="Playfair Display" panose="00000500000000000000" pitchFamily="2" charset="0"/>
              </a:rPr>
              <a:t>CCNA 1 v7.0 – CCNA desde Cero</a:t>
            </a:r>
          </a:p>
          <a:p>
            <a:pPr algn="l"/>
            <a:r>
              <a:rPr lang="es-MX" b="1" dirty="0"/>
              <a:t>Capitulo 2</a:t>
            </a:r>
          </a:p>
        </p:txBody>
      </p:sp>
    </p:spTree>
    <p:extLst>
      <p:ext uri="{BB962C8B-B14F-4D97-AF65-F5344CB8AC3E}">
        <p14:creationId xmlns:p14="http://schemas.microsoft.com/office/powerpoint/2010/main" val="7761975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472919"/>
            <a:ext cx="6529849" cy="369332"/>
          </a:xfrm>
          <a:prstGeom prst="rect">
            <a:avLst/>
          </a:prstGeom>
        </p:spPr>
        <p:txBody>
          <a:bodyPr wrap="square">
            <a:spAutoFit/>
          </a:bodyPr>
          <a:lstStyle/>
          <a:p>
            <a:r>
              <a:rPr lang="es-MX" dirty="0"/>
              <a:t> </a:t>
            </a:r>
            <a:r>
              <a:rPr lang="es-MX" altLang="es-MX" dirty="0"/>
              <a:t>Configuración inicial:</a:t>
            </a:r>
          </a:p>
        </p:txBody>
      </p:sp>
      <p:sp>
        <p:nvSpPr>
          <p:cNvPr id="6" name="CuadroTexto 5">
            <a:extLst>
              <a:ext uri="{FF2B5EF4-FFF2-40B4-BE49-F238E27FC236}">
                <a16:creationId xmlns:a16="http://schemas.microsoft.com/office/drawing/2014/main" id="{339788C2-24A5-674B-C8E7-7846DE60E631}"/>
              </a:ext>
            </a:extLst>
          </p:cNvPr>
          <p:cNvSpPr txBox="1"/>
          <p:nvPr/>
        </p:nvSpPr>
        <p:spPr>
          <a:xfrm>
            <a:off x="332364" y="836961"/>
            <a:ext cx="6529849" cy="5909310"/>
          </a:xfrm>
          <a:prstGeom prst="rect">
            <a:avLst/>
          </a:prstGeom>
          <a:solidFill>
            <a:srgbClr val="FFFF00"/>
          </a:solidFill>
        </p:spPr>
        <p:txBody>
          <a:bodyPr wrap="square">
            <a:spAutoFit/>
          </a:bodyPr>
          <a:lstStyle/>
          <a:p>
            <a:pPr marL="0" marR="0" lvl="0" indent="0" algn="l" defTabSz="914400" rtl="0" eaLnBrk="0" fontAlgn="base" latinLnBrk="0" hangingPunct="0">
              <a:buClrTx/>
              <a:buSzTx/>
              <a:buFontTx/>
              <a:buNone/>
              <a:tabLst/>
            </a:pPr>
            <a:r>
              <a:rPr lang="es-MX" altLang="es-MX" dirty="0" err="1">
                <a:latin typeface="Courier New" panose="02070309020205020404" pitchFamily="49" charset="0"/>
                <a:cs typeface="Courier New" panose="02070309020205020404" pitchFamily="49" charset="0"/>
              </a:rPr>
              <a:t>Router</a:t>
            </a:r>
            <a:r>
              <a:rPr lang="es-MX" altLang="es-MX" dirty="0">
                <a:latin typeface="Courier New" panose="02070309020205020404" pitchFamily="49" charset="0"/>
                <a:cs typeface="Courier New" panose="02070309020205020404" pitchFamily="49" charset="0"/>
              </a:rPr>
              <a:t># configure terminal</a:t>
            </a:r>
          </a:p>
          <a:p>
            <a:pPr defTabSz="914400" eaLnBrk="0" fontAlgn="base" hangingPunct="0"/>
            <a:r>
              <a:rPr lang="es-MX" altLang="es-MX" dirty="0" err="1">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)#hostname </a:t>
            </a:r>
            <a:r>
              <a:rPr kumimoji="0" lang="es-MX" altLang="es-MX" b="0" i="0" u="none" strike="noStrike" cap="none" normalizeH="0" baseline="0" dirty="0">
                <a:ln>
                  <a:noFill/>
                </a:ln>
                <a:solidFill>
                  <a:srgbClr val="C00000"/>
                </a:solidFill>
                <a:effectLst/>
                <a:latin typeface="Courier New" panose="02070309020205020404" pitchFamily="49" charset="0"/>
                <a:cs typeface="Courier New" panose="02070309020205020404" pitchFamily="49" charset="0"/>
              </a:rPr>
              <a:t>Router1</a:t>
            </a:r>
          </a:p>
          <a:p>
            <a:pPr defTabSz="914400" eaLnBrk="0" fontAlgn="base" hangingPunct="0"/>
            <a:endParaRPr lang="es-MX" altLang="es-MX" dirty="0">
              <a:solidFill>
                <a:srgbClr val="C00000"/>
              </a:solidFill>
              <a:latin typeface="Courier New" panose="02070309020205020404" pitchFamily="49" charset="0"/>
              <a:cs typeface="Courier New" panose="02070309020205020404" pitchFamily="49" charset="0"/>
            </a:endParaRPr>
          </a:p>
          <a:p>
            <a:pPr defTabSz="914400" eaLnBrk="0" fontAlgn="base" hangingPunct="0"/>
            <a:r>
              <a:rPr lang="es-MX" altLang="es-MX" dirty="0">
                <a:latin typeface="Courier New" panose="02070309020205020404" pitchFamily="49" charset="0"/>
                <a:cs typeface="Courier New" panose="02070309020205020404" pitchFamily="49" charset="0"/>
              </a:rPr>
              <a:t>Router1</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)#line </a:t>
            </a:r>
            <a:r>
              <a:rPr kumimoji="0" lang="es-MX" altLang="es-MX" b="0" i="0" u="none" strike="noStrike" cap="none" normalizeH="0" baseline="0" dirty="0" err="1">
                <a:ln>
                  <a:noFill/>
                </a:ln>
                <a:effectLst/>
                <a:latin typeface="Courier New" panose="02070309020205020404" pitchFamily="49" charset="0"/>
                <a:cs typeface="Courier New" panose="02070309020205020404" pitchFamily="49" charset="0"/>
              </a:rPr>
              <a:t>console</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 0 </a:t>
            </a:r>
          </a:p>
          <a:p>
            <a:pPr defTabSz="914400" eaLnBrk="0" fontAlgn="base" hangingPunct="0"/>
            <a:r>
              <a:rPr lang="es-MX" altLang="es-MX" dirty="0">
                <a:latin typeface="Courier New" panose="02070309020205020404" pitchFamily="49" charset="0"/>
                <a:cs typeface="Courier New" panose="02070309020205020404" pitchFamily="49" charset="0"/>
              </a:rPr>
              <a:t>Router1</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-line)#password </a:t>
            </a:r>
            <a:r>
              <a:rPr kumimoji="0" lang="es-MX" altLang="es-MX" b="0" i="0" u="none" strike="noStrike" cap="none" normalizeH="0" baseline="0" dirty="0" err="1">
                <a:ln>
                  <a:noFill/>
                </a:ln>
                <a:solidFill>
                  <a:srgbClr val="C00000"/>
                </a:solidFill>
                <a:effectLst/>
                <a:latin typeface="Courier New" panose="02070309020205020404" pitchFamily="49" charset="0"/>
                <a:cs typeface="Courier New" panose="02070309020205020404" pitchFamily="49" charset="0"/>
              </a:rPr>
              <a:t>pswde</a:t>
            </a:r>
            <a:r>
              <a:rPr lang="es-MX" altLang="es-MX" dirty="0" err="1">
                <a:solidFill>
                  <a:srgbClr val="C00000"/>
                </a:solidFill>
                <a:latin typeface="Courier New" panose="02070309020205020404" pitchFamily="49" charset="0"/>
                <a:cs typeface="Courier New" panose="02070309020205020404" pitchFamily="49" charset="0"/>
              </a:rPr>
              <a:t>acceso</a:t>
            </a:r>
            <a:endParaRPr kumimoji="0" lang="es-MX" altLang="es-MX" b="0" i="0" u="none" strike="noStrike" cap="none" normalizeH="0" baseline="0" dirty="0">
              <a:ln>
                <a:noFill/>
              </a:ln>
              <a:solidFill>
                <a:srgbClr val="C00000"/>
              </a:solidFill>
              <a:effectLst/>
              <a:latin typeface="Courier New" panose="02070309020205020404" pitchFamily="49" charset="0"/>
              <a:cs typeface="Courier New" panose="02070309020205020404" pitchFamily="49" charset="0"/>
            </a:endParaRPr>
          </a:p>
          <a:p>
            <a:pPr defTabSz="914400" eaLnBrk="0" fontAlgn="base" hangingPunct="0"/>
            <a:r>
              <a:rPr lang="es-MX" altLang="es-MX" dirty="0">
                <a:latin typeface="Courier New" panose="02070309020205020404" pitchFamily="49" charset="0"/>
                <a:cs typeface="Courier New" panose="02070309020205020404" pitchFamily="49" charset="0"/>
              </a:rPr>
              <a:t>Router1</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-line</a:t>
            </a:r>
            <a:r>
              <a:rPr lang="es-MX" altLang="es-MX" dirty="0">
                <a:latin typeface="Courier New" panose="02070309020205020404" pitchFamily="49" charset="0"/>
                <a:cs typeface="Courier New" panose="02070309020205020404" pitchFamily="49" charset="0"/>
              </a:rPr>
              <a:t>)#login</a:t>
            </a:r>
          </a:p>
          <a:p>
            <a:pPr defTabSz="914400" eaLnBrk="0" fontAlgn="base" hangingPunct="0"/>
            <a:r>
              <a:rPr lang="es-MX" altLang="es-MX" dirty="0">
                <a:latin typeface="Courier New" panose="02070309020205020404" pitchFamily="49" charset="0"/>
                <a:cs typeface="Courier New" panose="02070309020205020404" pitchFamily="49" charset="0"/>
              </a:rPr>
              <a:t>Router1(</a:t>
            </a:r>
            <a:r>
              <a:rPr lang="es-MX" altLang="es-MX" dirty="0" err="1">
                <a:latin typeface="Courier New" panose="02070309020205020404" pitchFamily="49" charset="0"/>
                <a:cs typeface="Courier New" panose="02070309020205020404" pitchFamily="49" charset="0"/>
              </a:rPr>
              <a:t>config</a:t>
            </a:r>
            <a:r>
              <a:rPr lang="es-MX" altLang="es-MX" dirty="0">
                <a:latin typeface="Courier New" panose="02070309020205020404" pitchFamily="49" charset="0"/>
                <a:cs typeface="Courier New" panose="02070309020205020404" pitchFamily="49" charset="0"/>
              </a:rPr>
              <a:t>-line)#exit</a:t>
            </a:r>
          </a:p>
          <a:p>
            <a:pPr defTabSz="914400" eaLnBrk="0" fontAlgn="base" hangingPunct="0"/>
            <a:endParaRPr lang="es-MX" altLang="es-MX"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a:latin typeface="Courier New" panose="02070309020205020404" pitchFamily="49" charset="0"/>
                <a:cs typeface="Courier New" panose="02070309020205020404" pitchFamily="49" charset="0"/>
              </a:rPr>
              <a:t>Router1(</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)#line </a:t>
            </a:r>
            <a:r>
              <a:rPr lang="es-MX" dirty="0" err="1">
                <a:latin typeface="Courier New" panose="02070309020205020404" pitchFamily="49" charset="0"/>
                <a:cs typeface="Courier New" panose="02070309020205020404" pitchFamily="49" charset="0"/>
              </a:rPr>
              <a:t>vty</a:t>
            </a:r>
            <a:r>
              <a:rPr lang="es-MX" dirty="0">
                <a:latin typeface="Courier New" panose="02070309020205020404" pitchFamily="49" charset="0"/>
                <a:cs typeface="Courier New" panose="02070309020205020404" pitchFamily="49" charset="0"/>
              </a:rPr>
              <a:t> 0 4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a:latin typeface="Courier New" panose="02070309020205020404" pitchFamily="49" charset="0"/>
                <a:cs typeface="Courier New" panose="02070309020205020404" pitchFamily="49" charset="0"/>
              </a:rPr>
              <a:t>Router1(</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-line)#pass </a:t>
            </a:r>
            <a:r>
              <a:rPr lang="es-MX" dirty="0" err="1">
                <a:latin typeface="Courier New" panose="02070309020205020404" pitchFamily="49" charset="0"/>
                <a:cs typeface="Courier New" panose="02070309020205020404" pitchFamily="49" charset="0"/>
              </a:rPr>
              <a:t>MyPassVty</a:t>
            </a:r>
            <a:endParaRPr lang="es-MX"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s-MX" altLang="es-MX" dirty="0">
              <a:latin typeface="Courier New" panose="02070309020205020404" pitchFamily="49" charset="0"/>
              <a:cs typeface="Courier New" panose="02070309020205020404" pitchFamily="49" charset="0"/>
            </a:endParaRPr>
          </a:p>
          <a:p>
            <a:pPr defTabSz="914400" eaLnBrk="0" fontAlgn="base" hangingPunct="0"/>
            <a:r>
              <a:rPr lang="es-MX" altLang="es-MX" dirty="0">
                <a:latin typeface="Courier New" panose="02070309020205020404" pitchFamily="49" charset="0"/>
                <a:cs typeface="Courier New" panose="02070309020205020404" pitchFamily="49" charset="0"/>
              </a:rPr>
              <a:t>Router1</a:t>
            </a:r>
            <a:r>
              <a:rPr lang="es-MX" dirty="0">
                <a:latin typeface="Courier New" panose="02070309020205020404" pitchFamily="49" charset="0"/>
                <a:cs typeface="Courier New" panose="02070309020205020404" pitchFamily="49" charset="0"/>
              </a:rPr>
              <a:t>(</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a:t>
            </a:r>
            <a:r>
              <a:rPr lang="es-MX" altLang="es-MX" dirty="0" err="1">
                <a:latin typeface="Courier New" panose="02070309020205020404" pitchFamily="49" charset="0"/>
                <a:cs typeface="Courier New" panose="02070309020205020404" pitchFamily="49" charset="0"/>
              </a:rPr>
              <a:t>enable</a:t>
            </a:r>
            <a:r>
              <a:rPr lang="es-MX" altLang="es-MX" dirty="0">
                <a:latin typeface="Courier New" panose="02070309020205020404" pitchFamily="49" charset="0"/>
                <a:cs typeface="Courier New" panose="02070309020205020404" pitchFamily="49" charset="0"/>
              </a:rPr>
              <a:t> </a:t>
            </a:r>
            <a:r>
              <a:rPr lang="es-MX" altLang="es-MX" dirty="0" err="1">
                <a:latin typeface="Courier New" panose="02070309020205020404" pitchFamily="49" charset="0"/>
                <a:cs typeface="Courier New" panose="02070309020205020404" pitchFamily="49" charset="0"/>
              </a:rPr>
              <a:t>password</a:t>
            </a:r>
            <a:r>
              <a:rPr lang="es-MX" altLang="es-MX" dirty="0">
                <a:latin typeface="Courier New" panose="02070309020205020404" pitchFamily="49" charset="0"/>
                <a:cs typeface="Courier New" panose="02070309020205020404" pitchFamily="49" charset="0"/>
              </a:rPr>
              <a:t> </a:t>
            </a:r>
            <a:r>
              <a:rPr lang="es-MX" altLang="es-MX" dirty="0" err="1">
                <a:solidFill>
                  <a:srgbClr val="C00000"/>
                </a:solidFill>
                <a:latin typeface="Courier New" panose="02070309020205020404" pitchFamily="49" charset="0"/>
                <a:cs typeface="Courier New" panose="02070309020205020404" pitchFamily="49" charset="0"/>
              </a:rPr>
              <a:t>PSWprivilegio</a:t>
            </a:r>
            <a:endParaRPr lang="es-MX" altLang="es-MX" dirty="0">
              <a:solidFill>
                <a:srgbClr val="C00000"/>
              </a:solidFill>
              <a:latin typeface="Courier New" panose="02070309020205020404" pitchFamily="49" charset="0"/>
              <a:cs typeface="Courier New" panose="02070309020205020404" pitchFamily="49" charset="0"/>
            </a:endParaRPr>
          </a:p>
          <a:p>
            <a:pPr defTabSz="914400" eaLnBrk="0" fontAlgn="base" hangingPunct="0"/>
            <a:r>
              <a:rPr lang="es-MX" altLang="es-MX" dirty="0" err="1">
                <a:latin typeface="Courier New" panose="02070309020205020404" pitchFamily="49" charset="0"/>
                <a:cs typeface="Courier New" panose="02070309020205020404" pitchFamily="49" charset="0"/>
              </a:rPr>
              <a:t>Router</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a:t>
            </a:r>
            <a:r>
              <a:rPr lang="es-MX" altLang="es-MX" dirty="0" err="1">
                <a:latin typeface="Courier New" panose="02070309020205020404" pitchFamily="49" charset="0"/>
                <a:cs typeface="Courier New" panose="02070309020205020404" pitchFamily="49" charset="0"/>
              </a:rPr>
              <a:t>password-encription</a:t>
            </a:r>
            <a:endParaRPr lang="es-MX" altLang="es-MX" dirty="0">
              <a:latin typeface="Courier New" panose="02070309020205020404" pitchFamily="49" charset="0"/>
              <a:cs typeface="Courier New" panose="02070309020205020404" pitchFamily="49" charset="0"/>
            </a:endParaRPr>
          </a:p>
          <a:p>
            <a:pPr defTabSz="914400" eaLnBrk="0" fontAlgn="base" hangingPunct="0"/>
            <a:endParaRPr lang="es-MX" altLang="es-MX" dirty="0">
              <a:latin typeface="Courier New" panose="02070309020205020404" pitchFamily="49" charset="0"/>
              <a:cs typeface="Courier New" panose="02070309020205020404" pitchFamily="49" charset="0"/>
            </a:endParaRPr>
          </a:p>
          <a:p>
            <a:pPr defTabSz="914400" eaLnBrk="0" fontAlgn="base" hangingPunct="0"/>
            <a:r>
              <a:rPr lang="es-MX" altLang="es-MX" dirty="0">
                <a:latin typeface="Courier New" panose="02070309020205020404" pitchFamily="49" charset="0"/>
                <a:cs typeface="Courier New" panose="02070309020205020404" pitchFamily="49" charset="0"/>
              </a:rPr>
              <a:t>Router1</a:t>
            </a:r>
            <a:r>
              <a:rPr lang="es-MX" dirty="0">
                <a:latin typeface="Courier New" panose="02070309020205020404" pitchFamily="49" charset="0"/>
                <a:cs typeface="Courier New" panose="02070309020205020404" pitchFamily="49" charset="0"/>
              </a:rPr>
              <a:t>(</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a:t>
            </a:r>
            <a:r>
              <a:rPr lang="es-MX" altLang="es-MX" dirty="0">
                <a:latin typeface="Courier New" panose="02070309020205020404" pitchFamily="49" charset="0"/>
                <a:cs typeface="Courier New" panose="02070309020205020404" pitchFamily="49" charset="0"/>
              </a:rPr>
              <a:t>banner </a:t>
            </a:r>
            <a:r>
              <a:rPr lang="es-MX" altLang="es-MX" dirty="0" err="1">
                <a:latin typeface="Courier New" panose="02070309020205020404" pitchFamily="49" charset="0"/>
                <a:cs typeface="Courier New" panose="02070309020205020404" pitchFamily="49" charset="0"/>
              </a:rPr>
              <a:t>motd</a:t>
            </a:r>
            <a:r>
              <a:rPr lang="es-MX" altLang="es-MX" dirty="0">
                <a:latin typeface="Courier New" panose="02070309020205020404" pitchFamily="49" charset="0"/>
                <a:cs typeface="Courier New" panose="02070309020205020404" pitchFamily="49" charset="0"/>
              </a:rPr>
              <a:t> “</a:t>
            </a:r>
            <a:r>
              <a:rPr lang="es-MX" altLang="es-MX" dirty="0">
                <a:solidFill>
                  <a:srgbClr val="C00000"/>
                </a:solidFill>
                <a:latin typeface="Courier New" panose="02070309020205020404" pitchFamily="49" charset="0"/>
                <a:cs typeface="Courier New" panose="02070309020205020404" pitchFamily="49" charset="0"/>
              </a:rPr>
              <a:t>texto banner</a:t>
            </a:r>
            <a:r>
              <a:rPr lang="es-MX" altLang="es-MX" dirty="0">
                <a:latin typeface="Courier New" panose="02070309020205020404" pitchFamily="49" charset="0"/>
                <a:cs typeface="Courier New" panose="02070309020205020404" pitchFamily="49" charset="0"/>
              </a:rPr>
              <a:t>”</a:t>
            </a:r>
          </a:p>
          <a:p>
            <a:pPr defTabSz="914400" eaLnBrk="0" fontAlgn="base" hangingPunct="0"/>
            <a:r>
              <a:rPr lang="es-MX" altLang="es-MX" dirty="0">
                <a:latin typeface="Courier New" panose="02070309020205020404" pitchFamily="49" charset="0"/>
                <a:cs typeface="Courier New" panose="02070309020205020404" pitchFamily="49" charset="0"/>
              </a:rPr>
              <a:t>Router1</a:t>
            </a:r>
            <a:r>
              <a:rPr lang="es-MX" dirty="0">
                <a:latin typeface="Courier New" panose="02070309020205020404" pitchFamily="49" charset="0"/>
                <a:cs typeface="Courier New" panose="02070309020205020404" pitchFamily="49" charset="0"/>
              </a:rPr>
              <a:t>(</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a:t>
            </a:r>
            <a:endParaRPr lang="es-MX" altLang="es-MX" dirty="0">
              <a:latin typeface="Courier New" panose="02070309020205020404" pitchFamily="49" charset="0"/>
              <a:cs typeface="Courier New" panose="02070309020205020404" pitchFamily="49" charset="0"/>
            </a:endParaRPr>
          </a:p>
          <a:p>
            <a:pPr defTabSz="914400" eaLnBrk="0" fontAlgn="base" hangingPunct="0"/>
            <a:endParaRPr lang="es-MX" altLang="es-MX"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a:latin typeface="Courier New" panose="02070309020205020404" pitchFamily="49" charset="0"/>
                <a:cs typeface="Courier New" panose="02070309020205020404" pitchFamily="49" charset="0"/>
              </a:rPr>
              <a:t>R1#copy running-</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startup-</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err="1">
                <a:latin typeface="Courier New" panose="02070309020205020404" pitchFamily="49" charset="0"/>
                <a:cs typeface="Courier New" panose="02070309020205020404" pitchFamily="49" charset="0"/>
              </a:rPr>
              <a:t>Destination</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filename</a:t>
            </a:r>
            <a:r>
              <a:rPr lang="es-MX" dirty="0">
                <a:latin typeface="Courier New" panose="02070309020205020404" pitchFamily="49" charset="0"/>
                <a:cs typeface="Courier New" panose="02070309020205020404" pitchFamily="49" charset="0"/>
              </a:rPr>
              <a:t> [startup-</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err="1">
                <a:latin typeface="Courier New" panose="02070309020205020404" pitchFamily="49" charset="0"/>
                <a:cs typeface="Courier New" panose="02070309020205020404" pitchFamily="49" charset="0"/>
              </a:rPr>
              <a:t>Building</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configuration</a:t>
            </a:r>
            <a:r>
              <a:rPr lang="es-MX" dirty="0">
                <a:latin typeface="Courier New" panose="02070309020205020404" pitchFamily="49" charset="0"/>
                <a:cs typeface="Courier New" panose="02070309020205020404" pitchFamily="49" charset="0"/>
              </a:rPr>
              <a:t>...</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a:latin typeface="Courier New" panose="02070309020205020404" pitchFamily="49" charset="0"/>
                <a:cs typeface="Courier New" panose="02070309020205020404" pitchFamily="49" charset="0"/>
              </a:rPr>
              <a:t>[OK]</a:t>
            </a:r>
          </a:p>
        </p:txBody>
      </p:sp>
      <p:sp>
        <p:nvSpPr>
          <p:cNvPr id="4" name="CuadroTexto 3">
            <a:extLst>
              <a:ext uri="{FF2B5EF4-FFF2-40B4-BE49-F238E27FC236}">
                <a16:creationId xmlns:a16="http://schemas.microsoft.com/office/drawing/2014/main" id="{2ACCEACE-DF51-EE3B-B7E3-25BC2FA01E03}"/>
              </a:ext>
            </a:extLst>
          </p:cNvPr>
          <p:cNvSpPr txBox="1"/>
          <p:nvPr/>
        </p:nvSpPr>
        <p:spPr>
          <a:xfrm>
            <a:off x="7029450" y="2690336"/>
            <a:ext cx="5029200" cy="1477328"/>
          </a:xfrm>
          <a:prstGeom prst="rect">
            <a:avLst/>
          </a:prstGeom>
          <a:noFill/>
        </p:spPr>
        <p:txBody>
          <a:bodyPr wrap="square">
            <a:spAutoFit/>
          </a:bodyPr>
          <a:lstStyle/>
          <a:p>
            <a:r>
              <a:rPr lang="es-MX" altLang="es-MX" dirty="0">
                <a:latin typeface="Courier New" panose="02070309020205020404" pitchFamily="49" charset="0"/>
                <a:cs typeface="Courier New" panose="02070309020205020404" pitchFamily="49" charset="0"/>
              </a:rPr>
              <a:t>Pregunta de examen: ¿Cuál es la diferencia entre</a:t>
            </a:r>
          </a:p>
          <a:p>
            <a:pPr defTabSz="914400" eaLnBrk="0" fontAlgn="base" hangingPunct="0">
              <a:spcBef>
                <a:spcPct val="0"/>
              </a:spcBef>
              <a:spcAft>
                <a:spcPct val="0"/>
              </a:spcAft>
            </a:pPr>
            <a:r>
              <a:rPr lang="es-MX" altLang="es-MX" dirty="0" err="1">
                <a:latin typeface="Courier New" panose="02070309020205020404" pitchFamily="49" charset="0"/>
                <a:cs typeface="Courier New" panose="02070309020205020404" pitchFamily="49" charset="0"/>
              </a:rPr>
              <a:t>Router#enable</a:t>
            </a:r>
            <a:r>
              <a:rPr lang="es-MX" altLang="es-MX" dirty="0">
                <a:latin typeface="Courier New" panose="02070309020205020404" pitchFamily="49" charset="0"/>
                <a:cs typeface="Courier New" panose="02070309020205020404" pitchFamily="49" charset="0"/>
              </a:rPr>
              <a:t> </a:t>
            </a:r>
            <a:r>
              <a:rPr lang="es-MX" altLang="es-MX" dirty="0" err="1">
                <a:latin typeface="Courier New" panose="02070309020205020404" pitchFamily="49" charset="0"/>
                <a:cs typeface="Courier New" panose="02070309020205020404" pitchFamily="49" charset="0"/>
              </a:rPr>
              <a:t>secret</a:t>
            </a:r>
            <a:r>
              <a:rPr lang="es-MX" altLang="es-MX" dirty="0">
                <a:latin typeface="Courier New" panose="02070309020205020404" pitchFamily="49" charset="0"/>
                <a:cs typeface="Courier New" panose="02070309020205020404" pitchFamily="49" charset="0"/>
              </a:rPr>
              <a:t> </a:t>
            </a:r>
            <a:r>
              <a:rPr lang="es-MX" altLang="es-MX" dirty="0">
                <a:solidFill>
                  <a:srgbClr val="C00000"/>
                </a:solidFill>
                <a:latin typeface="Courier New" panose="02070309020205020404" pitchFamily="49" charset="0"/>
                <a:cs typeface="Courier New" panose="02070309020205020404" pitchFamily="49" charset="0"/>
              </a:rPr>
              <a:t>PSW y </a:t>
            </a:r>
          </a:p>
          <a:p>
            <a:pPr defTabSz="914400" eaLnBrk="0" fontAlgn="base" hangingPunct="0">
              <a:spcBef>
                <a:spcPct val="0"/>
              </a:spcBef>
              <a:spcAft>
                <a:spcPct val="0"/>
              </a:spcAft>
            </a:pPr>
            <a:r>
              <a:rPr lang="es-MX" altLang="es-MX" dirty="0" err="1">
                <a:latin typeface="Courier New" panose="02070309020205020404" pitchFamily="49" charset="0"/>
                <a:cs typeface="Courier New" panose="02070309020205020404" pitchFamily="49" charset="0"/>
              </a:rPr>
              <a:t>Router#service</a:t>
            </a:r>
            <a:r>
              <a:rPr lang="es-MX" altLang="es-MX" dirty="0">
                <a:latin typeface="Courier New" panose="02070309020205020404" pitchFamily="49" charset="0"/>
                <a:cs typeface="Courier New" panose="02070309020205020404" pitchFamily="49" charset="0"/>
              </a:rPr>
              <a:t> </a:t>
            </a:r>
            <a:r>
              <a:rPr lang="es-MX" altLang="es-MX" dirty="0" err="1">
                <a:latin typeface="Courier New" panose="02070309020205020404" pitchFamily="49" charset="0"/>
                <a:cs typeface="Courier New" panose="02070309020205020404" pitchFamily="49" charset="0"/>
              </a:rPr>
              <a:t>password-encription</a:t>
            </a:r>
            <a:r>
              <a:rPr lang="es-MX" altLang="es-MX" dirty="0">
                <a:latin typeface="Courier New" panose="02070309020205020404" pitchFamily="49" charset="0"/>
                <a:cs typeface="Courier New" panose="02070309020205020404" pitchFamily="49" charset="0"/>
              </a:rPr>
              <a:t>?</a:t>
            </a:r>
          </a:p>
          <a:p>
            <a:endParaRPr lang="es-MX" dirty="0"/>
          </a:p>
        </p:txBody>
      </p:sp>
    </p:spTree>
    <p:extLst>
      <p:ext uri="{BB962C8B-B14F-4D97-AF65-F5344CB8AC3E}">
        <p14:creationId xmlns:p14="http://schemas.microsoft.com/office/powerpoint/2010/main" val="7942701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472919"/>
            <a:ext cx="10949449" cy="3965188"/>
          </a:xfrm>
          <a:prstGeom prst="rect">
            <a:avLst/>
          </a:prstGeom>
        </p:spPr>
        <p:txBody>
          <a:bodyPr wrap="square">
            <a:spAutoFit/>
          </a:bodyPr>
          <a:lstStyle/>
          <a:p>
            <a:pPr>
              <a:lnSpc>
                <a:spcPct val="115000"/>
              </a:lnSpc>
            </a:pPr>
            <a:r>
              <a:rPr lang="es-MX" b="1" dirty="0"/>
              <a:t>Verificación de la configuración de interfaz:</a:t>
            </a:r>
          </a:p>
          <a:p>
            <a:pPr>
              <a:lnSpc>
                <a:spcPct val="115000"/>
              </a:lnSpc>
            </a:pPr>
            <a:endParaRPr lang="es-MX" dirty="0"/>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solidFill>
                  <a:srgbClr val="444444"/>
                </a:solidFill>
                <a:effectLst/>
                <a:ea typeface="Calibri" panose="020F0502020204030204" pitchFamily="34" charset="0"/>
                <a:cs typeface="Times New Roman" panose="02020603050405020304" pitchFamily="18" charset="0"/>
              </a:rPr>
              <a:t>show </a:t>
            </a:r>
            <a:r>
              <a:rPr lang="es-MX" sz="1800" b="1" kern="100" dirty="0" err="1">
                <a:solidFill>
                  <a:srgbClr val="444444"/>
                </a:solidFill>
                <a:effectLst/>
                <a:ea typeface="Calibri" panose="020F0502020204030204" pitchFamily="34" charset="0"/>
                <a:cs typeface="Times New Roman" panose="02020603050405020304" pitchFamily="18" charset="0"/>
              </a:rPr>
              <a:t>ip</a:t>
            </a:r>
            <a:r>
              <a:rPr lang="es-MX" sz="1800" b="1" kern="100" dirty="0">
                <a:solidFill>
                  <a:srgbClr val="444444"/>
                </a:solidFill>
                <a:effectLst/>
                <a:ea typeface="Calibri" panose="020F0502020204030204" pitchFamily="34" charset="0"/>
                <a:cs typeface="Times New Roman" panose="02020603050405020304" pitchFamily="18" charset="0"/>
              </a:rPr>
              <a:t> interface </a:t>
            </a:r>
            <a:r>
              <a:rPr lang="es-MX" sz="1800" b="1" kern="100" dirty="0" err="1">
                <a:solidFill>
                  <a:srgbClr val="444444"/>
                </a:solidFill>
                <a:effectLst/>
                <a:ea typeface="Calibri" panose="020F0502020204030204" pitchFamily="34" charset="0"/>
                <a:cs typeface="Times New Roman" panose="02020603050405020304" pitchFamily="18" charset="0"/>
              </a:rPr>
              <a:t>brief</a:t>
            </a:r>
            <a:r>
              <a:rPr lang="es-MX" sz="1800" kern="100" dirty="0">
                <a:solidFill>
                  <a:srgbClr val="444444"/>
                </a:solidFill>
                <a:effectLst/>
                <a:ea typeface="Calibri" panose="020F0502020204030204" pitchFamily="34" charset="0"/>
                <a:cs typeface="Calibri" panose="020F0502020204030204" pitchFamily="34" charset="0"/>
              </a:rPr>
              <a:t>: muestra un resumen de todas las interfaces, incluidos la dirección IPv4 de la interfaz y el estado operativo actual.</a:t>
            </a:r>
            <a:endParaRPr lang="es-MX" sz="1800" kern="100" dirty="0">
              <a:effectLst/>
              <a:ea typeface="Calibri" panose="020F050202020403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solidFill>
                  <a:srgbClr val="444444"/>
                </a:solidFill>
                <a:effectLst/>
                <a:ea typeface="Calibri" panose="020F0502020204030204" pitchFamily="34" charset="0"/>
                <a:cs typeface="Times New Roman" panose="02020603050405020304" pitchFamily="18" charset="0"/>
              </a:rPr>
              <a:t>show </a:t>
            </a:r>
            <a:r>
              <a:rPr lang="es-MX" sz="1800" b="1" kern="100" dirty="0" err="1">
                <a:solidFill>
                  <a:srgbClr val="444444"/>
                </a:solidFill>
                <a:effectLst/>
                <a:ea typeface="Calibri" panose="020F0502020204030204" pitchFamily="34" charset="0"/>
                <a:cs typeface="Times New Roman" panose="02020603050405020304" pitchFamily="18" charset="0"/>
              </a:rPr>
              <a:t>ip</a:t>
            </a:r>
            <a:r>
              <a:rPr lang="es-MX" sz="1800" b="1" kern="100" dirty="0">
                <a:solidFill>
                  <a:srgbClr val="444444"/>
                </a:solidFill>
                <a:effectLst/>
                <a:ea typeface="Calibri" panose="020F0502020204030204" pitchFamily="34" charset="0"/>
                <a:cs typeface="Times New Roman" panose="02020603050405020304" pitchFamily="18" charset="0"/>
              </a:rPr>
              <a:t> </a:t>
            </a:r>
            <a:r>
              <a:rPr lang="es-MX" sz="1800" b="1" kern="100" dirty="0" err="1">
                <a:solidFill>
                  <a:srgbClr val="444444"/>
                </a:solidFill>
                <a:effectLst/>
                <a:ea typeface="Calibri" panose="020F0502020204030204" pitchFamily="34" charset="0"/>
                <a:cs typeface="Times New Roman" panose="02020603050405020304" pitchFamily="18" charset="0"/>
              </a:rPr>
              <a:t>route</a:t>
            </a:r>
            <a:r>
              <a:rPr lang="es-MX" sz="1800" kern="100" dirty="0">
                <a:solidFill>
                  <a:srgbClr val="444444"/>
                </a:solidFill>
                <a:effectLst/>
                <a:ea typeface="Calibri" panose="020F0502020204030204" pitchFamily="34" charset="0"/>
                <a:cs typeface="Calibri" panose="020F0502020204030204" pitchFamily="34" charset="0"/>
              </a:rPr>
              <a:t>: muestra el contenido de la tabla de </a:t>
            </a:r>
            <a:r>
              <a:rPr lang="es-MX" sz="1800" kern="100" dirty="0" err="1">
                <a:solidFill>
                  <a:srgbClr val="444444"/>
                </a:solidFill>
                <a:effectLst/>
                <a:ea typeface="Calibri" panose="020F0502020204030204" pitchFamily="34" charset="0"/>
                <a:cs typeface="Calibri" panose="020F0502020204030204" pitchFamily="34" charset="0"/>
              </a:rPr>
              <a:t>routing</a:t>
            </a:r>
            <a:r>
              <a:rPr lang="es-MX" sz="1800" kern="100" dirty="0">
                <a:solidFill>
                  <a:srgbClr val="444444"/>
                </a:solidFill>
                <a:effectLst/>
                <a:ea typeface="Calibri" panose="020F0502020204030204" pitchFamily="34" charset="0"/>
                <a:cs typeface="Calibri" panose="020F0502020204030204" pitchFamily="34" charset="0"/>
              </a:rPr>
              <a:t> IPv4 que se almacena en la RAM. En el IOS de Cisco las interfaces activas deben aparecer con dos entradas relacionadas identificadas con el código “C” (conectada) o “L” (local)</a:t>
            </a:r>
            <a:endParaRPr lang="es-MX" sz="1800" kern="100" dirty="0">
              <a:effectLst/>
              <a:ea typeface="Calibri" panose="020F050202020403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solidFill>
                  <a:srgbClr val="444444"/>
                </a:solidFill>
                <a:effectLst/>
                <a:ea typeface="Calibri" panose="020F0502020204030204" pitchFamily="34" charset="0"/>
                <a:cs typeface="Times New Roman" panose="02020603050405020304" pitchFamily="18" charset="0"/>
              </a:rPr>
              <a:t>show running-</a:t>
            </a:r>
            <a:r>
              <a:rPr lang="es-MX" sz="1800" b="1" kern="100" dirty="0" err="1">
                <a:solidFill>
                  <a:srgbClr val="444444"/>
                </a:solidFill>
                <a:effectLst/>
                <a:ea typeface="Calibri" panose="020F0502020204030204" pitchFamily="34" charset="0"/>
                <a:cs typeface="Times New Roman" panose="02020603050405020304" pitchFamily="18" charset="0"/>
              </a:rPr>
              <a:t>config</a:t>
            </a:r>
            <a:r>
              <a:rPr lang="es-MX" sz="1800" b="1" kern="100" dirty="0">
                <a:solidFill>
                  <a:srgbClr val="444444"/>
                </a:solidFill>
                <a:effectLst/>
                <a:ea typeface="Calibri" panose="020F0502020204030204" pitchFamily="34" charset="0"/>
                <a:cs typeface="Times New Roman" panose="02020603050405020304" pitchFamily="18" charset="0"/>
              </a:rPr>
              <a:t> interface interface-id</a:t>
            </a:r>
            <a:r>
              <a:rPr lang="es-MX" sz="1800" kern="100" dirty="0">
                <a:solidFill>
                  <a:srgbClr val="444444"/>
                </a:solidFill>
                <a:effectLst/>
                <a:ea typeface="Calibri" panose="020F0502020204030204" pitchFamily="34" charset="0"/>
                <a:cs typeface="Calibri" panose="020F0502020204030204" pitchFamily="34" charset="0"/>
              </a:rPr>
              <a:t>: muestra los comandos configurados en la interfaz especificada.</a:t>
            </a:r>
            <a:endParaRPr lang="es-MX" sz="1800" kern="100" dirty="0">
              <a:effectLst/>
              <a:ea typeface="Calibri" panose="020F0502020204030204" pitchFamily="34" charset="0"/>
              <a:cs typeface="Times New Roman" panose="02020603050405020304" pitchFamily="18" charset="0"/>
            </a:endParaRPr>
          </a:p>
          <a:p>
            <a:pPr>
              <a:lnSpc>
                <a:spcPct val="115000"/>
              </a:lnSpc>
              <a:spcAft>
                <a:spcPts val="800"/>
              </a:spcAft>
            </a:pPr>
            <a:r>
              <a:rPr lang="es-MX" sz="1800" kern="100" dirty="0">
                <a:effectLst/>
                <a:ea typeface="Calibri" panose="020F0502020204030204" pitchFamily="34" charset="0"/>
                <a:cs typeface="Calibri" panose="020F0502020204030204" pitchFamily="34" charset="0"/>
              </a:rPr>
              <a:t> </a:t>
            </a:r>
            <a:endParaRPr lang="es-MX" sz="1800" kern="100" dirty="0">
              <a:effectLst/>
              <a:ea typeface="Calibri" panose="020F0502020204030204" pitchFamily="34" charset="0"/>
              <a:cs typeface="Times New Roman" panose="02020603050405020304" pitchFamily="18" charset="0"/>
            </a:endParaRPr>
          </a:p>
          <a:p>
            <a:endParaRPr lang="es-MX" altLang="es-MX" dirty="0"/>
          </a:p>
        </p:txBody>
      </p:sp>
    </p:spTree>
    <p:extLst>
      <p:ext uri="{BB962C8B-B14F-4D97-AF65-F5344CB8AC3E}">
        <p14:creationId xmlns:p14="http://schemas.microsoft.com/office/powerpoint/2010/main" val="16033956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30326" y="191803"/>
            <a:ext cx="5721177" cy="4958602"/>
          </a:xfrm>
          <a:prstGeom prst="rect">
            <a:avLst/>
          </a:prstGeom>
        </p:spPr>
        <p:txBody>
          <a:bodyPr wrap="square">
            <a:spAutoFit/>
          </a:bodyPr>
          <a:lstStyle/>
          <a:p>
            <a:pPr>
              <a:lnSpc>
                <a:spcPct val="115000"/>
              </a:lnSpc>
              <a:spcAft>
                <a:spcPts val="800"/>
              </a:spcAft>
            </a:pPr>
            <a:r>
              <a:rPr lang="es-MX" sz="2000" b="1" dirty="0"/>
              <a:t>Protocolo de prácticas</a:t>
            </a:r>
          </a:p>
          <a:p>
            <a:pPr marL="342900" indent="-342900">
              <a:lnSpc>
                <a:spcPct val="115000"/>
              </a:lnSpc>
              <a:spcAft>
                <a:spcPts val="800"/>
              </a:spcAft>
              <a:buAutoNum type="arabicParenR"/>
            </a:pPr>
            <a:r>
              <a:rPr lang="es-MX" b="1" dirty="0"/>
              <a:t>Poner un titulo a la práctica:    </a:t>
            </a:r>
            <a:r>
              <a:rPr lang="es-MX" dirty="0"/>
              <a:t>P1. “Configuración inicia de un </a:t>
            </a:r>
            <a:r>
              <a:rPr lang="es-MX" dirty="0" err="1"/>
              <a:t>router</a:t>
            </a:r>
            <a:r>
              <a:rPr lang="es-MX" dirty="0"/>
              <a:t>”</a:t>
            </a:r>
          </a:p>
          <a:p>
            <a:pPr marL="342900" indent="-342900">
              <a:lnSpc>
                <a:spcPct val="115000"/>
              </a:lnSpc>
              <a:spcAft>
                <a:spcPts val="800"/>
              </a:spcAft>
              <a:buAutoNum type="arabicParenR"/>
            </a:pPr>
            <a:r>
              <a:rPr lang="es-MX" dirty="0"/>
              <a:t>Objetivo de la práctica</a:t>
            </a:r>
          </a:p>
          <a:p>
            <a:pPr marL="342900" indent="-342900">
              <a:lnSpc>
                <a:spcPct val="115000"/>
              </a:lnSpc>
              <a:spcAft>
                <a:spcPts val="800"/>
              </a:spcAft>
              <a:buAutoNum type="arabicParenR"/>
            </a:pPr>
            <a:r>
              <a:rPr lang="es-MX" dirty="0"/>
              <a:t>Diagramas</a:t>
            </a:r>
          </a:p>
          <a:p>
            <a:pPr marL="342900" indent="-342900">
              <a:lnSpc>
                <a:spcPct val="115000"/>
              </a:lnSpc>
              <a:spcAft>
                <a:spcPts val="800"/>
              </a:spcAft>
              <a:buAutoNum type="arabicParenR"/>
            </a:pPr>
            <a:r>
              <a:rPr lang="es-MX" dirty="0"/>
              <a:t>Actividades realizadas (a detalle, comandos, tablas, pantallas):</a:t>
            </a:r>
          </a:p>
          <a:p>
            <a:pPr marL="800100" lvl="1" indent="-342900">
              <a:lnSpc>
                <a:spcPct val="115000"/>
              </a:lnSpc>
              <a:spcAft>
                <a:spcPts val="800"/>
              </a:spcAft>
              <a:buFont typeface="Arial" panose="020B0604020202020204" pitchFamily="34" charset="0"/>
              <a:buChar char="•"/>
            </a:pPr>
            <a:r>
              <a:rPr lang="es-MX" dirty="0"/>
              <a:t>Poner nombre, </a:t>
            </a:r>
            <a:r>
              <a:rPr lang="es-MX" dirty="0" err="1"/>
              <a:t>password</a:t>
            </a:r>
            <a:r>
              <a:rPr lang="es-MX" dirty="0"/>
              <a:t>, encriptación y un mensaje en cada </a:t>
            </a:r>
            <a:r>
              <a:rPr lang="es-MX" dirty="0" err="1"/>
              <a:t>router</a:t>
            </a:r>
            <a:endParaRPr lang="es-MX" dirty="0"/>
          </a:p>
          <a:p>
            <a:pPr marL="800100" lvl="1" indent="-342900">
              <a:lnSpc>
                <a:spcPct val="115000"/>
              </a:lnSpc>
              <a:spcAft>
                <a:spcPts val="800"/>
              </a:spcAft>
              <a:buFont typeface="Arial" panose="020B0604020202020204" pitchFamily="34" charset="0"/>
              <a:buChar char="•"/>
            </a:pPr>
            <a:r>
              <a:rPr lang="es-MX" dirty="0"/>
              <a:t>Configurar las direcciones IP indicadas en la práctica para cada PC y </a:t>
            </a:r>
            <a:r>
              <a:rPr lang="es-MX" dirty="0" err="1"/>
              <a:t>Router</a:t>
            </a:r>
            <a:endParaRPr lang="es-MX" dirty="0"/>
          </a:p>
          <a:p>
            <a:pPr marL="800100" lvl="1" indent="-342900">
              <a:lnSpc>
                <a:spcPct val="115000"/>
              </a:lnSpc>
              <a:spcAft>
                <a:spcPts val="800"/>
              </a:spcAft>
              <a:buFont typeface="Arial" panose="020B0604020202020204" pitchFamily="34" charset="0"/>
              <a:buChar char="•"/>
            </a:pPr>
            <a:r>
              <a:rPr lang="es-MX" dirty="0"/>
              <a:t>Probar con el comando PING y presentar tablas</a:t>
            </a:r>
          </a:p>
        </p:txBody>
      </p:sp>
      <p:sp>
        <p:nvSpPr>
          <p:cNvPr id="7" name="CuadroTexto 6">
            <a:extLst>
              <a:ext uri="{FF2B5EF4-FFF2-40B4-BE49-F238E27FC236}">
                <a16:creationId xmlns:a16="http://schemas.microsoft.com/office/drawing/2014/main" id="{9186207F-E605-8A1F-F9F3-5946E07F0CBE}"/>
              </a:ext>
            </a:extLst>
          </p:cNvPr>
          <p:cNvSpPr txBox="1"/>
          <p:nvPr/>
        </p:nvSpPr>
        <p:spPr>
          <a:xfrm>
            <a:off x="6000930" y="1359242"/>
            <a:ext cx="6104571" cy="5293757"/>
          </a:xfrm>
          <a:prstGeom prst="rect">
            <a:avLst/>
          </a:prstGeom>
          <a:solidFill>
            <a:srgbClr val="FFFF00"/>
          </a:solidFill>
        </p:spPr>
        <p:txBody>
          <a:bodyPr wrap="square">
            <a:spAutoFit/>
          </a:bodyPr>
          <a:lstStyle/>
          <a:p>
            <a:pPr marL="0" marR="0" lvl="0" indent="0" algn="l" defTabSz="914400" rtl="0" eaLnBrk="0" fontAlgn="base" latinLnBrk="0" hangingPunct="0">
              <a:buClrTx/>
              <a:buSzTx/>
              <a:buFontTx/>
              <a:buNone/>
              <a:tabLst/>
            </a:pPr>
            <a:r>
              <a:rPr lang="es-MX" altLang="es-MX" dirty="0" err="1">
                <a:latin typeface="Courier New" panose="02070309020205020404" pitchFamily="49" charset="0"/>
                <a:cs typeface="Courier New" panose="02070309020205020404" pitchFamily="49" charset="0"/>
              </a:rPr>
              <a:t>Router</a:t>
            </a:r>
            <a:r>
              <a:rPr lang="es-MX" altLang="es-MX" dirty="0">
                <a:latin typeface="Courier New" panose="02070309020205020404" pitchFamily="49" charset="0"/>
                <a:cs typeface="Courier New" panose="02070309020205020404" pitchFamily="49" charset="0"/>
              </a:rPr>
              <a:t># configure terminal</a:t>
            </a:r>
          </a:p>
          <a:p>
            <a:pPr defTabSz="914400" eaLnBrk="0" fontAlgn="base" hangingPunct="0"/>
            <a:r>
              <a:rPr lang="es-MX" altLang="es-MX" sz="1600" dirty="0" err="1">
                <a:latin typeface="Courier New" panose="02070309020205020404" pitchFamily="49" charset="0"/>
                <a:cs typeface="Courier New" panose="02070309020205020404" pitchFamily="49" charset="0"/>
              </a:rPr>
              <a:t>Router</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sz="1600"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)#hostname </a:t>
            </a:r>
            <a:r>
              <a:rPr kumimoji="0" lang="es-MX" altLang="es-MX" sz="1600" b="0" i="0" u="none" strike="noStrike" cap="none" normalizeH="0" baseline="0" dirty="0">
                <a:ln>
                  <a:noFill/>
                </a:ln>
                <a:solidFill>
                  <a:srgbClr val="C00000"/>
                </a:solidFill>
                <a:effectLst/>
                <a:latin typeface="Courier New" panose="02070309020205020404" pitchFamily="49" charset="0"/>
                <a:cs typeface="Courier New" panose="02070309020205020404" pitchFamily="49" charset="0"/>
              </a:rPr>
              <a:t>Router1</a:t>
            </a:r>
          </a:p>
          <a:p>
            <a:pPr defTabSz="914400" eaLnBrk="0" fontAlgn="base" hangingPunct="0"/>
            <a:endParaRPr lang="es-MX" altLang="es-MX" sz="1600" dirty="0">
              <a:solidFill>
                <a:srgbClr val="C00000"/>
              </a:solidFill>
              <a:latin typeface="Courier New" panose="02070309020205020404" pitchFamily="49" charset="0"/>
              <a:cs typeface="Courier New" panose="02070309020205020404" pitchFamily="49" charset="0"/>
            </a:endParaRP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sz="1600"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)#line </a:t>
            </a:r>
            <a:r>
              <a:rPr kumimoji="0" lang="es-MX" altLang="es-MX" sz="1600" b="0" i="0" u="none" strike="noStrike" cap="none" normalizeH="0" baseline="0" dirty="0" err="1">
                <a:ln>
                  <a:noFill/>
                </a:ln>
                <a:effectLst/>
                <a:latin typeface="Courier New" panose="02070309020205020404" pitchFamily="49" charset="0"/>
                <a:cs typeface="Courier New" panose="02070309020205020404" pitchFamily="49" charset="0"/>
              </a:rPr>
              <a:t>console</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 0 </a:t>
            </a: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sz="1600"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-line)#password </a:t>
            </a:r>
            <a:r>
              <a:rPr kumimoji="0" lang="es-MX" altLang="es-MX" sz="1600" b="0" i="0" u="none" strike="noStrike" cap="none" normalizeH="0" baseline="0" dirty="0" err="1">
                <a:ln>
                  <a:noFill/>
                </a:ln>
                <a:solidFill>
                  <a:srgbClr val="C00000"/>
                </a:solidFill>
                <a:effectLst/>
                <a:latin typeface="Courier New" panose="02070309020205020404" pitchFamily="49" charset="0"/>
                <a:cs typeface="Courier New" panose="02070309020205020404" pitchFamily="49" charset="0"/>
              </a:rPr>
              <a:t>pswde</a:t>
            </a:r>
            <a:r>
              <a:rPr lang="es-MX" altLang="es-MX" sz="1600" dirty="0" err="1">
                <a:solidFill>
                  <a:srgbClr val="C00000"/>
                </a:solidFill>
                <a:latin typeface="Courier New" panose="02070309020205020404" pitchFamily="49" charset="0"/>
                <a:cs typeface="Courier New" panose="02070309020205020404" pitchFamily="49" charset="0"/>
              </a:rPr>
              <a:t>acceso</a:t>
            </a:r>
            <a:endParaRPr kumimoji="0" lang="es-MX" altLang="es-MX" sz="1600" b="0" i="0" u="none" strike="noStrike" cap="none" normalizeH="0" baseline="0" dirty="0">
              <a:ln>
                <a:noFill/>
              </a:ln>
              <a:solidFill>
                <a:srgbClr val="C00000"/>
              </a:solidFill>
              <a:effectLst/>
              <a:latin typeface="Courier New" panose="02070309020205020404" pitchFamily="49" charset="0"/>
              <a:cs typeface="Courier New" panose="02070309020205020404" pitchFamily="49" charset="0"/>
            </a:endParaRP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sz="1600"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-line</a:t>
            </a:r>
            <a:r>
              <a:rPr lang="es-MX" altLang="es-MX" sz="1600" dirty="0">
                <a:latin typeface="Courier New" panose="02070309020205020404" pitchFamily="49" charset="0"/>
                <a:cs typeface="Courier New" panose="02070309020205020404" pitchFamily="49" charset="0"/>
              </a:rPr>
              <a:t>)#login</a:t>
            </a: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lang="es-MX" altLang="es-MX" sz="1600" dirty="0" err="1">
                <a:latin typeface="Courier New" panose="02070309020205020404" pitchFamily="49" charset="0"/>
                <a:cs typeface="Courier New" panose="02070309020205020404" pitchFamily="49" charset="0"/>
              </a:rPr>
              <a:t>config</a:t>
            </a:r>
            <a:r>
              <a:rPr lang="es-MX" altLang="es-MX" sz="1600" dirty="0">
                <a:latin typeface="Courier New" panose="02070309020205020404" pitchFamily="49" charset="0"/>
                <a:cs typeface="Courier New" panose="02070309020205020404" pitchFamily="49" charset="0"/>
              </a:rPr>
              <a:t>-line)#exit</a:t>
            </a:r>
          </a:p>
          <a:p>
            <a:pPr defTabSz="914400" eaLnBrk="0" fontAlgn="base" hangingPunct="0"/>
            <a:endParaRPr lang="es-MX" altLang="es-MX" sz="1600"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a:latin typeface="Courier New" panose="02070309020205020404" pitchFamily="49" charset="0"/>
                <a:cs typeface="Courier New" panose="02070309020205020404" pitchFamily="49" charset="0"/>
              </a:rPr>
              <a:t>Router1(</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)#line </a:t>
            </a:r>
            <a:r>
              <a:rPr lang="es-MX" sz="1600" dirty="0" err="1">
                <a:latin typeface="Courier New" panose="02070309020205020404" pitchFamily="49" charset="0"/>
                <a:cs typeface="Courier New" panose="02070309020205020404" pitchFamily="49" charset="0"/>
              </a:rPr>
              <a:t>vty</a:t>
            </a:r>
            <a:r>
              <a:rPr lang="es-MX" sz="1600" dirty="0">
                <a:latin typeface="Courier New" panose="02070309020205020404" pitchFamily="49" charset="0"/>
                <a:cs typeface="Courier New" panose="02070309020205020404" pitchFamily="49" charset="0"/>
              </a:rPr>
              <a:t> 0 4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a:latin typeface="Courier New" panose="02070309020205020404" pitchFamily="49" charset="0"/>
                <a:cs typeface="Courier New" panose="02070309020205020404" pitchFamily="49" charset="0"/>
              </a:rPr>
              <a:t>Router1(</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-line)#pass </a:t>
            </a:r>
            <a:r>
              <a:rPr lang="es-MX" sz="1600" dirty="0" err="1">
                <a:latin typeface="Courier New" panose="02070309020205020404" pitchFamily="49" charset="0"/>
                <a:cs typeface="Courier New" panose="02070309020205020404" pitchFamily="49" charset="0"/>
              </a:rPr>
              <a:t>MyPassVty</a:t>
            </a:r>
            <a:endParaRPr lang="es-MX" sz="1600"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s-MX" altLang="es-MX" sz="1600" dirty="0">
              <a:latin typeface="Courier New" panose="02070309020205020404" pitchFamily="49" charset="0"/>
              <a:cs typeface="Courier New" panose="02070309020205020404" pitchFamily="49" charset="0"/>
            </a:endParaRP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a:t>
            </a:r>
            <a:r>
              <a:rPr lang="es-MX" altLang="es-MX" sz="1600" dirty="0" err="1">
                <a:latin typeface="Courier New" panose="02070309020205020404" pitchFamily="49" charset="0"/>
                <a:cs typeface="Courier New" panose="02070309020205020404" pitchFamily="49" charset="0"/>
              </a:rPr>
              <a:t>enable</a:t>
            </a:r>
            <a:r>
              <a:rPr lang="es-MX" altLang="es-MX" sz="1600" dirty="0">
                <a:latin typeface="Courier New" panose="02070309020205020404" pitchFamily="49" charset="0"/>
                <a:cs typeface="Courier New" panose="02070309020205020404" pitchFamily="49" charset="0"/>
              </a:rPr>
              <a:t> </a:t>
            </a:r>
            <a:r>
              <a:rPr lang="es-MX" altLang="es-MX" sz="1600" dirty="0" err="1">
                <a:latin typeface="Courier New" panose="02070309020205020404" pitchFamily="49" charset="0"/>
                <a:cs typeface="Courier New" panose="02070309020205020404" pitchFamily="49" charset="0"/>
              </a:rPr>
              <a:t>password</a:t>
            </a:r>
            <a:r>
              <a:rPr lang="es-MX" altLang="es-MX" sz="1600" dirty="0">
                <a:latin typeface="Courier New" panose="02070309020205020404" pitchFamily="49" charset="0"/>
                <a:cs typeface="Courier New" panose="02070309020205020404" pitchFamily="49" charset="0"/>
              </a:rPr>
              <a:t> </a:t>
            </a:r>
            <a:r>
              <a:rPr lang="es-MX" altLang="es-MX" sz="1600" dirty="0" err="1">
                <a:solidFill>
                  <a:srgbClr val="C00000"/>
                </a:solidFill>
                <a:latin typeface="Courier New" panose="02070309020205020404" pitchFamily="49" charset="0"/>
                <a:cs typeface="Courier New" panose="02070309020205020404" pitchFamily="49" charset="0"/>
              </a:rPr>
              <a:t>PSWprivilegio</a:t>
            </a:r>
            <a:endParaRPr lang="es-MX" altLang="es-MX" sz="1600" dirty="0">
              <a:solidFill>
                <a:srgbClr val="C00000"/>
              </a:solidFill>
              <a:latin typeface="Courier New" panose="02070309020205020404" pitchFamily="49" charset="0"/>
              <a:cs typeface="Courier New" panose="02070309020205020404" pitchFamily="49" charset="0"/>
            </a:endParaRPr>
          </a:p>
          <a:p>
            <a:pPr defTabSz="914400" eaLnBrk="0" fontAlgn="base" hangingPunct="0"/>
            <a:r>
              <a:rPr lang="es-MX" altLang="es-MX" sz="1600" dirty="0" err="1">
                <a:latin typeface="Courier New" panose="02070309020205020404" pitchFamily="49" charset="0"/>
                <a:cs typeface="Courier New" panose="02070309020205020404" pitchFamily="49" charset="0"/>
              </a:rPr>
              <a:t>Router</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a:t>
            </a:r>
            <a:r>
              <a:rPr lang="es-MX" altLang="es-MX" sz="1600" dirty="0" err="1">
                <a:latin typeface="Courier New" panose="02070309020205020404" pitchFamily="49" charset="0"/>
                <a:cs typeface="Courier New" panose="02070309020205020404" pitchFamily="49" charset="0"/>
              </a:rPr>
              <a:t>service</a:t>
            </a:r>
            <a:r>
              <a:rPr lang="es-MX" altLang="es-MX" sz="1600" dirty="0">
                <a:latin typeface="Courier New" panose="02070309020205020404" pitchFamily="49" charset="0"/>
                <a:cs typeface="Courier New" panose="02070309020205020404" pitchFamily="49" charset="0"/>
              </a:rPr>
              <a:t> </a:t>
            </a:r>
            <a:r>
              <a:rPr lang="es-MX" altLang="es-MX" sz="1600" dirty="0" err="1">
                <a:latin typeface="Courier New" panose="02070309020205020404" pitchFamily="49" charset="0"/>
                <a:cs typeface="Courier New" panose="02070309020205020404" pitchFamily="49" charset="0"/>
              </a:rPr>
              <a:t>password-encription</a:t>
            </a:r>
            <a:endParaRPr lang="es-MX" altLang="es-MX" sz="1600" dirty="0">
              <a:latin typeface="Courier New" panose="02070309020205020404" pitchFamily="49" charset="0"/>
              <a:cs typeface="Courier New" panose="02070309020205020404" pitchFamily="49" charset="0"/>
            </a:endParaRPr>
          </a:p>
          <a:p>
            <a:pPr defTabSz="914400" eaLnBrk="0" fontAlgn="base" hangingPunct="0"/>
            <a:endParaRPr lang="es-MX" altLang="es-MX" sz="1600" dirty="0">
              <a:latin typeface="Courier New" panose="02070309020205020404" pitchFamily="49" charset="0"/>
              <a:cs typeface="Courier New" panose="02070309020205020404" pitchFamily="49" charset="0"/>
            </a:endParaRP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a:t>
            </a:r>
            <a:r>
              <a:rPr lang="es-MX" altLang="es-MX" sz="1600" dirty="0">
                <a:latin typeface="Courier New" panose="02070309020205020404" pitchFamily="49" charset="0"/>
                <a:cs typeface="Courier New" panose="02070309020205020404" pitchFamily="49" charset="0"/>
              </a:rPr>
              <a:t>banner </a:t>
            </a:r>
            <a:r>
              <a:rPr lang="es-MX" altLang="es-MX" sz="1600" dirty="0" err="1">
                <a:latin typeface="Courier New" panose="02070309020205020404" pitchFamily="49" charset="0"/>
                <a:cs typeface="Courier New" panose="02070309020205020404" pitchFamily="49" charset="0"/>
              </a:rPr>
              <a:t>motd</a:t>
            </a:r>
            <a:r>
              <a:rPr lang="es-MX" altLang="es-MX" sz="1600" dirty="0">
                <a:latin typeface="Courier New" panose="02070309020205020404" pitchFamily="49" charset="0"/>
                <a:cs typeface="Courier New" panose="02070309020205020404" pitchFamily="49" charset="0"/>
              </a:rPr>
              <a:t> “</a:t>
            </a:r>
            <a:r>
              <a:rPr lang="es-MX" altLang="es-MX" sz="1600" dirty="0">
                <a:solidFill>
                  <a:srgbClr val="C00000"/>
                </a:solidFill>
                <a:latin typeface="Courier New" panose="02070309020205020404" pitchFamily="49" charset="0"/>
                <a:cs typeface="Courier New" panose="02070309020205020404" pitchFamily="49" charset="0"/>
              </a:rPr>
              <a:t>texto banner</a:t>
            </a:r>
            <a:r>
              <a:rPr lang="es-MX" altLang="es-MX" sz="1600" dirty="0">
                <a:latin typeface="Courier New" panose="02070309020205020404" pitchFamily="49" charset="0"/>
                <a:cs typeface="Courier New" panose="02070309020205020404" pitchFamily="49" charset="0"/>
              </a:rPr>
              <a:t>”</a:t>
            </a: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a:t>
            </a:r>
            <a:endParaRPr lang="es-MX" altLang="es-MX" sz="1600" dirty="0">
              <a:latin typeface="Courier New" panose="02070309020205020404" pitchFamily="49" charset="0"/>
              <a:cs typeface="Courier New" panose="02070309020205020404" pitchFamily="49" charset="0"/>
            </a:endParaRPr>
          </a:p>
          <a:p>
            <a:pPr defTabSz="914400" eaLnBrk="0" fontAlgn="base" hangingPunct="0"/>
            <a:endParaRPr lang="es-MX" altLang="es-MX" sz="1600"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a:latin typeface="Courier New" panose="02070309020205020404" pitchFamily="49" charset="0"/>
                <a:cs typeface="Courier New" panose="02070309020205020404" pitchFamily="49" charset="0"/>
              </a:rPr>
              <a:t>R1#copy running-</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startup-</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err="1">
                <a:latin typeface="Courier New" panose="02070309020205020404" pitchFamily="49" charset="0"/>
                <a:cs typeface="Courier New" panose="02070309020205020404" pitchFamily="49" charset="0"/>
              </a:rPr>
              <a:t>Destination</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filename</a:t>
            </a:r>
            <a:r>
              <a:rPr lang="es-MX" sz="1600" dirty="0">
                <a:latin typeface="Courier New" panose="02070309020205020404" pitchFamily="49" charset="0"/>
                <a:cs typeface="Courier New" panose="02070309020205020404" pitchFamily="49" charset="0"/>
              </a:rPr>
              <a:t> [startup-</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err="1">
                <a:latin typeface="Courier New" panose="02070309020205020404" pitchFamily="49" charset="0"/>
                <a:cs typeface="Courier New" panose="02070309020205020404" pitchFamily="49" charset="0"/>
              </a:rPr>
              <a:t>Building</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configuration</a:t>
            </a:r>
            <a:r>
              <a:rPr lang="es-MX" sz="1600" dirty="0">
                <a:latin typeface="Courier New" panose="02070309020205020404" pitchFamily="49" charset="0"/>
                <a:cs typeface="Courier New" panose="02070309020205020404" pitchFamily="49" charset="0"/>
              </a:rPr>
              <a:t>...</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a:latin typeface="Courier New" panose="02070309020205020404" pitchFamily="49" charset="0"/>
                <a:cs typeface="Courier New" panose="02070309020205020404" pitchFamily="49" charset="0"/>
              </a:rPr>
              <a:t>[OK]</a:t>
            </a:r>
          </a:p>
        </p:txBody>
      </p:sp>
    </p:spTree>
    <p:extLst>
      <p:ext uri="{BB962C8B-B14F-4D97-AF65-F5344CB8AC3E}">
        <p14:creationId xmlns:p14="http://schemas.microsoft.com/office/powerpoint/2010/main" val="21498657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30325" y="191803"/>
            <a:ext cx="11394227" cy="6848350"/>
          </a:xfrm>
          <a:prstGeom prst="rect">
            <a:avLst/>
          </a:prstGeom>
        </p:spPr>
        <p:txBody>
          <a:bodyPr wrap="square">
            <a:spAutoFit/>
          </a:bodyPr>
          <a:lstStyle/>
          <a:p>
            <a:pPr>
              <a:lnSpc>
                <a:spcPct val="115000"/>
              </a:lnSpc>
              <a:spcAft>
                <a:spcPts val="800"/>
              </a:spcAft>
            </a:pPr>
            <a:r>
              <a:rPr lang="es-MX" sz="2000" b="1" dirty="0"/>
              <a:t>Práctica 2: 28 de agosto de 2024</a:t>
            </a:r>
          </a:p>
          <a:p>
            <a:pPr marL="342900" indent="-342900">
              <a:lnSpc>
                <a:spcPct val="115000"/>
              </a:lnSpc>
              <a:spcAft>
                <a:spcPts val="800"/>
              </a:spcAft>
              <a:buAutoNum type="arabicParenR"/>
            </a:pPr>
            <a:r>
              <a:rPr lang="es-MX" b="1" dirty="0"/>
              <a:t>Práctica de VLSM</a:t>
            </a:r>
          </a:p>
          <a:p>
            <a:pPr marL="342900" indent="-342900">
              <a:lnSpc>
                <a:spcPct val="115000"/>
              </a:lnSpc>
              <a:spcAft>
                <a:spcPts val="800"/>
              </a:spcAft>
              <a:buAutoNum type="arabicParenR"/>
            </a:pPr>
            <a:r>
              <a:rPr lang="es-MX" dirty="0"/>
              <a:t>Objetivo de la práctica: “configurar y probar redes VLSM” (no se requiere configura un protocolo de ruteo)</a:t>
            </a:r>
          </a:p>
          <a:p>
            <a:pPr marL="342900" indent="-342900">
              <a:lnSpc>
                <a:spcPct val="115000"/>
              </a:lnSpc>
              <a:spcAft>
                <a:spcPts val="800"/>
              </a:spcAft>
              <a:buAutoNum type="arabicParenR"/>
            </a:pPr>
            <a:r>
              <a:rPr lang="es-MX" dirty="0"/>
              <a:t>Diagramas: los vistos en clase, agregando en cada red, al menos dos computadoras, una con la dirección inicial y otra con la dirección final del rango de direcciones asociado a cada subred.</a:t>
            </a:r>
          </a:p>
          <a:p>
            <a:pPr marL="342900" indent="-342900">
              <a:lnSpc>
                <a:spcPct val="115000"/>
              </a:lnSpc>
              <a:spcAft>
                <a:spcPts val="800"/>
              </a:spcAft>
              <a:buAutoNum type="arabicParenR"/>
            </a:pPr>
            <a:r>
              <a:rPr lang="es-MX" dirty="0"/>
              <a:t>Actividades realizadas (a detalle, comandos, tablas, pantallas):</a:t>
            </a:r>
          </a:p>
          <a:p>
            <a:pPr marL="800100" lvl="1" indent="-342900">
              <a:lnSpc>
                <a:spcPct val="115000"/>
              </a:lnSpc>
              <a:spcAft>
                <a:spcPts val="800"/>
              </a:spcAft>
              <a:buFont typeface="Arial" panose="020B0604020202020204" pitchFamily="34" charset="0"/>
              <a:buChar char="•"/>
            </a:pPr>
            <a:r>
              <a:rPr lang="es-MX" dirty="0"/>
              <a:t>Poner nombre, </a:t>
            </a:r>
            <a:r>
              <a:rPr lang="es-MX" dirty="0" err="1"/>
              <a:t>password</a:t>
            </a:r>
            <a:r>
              <a:rPr lang="es-MX" dirty="0"/>
              <a:t>, encriptación y un mensaje en cada </a:t>
            </a:r>
            <a:r>
              <a:rPr lang="es-MX" dirty="0" err="1"/>
              <a:t>router</a:t>
            </a:r>
            <a:endParaRPr lang="es-MX" dirty="0"/>
          </a:p>
          <a:p>
            <a:pPr marL="800100" lvl="1" indent="-342900">
              <a:lnSpc>
                <a:spcPct val="115000"/>
              </a:lnSpc>
              <a:spcAft>
                <a:spcPts val="800"/>
              </a:spcAft>
              <a:buFont typeface="Arial" panose="020B0604020202020204" pitchFamily="34" charset="0"/>
              <a:buChar char="•"/>
            </a:pPr>
            <a:r>
              <a:rPr lang="es-MX" dirty="0"/>
              <a:t>Configurar las direcciones IP resultantes del ejercicio de VLSM para cada PC y </a:t>
            </a:r>
            <a:r>
              <a:rPr lang="es-MX" dirty="0" err="1"/>
              <a:t>Router</a:t>
            </a:r>
            <a:endParaRPr lang="es-MX" dirty="0"/>
          </a:p>
          <a:p>
            <a:pPr marL="800100" lvl="1" indent="-342900">
              <a:lnSpc>
                <a:spcPct val="115000"/>
              </a:lnSpc>
              <a:spcAft>
                <a:spcPts val="800"/>
              </a:spcAft>
              <a:buFont typeface="Arial" panose="020B0604020202020204" pitchFamily="34" charset="0"/>
              <a:buChar char="•"/>
            </a:pPr>
            <a:r>
              <a:rPr lang="es-MX" dirty="0"/>
              <a:t>Probar con el comando PING y presentar tablas lo siguiente</a:t>
            </a:r>
          </a:p>
          <a:p>
            <a:pPr marL="1257300" lvl="2" indent="-342900">
              <a:lnSpc>
                <a:spcPct val="115000"/>
              </a:lnSpc>
              <a:spcAft>
                <a:spcPts val="800"/>
              </a:spcAft>
              <a:buFont typeface="Arial" panose="020B0604020202020204" pitchFamily="34" charset="0"/>
              <a:buChar char="•"/>
            </a:pPr>
            <a:r>
              <a:rPr lang="es-MX" dirty="0"/>
              <a:t>Ping entre dos PC de la misma subred para cada subred</a:t>
            </a:r>
          </a:p>
          <a:p>
            <a:pPr marL="1257300" lvl="2" indent="-342900">
              <a:lnSpc>
                <a:spcPct val="115000"/>
              </a:lnSpc>
              <a:spcAft>
                <a:spcPts val="800"/>
              </a:spcAft>
              <a:buFont typeface="Arial" panose="020B0604020202020204" pitchFamily="34" charset="0"/>
              <a:buChar char="•"/>
            </a:pPr>
            <a:r>
              <a:rPr lang="es-MX" dirty="0"/>
              <a:t>Ping de al menos dos PC a su enrutador y a otro enrutador distinto</a:t>
            </a:r>
          </a:p>
          <a:p>
            <a:pPr marL="1257300" lvl="2" indent="-342900">
              <a:lnSpc>
                <a:spcPct val="115000"/>
              </a:lnSpc>
              <a:spcAft>
                <a:spcPts val="800"/>
              </a:spcAft>
              <a:buFont typeface="Arial" panose="020B0604020202020204" pitchFamily="34" charset="0"/>
              <a:buChar char="•"/>
            </a:pPr>
            <a:r>
              <a:rPr lang="es-MX" dirty="0"/>
              <a:t>Ping ente enrutadores</a:t>
            </a:r>
          </a:p>
          <a:p>
            <a:pPr>
              <a:lnSpc>
                <a:spcPct val="115000"/>
              </a:lnSpc>
              <a:spcAft>
                <a:spcPts val="800"/>
              </a:spcAft>
            </a:pPr>
            <a:r>
              <a:rPr lang="es-MX" dirty="0"/>
              <a:t>5) Poner a una PC una IP fuera de su rango y hacer ping hacia otra PC de su subred y al su </a:t>
            </a:r>
            <a:r>
              <a:rPr lang="es-MX" dirty="0" err="1"/>
              <a:t>router</a:t>
            </a:r>
            <a:endParaRPr lang="es-MX" dirty="0"/>
          </a:p>
          <a:p>
            <a:pPr>
              <a:lnSpc>
                <a:spcPct val="115000"/>
              </a:lnSpc>
              <a:spcAft>
                <a:spcPts val="800"/>
              </a:spcAft>
            </a:pPr>
            <a:r>
              <a:rPr lang="es-MX" dirty="0"/>
              <a:t>6) Restituir a la PC su IP correcta y modificar su mascara a 24 bits; hacer ping hacia </a:t>
            </a:r>
            <a:r>
              <a:rPr lang="es-MX" dirty="0" err="1"/>
              <a:t>PCs</a:t>
            </a:r>
            <a:r>
              <a:rPr lang="es-MX" dirty="0"/>
              <a:t> y </a:t>
            </a:r>
            <a:r>
              <a:rPr lang="es-MX" dirty="0" err="1"/>
              <a:t>routers</a:t>
            </a:r>
            <a:r>
              <a:rPr lang="es-MX" dirty="0"/>
              <a:t> de otras subredes (llenar tabla y escribir conclusiones)</a:t>
            </a:r>
          </a:p>
          <a:p>
            <a:pPr>
              <a:lnSpc>
                <a:spcPct val="115000"/>
              </a:lnSpc>
              <a:spcAft>
                <a:spcPts val="800"/>
              </a:spcAft>
            </a:pPr>
            <a:endParaRPr lang="es-MX" dirty="0"/>
          </a:p>
        </p:txBody>
      </p:sp>
    </p:spTree>
    <p:extLst>
      <p:ext uri="{BB962C8B-B14F-4D97-AF65-F5344CB8AC3E}">
        <p14:creationId xmlns:p14="http://schemas.microsoft.com/office/powerpoint/2010/main" val="7106701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F3A9204-4423-3760-329D-BB03878F8DB3}"/>
              </a:ext>
            </a:extLst>
          </p:cNvPr>
          <p:cNvPicPr>
            <a:picLocks noChangeAspect="1"/>
          </p:cNvPicPr>
          <p:nvPr/>
        </p:nvPicPr>
        <p:blipFill rotWithShape="1">
          <a:blip r:embed="rId2"/>
          <a:srcRect l="7298"/>
          <a:stretch/>
        </p:blipFill>
        <p:spPr>
          <a:xfrm>
            <a:off x="74140" y="117433"/>
            <a:ext cx="6128951" cy="5851686"/>
          </a:xfrm>
          <a:prstGeom prst="rect">
            <a:avLst/>
          </a:prstGeom>
        </p:spPr>
      </p:pic>
      <p:pic>
        <p:nvPicPr>
          <p:cNvPr id="5" name="Imagen 4">
            <a:extLst>
              <a:ext uri="{FF2B5EF4-FFF2-40B4-BE49-F238E27FC236}">
                <a16:creationId xmlns:a16="http://schemas.microsoft.com/office/drawing/2014/main" id="{1E1A7B07-ED82-1691-5BD7-374D6DB35D0D}"/>
              </a:ext>
            </a:extLst>
          </p:cNvPr>
          <p:cNvPicPr>
            <a:picLocks noChangeAspect="1"/>
          </p:cNvPicPr>
          <p:nvPr/>
        </p:nvPicPr>
        <p:blipFill>
          <a:blip r:embed="rId3"/>
          <a:stretch>
            <a:fillRect/>
          </a:stretch>
        </p:blipFill>
        <p:spPr>
          <a:xfrm>
            <a:off x="6314301" y="991052"/>
            <a:ext cx="5815914" cy="5829877"/>
          </a:xfrm>
          <a:prstGeom prst="rect">
            <a:avLst/>
          </a:prstGeom>
        </p:spPr>
      </p:pic>
    </p:spTree>
    <p:extLst>
      <p:ext uri="{BB962C8B-B14F-4D97-AF65-F5344CB8AC3E}">
        <p14:creationId xmlns:p14="http://schemas.microsoft.com/office/powerpoint/2010/main" val="8587858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6471002"/>
          </a:xfrm>
          <a:prstGeom prst="rect">
            <a:avLst/>
          </a:prstGeom>
        </p:spPr>
        <p:txBody>
          <a:bodyPr wrap="square">
            <a:spAutoFit/>
          </a:bodyPr>
          <a:lstStyle/>
          <a:p>
            <a:pPr>
              <a:lnSpc>
                <a:spcPct val="115000"/>
              </a:lnSpc>
            </a:pPr>
            <a:r>
              <a:rPr lang="es-MX" sz="2000" b="1" dirty="0"/>
              <a:t>Trenes, </a:t>
            </a:r>
            <a:r>
              <a:rPr lang="es-MX" sz="2000" b="1" dirty="0">
                <a:effectLst/>
                <a:ea typeface="Aptos" panose="020B0004020202020204" pitchFamily="34" charset="0"/>
                <a:cs typeface="Times New Roman" panose="02020603050405020304" pitchFamily="18" charset="0"/>
              </a:rPr>
              <a:t>Imágenes y licencias del IOS </a:t>
            </a:r>
            <a:r>
              <a:rPr lang="es-MX" sz="2000" b="1" dirty="0"/>
              <a:t>:</a:t>
            </a:r>
          </a:p>
          <a:p>
            <a:pPr>
              <a:lnSpc>
                <a:spcPct val="115000"/>
              </a:lnSpc>
            </a:pPr>
            <a:r>
              <a:rPr lang="es-MX" sz="2000" b="1" kern="100" dirty="0">
                <a:effectLst/>
                <a:ea typeface="Aptos" panose="020B0004020202020204" pitchFamily="34" charset="0"/>
                <a:cs typeface="Times New Roman" panose="02020603050405020304" pitchFamily="18" charset="0"/>
              </a:rPr>
              <a:t>nomenclatura y los paquetes del IOS 12.4 y 15</a:t>
            </a:r>
            <a:r>
              <a:rPr lang="es-MX" sz="2000" kern="100" dirty="0">
                <a:effectLst/>
                <a:ea typeface="Aptos" panose="020B0004020202020204" pitchFamily="34" charset="0"/>
                <a:cs typeface="Times New Roman" panose="02020603050405020304" pitchFamily="18" charset="0"/>
              </a:rPr>
              <a:t>. </a:t>
            </a:r>
          </a:p>
          <a:p>
            <a:pPr>
              <a:lnSpc>
                <a:spcPct val="115000"/>
              </a:lnSpc>
            </a:pPr>
            <a:endParaRPr lang="es-MX" dirty="0"/>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IOS de Cisco (Internetwork Operative </a:t>
            </a:r>
            <a:r>
              <a:rPr lang="es-MX" kern="100" dirty="0" err="1">
                <a:solidFill>
                  <a:srgbClr val="444444"/>
                </a:solidFill>
                <a:ea typeface="Calibri" panose="020F0502020204030204" pitchFamily="34" charset="0"/>
                <a:cs typeface="Calibri" panose="020F0502020204030204" pitchFamily="34" charset="0"/>
              </a:rPr>
              <a:t>System</a:t>
            </a:r>
            <a:r>
              <a:rPr lang="es-MX" kern="100" dirty="0">
                <a:solidFill>
                  <a:srgbClr val="444444"/>
                </a:solidFill>
                <a:ea typeface="Calibri" panose="020F0502020204030204" pitchFamily="34" charset="0"/>
                <a:cs typeface="Calibri" panose="020F0502020204030204" pitchFamily="34" charset="0"/>
              </a:rPr>
              <a:t>) es el software que se utiliza en la mayoría de los </a:t>
            </a:r>
            <a:r>
              <a:rPr lang="es-MX" kern="100" dirty="0" err="1">
                <a:solidFill>
                  <a:srgbClr val="444444"/>
                </a:solidFill>
                <a:ea typeface="Calibri" panose="020F0502020204030204" pitchFamily="34" charset="0"/>
                <a:cs typeface="Calibri" panose="020F0502020204030204" pitchFamily="34" charset="0"/>
              </a:rPr>
              <a:t>routers</a:t>
            </a:r>
            <a:r>
              <a:rPr lang="es-MX" kern="100" dirty="0">
                <a:solidFill>
                  <a:srgbClr val="444444"/>
                </a:solidFill>
                <a:ea typeface="Calibri" panose="020F0502020204030204" pitchFamily="34" charset="0"/>
                <a:cs typeface="Calibri" panose="020F0502020204030204" pitchFamily="34" charset="0"/>
              </a:rPr>
              <a:t> y switches Cisco. Es un paquete de </a:t>
            </a:r>
            <a:r>
              <a:rPr lang="es-MX" kern="100" dirty="0" err="1">
                <a:solidFill>
                  <a:srgbClr val="444444"/>
                </a:solidFill>
                <a:ea typeface="Calibri" panose="020F0502020204030204" pitchFamily="34" charset="0"/>
                <a:cs typeface="Calibri" panose="020F0502020204030204" pitchFamily="34" charset="0"/>
              </a:rPr>
              <a:t>routing</a:t>
            </a:r>
            <a:r>
              <a:rPr lang="es-MX" kern="100" dirty="0">
                <a:solidFill>
                  <a:srgbClr val="444444"/>
                </a:solidFill>
                <a:ea typeface="Calibri" panose="020F0502020204030204" pitchFamily="34" charset="0"/>
                <a:cs typeface="Calibri" panose="020F0502020204030204" pitchFamily="34" charset="0"/>
              </a:rPr>
              <a:t>, </a:t>
            </a:r>
            <a:r>
              <a:rPr lang="es-MX" kern="100" dirty="0" err="1">
                <a:solidFill>
                  <a:srgbClr val="444444"/>
                </a:solidFill>
                <a:ea typeface="Calibri" panose="020F0502020204030204" pitchFamily="34" charset="0"/>
                <a:cs typeface="Calibri" panose="020F0502020204030204" pitchFamily="34" charset="0"/>
              </a:rPr>
              <a:t>switching</a:t>
            </a:r>
            <a:r>
              <a:rPr lang="es-MX" kern="100" dirty="0">
                <a:solidFill>
                  <a:srgbClr val="444444"/>
                </a:solidFill>
                <a:ea typeface="Calibri" panose="020F0502020204030204" pitchFamily="34" charset="0"/>
                <a:cs typeface="Calibri" panose="020F0502020204030204" pitchFamily="34" charset="0"/>
              </a:rPr>
              <a:t>, seguridad y otras tecnologías de </a:t>
            </a:r>
            <a:r>
              <a:rPr lang="es-MX" kern="100" dirty="0" err="1">
                <a:solidFill>
                  <a:srgbClr val="444444"/>
                </a:solidFill>
                <a:ea typeface="Calibri" panose="020F0502020204030204" pitchFamily="34" charset="0"/>
                <a:cs typeface="Calibri" panose="020F0502020204030204" pitchFamily="34" charset="0"/>
              </a:rPr>
              <a:t>internconexión</a:t>
            </a:r>
            <a:r>
              <a:rPr lang="es-MX" kern="100" dirty="0">
                <a:solidFill>
                  <a:srgbClr val="444444"/>
                </a:solidFill>
                <a:ea typeface="Calibri" panose="020F0502020204030204" pitchFamily="34" charset="0"/>
                <a:cs typeface="Calibri" panose="020F0502020204030204" pitchFamily="34" charset="0"/>
              </a:rPr>
              <a:t> integradas en un único sistema operativo multitarea.</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La cartera del IOS de Cisco admite una amplia gama de tecnologías y características. Los clientes elijen un IOS basado en un grupo de protocolos y características admitidas por una imagen determinada. Comprender la cartera de conjuntos de características del IOS de Cisco es útil al seleccionar el IOS adecuado para que satisfaga las necesidades de una organización.</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Cisco realizó cambios significativos en los paquetes y las licencias del software IOS al llevar a cabo la transición de IOS 12.4 a 15.0.</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b="1" kern="100" dirty="0">
                <a:solidFill>
                  <a:srgbClr val="444444"/>
                </a:solidFill>
                <a:ea typeface="Calibri" panose="020F0502020204030204" pitchFamily="34" charset="0"/>
                <a:cs typeface="Calibri" panose="020F0502020204030204" pitchFamily="34" charset="0"/>
              </a:rPr>
              <a:t>Trenes y familias de versiones del software IOS de Cisco</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El IOS de Cisco evolucionó de un sistema operativo de plataforma única para </a:t>
            </a:r>
            <a:r>
              <a:rPr lang="es-MX" kern="100" dirty="0" err="1">
                <a:solidFill>
                  <a:srgbClr val="444444"/>
                </a:solidFill>
                <a:ea typeface="Calibri" panose="020F0502020204030204" pitchFamily="34" charset="0"/>
                <a:cs typeface="Calibri" panose="020F0502020204030204" pitchFamily="34" charset="0"/>
              </a:rPr>
              <a:t>routing</a:t>
            </a:r>
            <a:r>
              <a:rPr lang="es-MX" kern="100" dirty="0">
                <a:solidFill>
                  <a:srgbClr val="444444"/>
                </a:solidFill>
                <a:ea typeface="Calibri" panose="020F0502020204030204" pitchFamily="34" charset="0"/>
                <a:cs typeface="Calibri" panose="020F0502020204030204" pitchFamily="34" charset="0"/>
              </a:rPr>
              <a:t> a un sistema operativo sofisticado que admite una amplia matriz de características y tecnologías, como VoIP, NetFlow e IPsec. </a:t>
            </a:r>
          </a:p>
          <a:p>
            <a:endParaRPr lang="es-MX" altLang="es-MX" dirty="0"/>
          </a:p>
        </p:txBody>
      </p:sp>
    </p:spTree>
    <p:extLst>
      <p:ext uri="{BB962C8B-B14F-4D97-AF65-F5344CB8AC3E}">
        <p14:creationId xmlns:p14="http://schemas.microsoft.com/office/powerpoint/2010/main" val="19302797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5854936"/>
          </a:xfrm>
          <a:prstGeom prst="rect">
            <a:avLst/>
          </a:prstGeom>
        </p:spPr>
        <p:txBody>
          <a:bodyPr wrap="square">
            <a:spAutoFit/>
          </a:bodyPr>
          <a:lstStyle/>
          <a:p>
            <a:pPr>
              <a:lnSpc>
                <a:spcPct val="115000"/>
              </a:lnSpc>
              <a:spcAft>
                <a:spcPts val="800"/>
              </a:spcAft>
            </a:pPr>
            <a:r>
              <a:rPr lang="es-MX" b="1" kern="100" dirty="0">
                <a:solidFill>
                  <a:srgbClr val="444444"/>
                </a:solidFill>
                <a:ea typeface="Calibri" panose="020F0502020204030204" pitchFamily="34" charset="0"/>
                <a:cs typeface="Calibri" panose="020F0502020204030204" pitchFamily="34" charset="0"/>
              </a:rPr>
              <a:t>Trenes y familias de versiones del software IOS de Cisco</a:t>
            </a:r>
          </a:p>
          <a:p>
            <a:pPr>
              <a:lnSpc>
                <a:spcPct val="115000"/>
              </a:lnSpc>
              <a:spcAft>
                <a:spcPts val="800"/>
              </a:spcAft>
            </a:pPr>
            <a:endParaRPr lang="es-MX" b="1"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Para cumplir mejor con los requisitos de los distintos segmentos del mercado, el software está organizado en familias de versiones de software y trenes de software.</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Una familia de versiones del software consta de varias versiones del software IOS que presentan las siguientes características: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Comparten una base de código.</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Se aplican a plataformas de hardware relacionadas.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Se superponen en la cobertura de la compatibilidad (cuando concluye la vida útil de un OS, se introduce y admite otro OS).</a:t>
            </a:r>
          </a:p>
          <a:p>
            <a:pPr marL="1257300" lvl="2" indent="-342900">
              <a:lnSpc>
                <a:spcPct val="115000"/>
              </a:lnSpc>
              <a:spcAft>
                <a:spcPts val="800"/>
              </a:spcAft>
              <a:buSzPts val="1000"/>
              <a:buFont typeface="Symbol" panose="05050102010706020507" pitchFamily="18" charset="2"/>
              <a:buChar char=""/>
              <a:tabLst>
                <a:tab pos="457200" algn="l"/>
              </a:tabLs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Entre los ejemplos de versiones del software IOS de Cisco, dentro de una familia de versiones del software, se encuentran 12.3, 12.4, 15.0 y 15.1.</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endParaRPr lang="es-MX" altLang="es-MX" dirty="0"/>
          </a:p>
        </p:txBody>
      </p:sp>
    </p:spTree>
    <p:extLst>
      <p:ext uri="{BB962C8B-B14F-4D97-AF65-F5344CB8AC3E}">
        <p14:creationId xmlns:p14="http://schemas.microsoft.com/office/powerpoint/2010/main" val="18949000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7118359"/>
          </a:xfrm>
          <a:prstGeom prst="rect">
            <a:avLst/>
          </a:prstGeom>
        </p:spPr>
        <p:txBody>
          <a:bodyPr wrap="square">
            <a:spAutoFit/>
          </a:bodyPr>
          <a:lstStyle/>
          <a:p>
            <a:pPr>
              <a:lnSpc>
                <a:spcPct val="115000"/>
              </a:lnSpc>
              <a:spcAft>
                <a:spcPts val="800"/>
              </a:spcAft>
            </a:pPr>
            <a:r>
              <a:rPr lang="es-MX" b="1" kern="100" dirty="0">
                <a:solidFill>
                  <a:srgbClr val="444444"/>
                </a:solidFill>
                <a:ea typeface="Calibri" panose="020F0502020204030204" pitchFamily="34" charset="0"/>
                <a:cs typeface="Calibri" panose="020F0502020204030204" pitchFamily="34" charset="0"/>
              </a:rPr>
              <a:t>Trenes y familias de versiones del software IOS de Cisco</a:t>
            </a:r>
          </a:p>
          <a:p>
            <a:pPr>
              <a:lnSpc>
                <a:spcPct val="115000"/>
              </a:lnSpc>
              <a:spcAft>
                <a:spcPts val="800"/>
              </a:spcAft>
            </a:pPr>
            <a:endParaRPr lang="es-MX" b="1"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Para cumplir mejor con los requisitos de los distintos segmentos del mercado, el software está organizado en familias de versiones de software y trenes de software.</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Una familia de versiones del software consta de varias versiones del software IOS que presentan las siguientes características: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Comparten una base de código.</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Se aplican a plataformas de hardware relacionadas.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Se superponen en la cobertura de la compatibilidad (cuando concluye la vida útil de un OS, se introduce y admite otro OS).</a:t>
            </a:r>
          </a:p>
          <a:p>
            <a:pPr marL="1257300" lvl="2" indent="-342900">
              <a:lnSpc>
                <a:spcPct val="115000"/>
              </a:lnSpc>
              <a:spcAft>
                <a:spcPts val="800"/>
              </a:spcAft>
              <a:buSzPts val="1000"/>
              <a:buFont typeface="Symbol" panose="05050102010706020507" pitchFamily="18" charset="2"/>
              <a:buChar char=""/>
              <a:tabLst>
                <a:tab pos="457200" algn="l"/>
              </a:tabLs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Dentro de una familia de versiones del software, se encuentran 12.3, 12.4, 15.0 y 15.1.</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Junto con cada versión del software, hay </a:t>
            </a:r>
            <a:r>
              <a:rPr lang="es-MX" b="1" kern="100" dirty="0">
                <a:solidFill>
                  <a:srgbClr val="444444"/>
                </a:solidFill>
                <a:ea typeface="Calibri" panose="020F0502020204030204" pitchFamily="34" charset="0"/>
                <a:cs typeface="Calibri" panose="020F0502020204030204" pitchFamily="34" charset="0"/>
              </a:rPr>
              <a:t>“nuevas versiones” </a:t>
            </a:r>
            <a:r>
              <a:rPr lang="es-MX" kern="100" dirty="0">
                <a:solidFill>
                  <a:srgbClr val="444444"/>
                </a:solidFill>
                <a:ea typeface="Calibri" panose="020F0502020204030204" pitchFamily="34" charset="0"/>
                <a:cs typeface="Calibri" panose="020F0502020204030204" pitchFamily="34" charset="0"/>
              </a:rPr>
              <a:t>del software para implementar correcciones de errores y nuevas características. En IOS, estas versiones se denominan </a:t>
            </a:r>
            <a:r>
              <a:rPr lang="es-MX" b="1" kern="100" dirty="0">
                <a:solidFill>
                  <a:srgbClr val="444444"/>
                </a:solidFill>
                <a:ea typeface="Calibri" panose="020F0502020204030204" pitchFamily="34" charset="0"/>
                <a:cs typeface="Calibri" panose="020F0502020204030204" pitchFamily="34" charset="0"/>
              </a:rPr>
              <a:t>“trenes“.</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endParaRPr lang="es-MX" altLang="es-MX" dirty="0"/>
          </a:p>
        </p:txBody>
      </p:sp>
    </p:spTree>
    <p:extLst>
      <p:ext uri="{BB962C8B-B14F-4D97-AF65-F5344CB8AC3E}">
        <p14:creationId xmlns:p14="http://schemas.microsoft.com/office/powerpoint/2010/main" val="26160672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6173485"/>
          </a:xfrm>
          <a:prstGeom prst="rect">
            <a:avLst/>
          </a:prstGeom>
        </p:spPr>
        <p:txBody>
          <a:bodyPr wrap="square">
            <a:spAutoFit/>
          </a:bodyPr>
          <a:lstStyle/>
          <a:p>
            <a:pPr>
              <a:lnSpc>
                <a:spcPct val="115000"/>
              </a:lnSpc>
              <a:spcAft>
                <a:spcPts val="800"/>
              </a:spcAft>
            </a:pPr>
            <a:r>
              <a:rPr lang="es-MX" b="1" kern="100" dirty="0">
                <a:solidFill>
                  <a:srgbClr val="444444"/>
                </a:solidFill>
                <a:ea typeface="Calibri" panose="020F0502020204030204" pitchFamily="34" charset="0"/>
                <a:cs typeface="Calibri" panose="020F0502020204030204" pitchFamily="34" charset="0"/>
              </a:rPr>
              <a:t>Trenes y familias de versiones del software IOS de Cisco</a:t>
            </a:r>
          </a:p>
          <a:p>
            <a:pPr>
              <a:lnSpc>
                <a:spcPct val="115000"/>
              </a:lnSpc>
              <a:spcAft>
                <a:spcPts val="800"/>
              </a:spcAft>
            </a:pPr>
            <a:endParaRPr lang="es-MX" b="1"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Para cumplir mejor con los requisitos de los distintos segmentos del mercado, el software está organizado en familias de versiones de software y trenes de software.</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Una familia de versiones del software </a:t>
            </a:r>
            <a:r>
              <a:rPr lang="es-MX" b="1" kern="100" dirty="0">
                <a:solidFill>
                  <a:srgbClr val="444444"/>
                </a:solidFill>
                <a:ea typeface="Calibri" panose="020F0502020204030204" pitchFamily="34" charset="0"/>
                <a:cs typeface="Calibri" panose="020F0502020204030204" pitchFamily="34" charset="0"/>
              </a:rPr>
              <a:t>“trenes“.</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sz="1800" kern="100" dirty="0">
                <a:effectLst/>
                <a:latin typeface="Aptos" panose="020B0004020202020204" pitchFamily="34" charset="0"/>
                <a:ea typeface="Aptos" panose="020B0004020202020204" pitchFamily="34" charset="0"/>
                <a:cs typeface="Times New Roman" panose="02020603050405020304" pitchFamily="18" charset="0"/>
              </a:rPr>
              <a:t>Un tren del IOS de Cisco se utiliza para lanzar versiones con una base de código común a un conjunto específico de plataformas y características.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Un tren puede contener varias versiones</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y cada versión es una instantánea de la base de código del tren en el momento del lanzamiento. Debido a que distintas familias de versiones del software pueden aplicarse a diversas plataformas o segmentos del mercado, varios trenes pueden estar vigentes en cualquier momento.</a:t>
            </a:r>
          </a:p>
          <a:p>
            <a:pPr>
              <a:lnSpc>
                <a:spcPct val="115000"/>
              </a:lnSpc>
              <a:spcAft>
                <a:spcPts val="800"/>
              </a:spcAft>
            </a:pPr>
            <a:endParaRPr lang="es-MX" kern="1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s-MX"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endParaRPr lang="es-MX" altLang="es-MX" dirty="0"/>
          </a:p>
        </p:txBody>
      </p:sp>
    </p:spTree>
    <p:extLst>
      <p:ext uri="{BB962C8B-B14F-4D97-AF65-F5344CB8AC3E}">
        <p14:creationId xmlns:p14="http://schemas.microsoft.com/office/powerpoint/2010/main" val="396671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532408" cy="382284"/>
          </a:xfrm>
          <a:prstGeom prst="rect">
            <a:avLst/>
          </a:prstGeom>
        </p:spPr>
        <p:txBody>
          <a:bodyPr wrap="square">
            <a:spAutoFit/>
          </a:bodyPr>
          <a:lstStyle/>
          <a:p>
            <a:pPr>
              <a:lnSpc>
                <a:spcPct val="115000"/>
              </a:lnSpc>
              <a:spcAft>
                <a:spcPts val="800"/>
              </a:spcAft>
            </a:pPr>
            <a:r>
              <a:rPr lang="es-MX" b="1" kern="100" dirty="0">
                <a:solidFill>
                  <a:srgbClr val="444444"/>
                </a:solidFill>
                <a:ea typeface="Calibri" panose="020F0502020204030204" pitchFamily="34" charset="0"/>
                <a:cs typeface="Calibri" panose="020F0502020204030204" pitchFamily="34" charset="0"/>
              </a:rPr>
              <a:t>Trenes T y de línea principal del IOS de Cisco 12.4</a:t>
            </a:r>
            <a:endParaRPr lang="es-MX" altLang="es-MX" dirty="0"/>
          </a:p>
        </p:txBody>
      </p:sp>
      <p:pic>
        <p:nvPicPr>
          <p:cNvPr id="5" name="Imagen 4" descr="Familia versión 12.4 del OS Cisco">
            <a:hlinkClick r:id="rId2"/>
            <a:extLst>
              <a:ext uri="{FF2B5EF4-FFF2-40B4-BE49-F238E27FC236}">
                <a16:creationId xmlns:a16="http://schemas.microsoft.com/office/drawing/2014/main" id="{805CFA10-D3D0-6A75-7485-FFF9FFEA8F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87485" y="867212"/>
            <a:ext cx="8304081" cy="5875641"/>
          </a:xfrm>
          <a:prstGeom prst="rect">
            <a:avLst/>
          </a:prstGeom>
          <a:noFill/>
          <a:ln>
            <a:noFill/>
          </a:ln>
        </p:spPr>
      </p:pic>
      <p:sp>
        <p:nvSpPr>
          <p:cNvPr id="7" name="CuadroTexto 6">
            <a:extLst>
              <a:ext uri="{FF2B5EF4-FFF2-40B4-BE49-F238E27FC236}">
                <a16:creationId xmlns:a16="http://schemas.microsoft.com/office/drawing/2014/main" id="{874AE831-DF78-5996-228C-DDDCC72CF70D}"/>
              </a:ext>
            </a:extLst>
          </p:cNvPr>
          <p:cNvSpPr txBox="1"/>
          <p:nvPr/>
        </p:nvSpPr>
        <p:spPr>
          <a:xfrm>
            <a:off x="500743" y="1465013"/>
            <a:ext cx="1850571" cy="3982565"/>
          </a:xfrm>
          <a:prstGeom prst="rect">
            <a:avLst/>
          </a:prstGeom>
          <a:noFill/>
        </p:spPr>
        <p:txBody>
          <a:bodyPr wrap="square">
            <a:spAutoFit/>
          </a:bodyPr>
          <a:lstStyle/>
          <a:p>
            <a:r>
              <a:rPr lang="es-MX" sz="1800" dirty="0">
                <a:effectLst/>
                <a:latin typeface="Aptos" panose="020B0004020202020204" pitchFamily="34" charset="0"/>
                <a:ea typeface="Aptos" panose="020B0004020202020204" pitchFamily="34" charset="0"/>
                <a:cs typeface="Times New Roman" panose="02020603050405020304" pitchFamily="18" charset="0"/>
              </a:rPr>
              <a:t>En la ilustración, se muestra la migración de la versión del software 12.3 a la 12.4. Dentro de una familia de versiones del software, puede haber uno o dos trenes activos estrechamente relacionados</a:t>
            </a:r>
            <a:endParaRPr lang="es-MX" b="1"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endParaRPr lang="es-MX" b="1" kern="100" dirty="0">
              <a:solidFill>
                <a:srgbClr val="444444"/>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105573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7" y="374947"/>
            <a:ext cx="11618921" cy="8427948"/>
          </a:xfrm>
          <a:prstGeom prst="rect">
            <a:avLst/>
          </a:prstGeom>
        </p:spPr>
        <p:txBody>
          <a:bodyPr wrap="square">
            <a:spAutoFit/>
          </a:bodyPr>
          <a:lstStyle/>
          <a:p>
            <a:pPr>
              <a:lnSpc>
                <a:spcPct val="115000"/>
              </a:lnSpc>
              <a:spcAft>
                <a:spcPts val="800"/>
              </a:spcAft>
            </a:pPr>
            <a:r>
              <a:rPr lang="es-MX" sz="2000" b="1" kern="100" dirty="0">
                <a:solidFill>
                  <a:srgbClr val="444444"/>
                </a:solidFill>
                <a:ea typeface="Calibri" panose="020F0502020204030204" pitchFamily="34" charset="0"/>
                <a:cs typeface="Calibri" panose="020F0502020204030204" pitchFamily="34" charset="0"/>
              </a:rPr>
              <a:t>Trenes y familias de versiones del software IOS de Cisco</a:t>
            </a:r>
          </a:p>
          <a:p>
            <a:pPr>
              <a:lnSpc>
                <a:spcPct val="115000"/>
              </a:lnSpc>
              <a:spcAft>
                <a:spcPts val="800"/>
              </a:spcAft>
            </a:pPr>
            <a:endParaRPr lang="es-MX" b="1"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sz="1800" kern="100" dirty="0">
                <a:effectLst/>
                <a:ea typeface="Aptos" panose="020B0004020202020204" pitchFamily="34" charset="0"/>
                <a:cs typeface="Times New Roman" panose="02020603050405020304" pitchFamily="18" charset="0"/>
              </a:rPr>
              <a:t>El tren de línea principal recibe mayormente correcciones de software (errores). Las versiones del tren de línea principal también se denominan “</a:t>
            </a:r>
            <a:r>
              <a:rPr lang="es-MX" sz="1800" b="1" kern="100" dirty="0">
                <a:effectLst/>
                <a:ea typeface="Aptos" panose="020B0004020202020204" pitchFamily="34" charset="0"/>
                <a:cs typeface="Times New Roman" panose="02020603050405020304" pitchFamily="18" charset="0"/>
              </a:rPr>
              <a:t>versiones de Implementación de mantenimiento (MD)</a:t>
            </a:r>
            <a:r>
              <a:rPr lang="es-MX" sz="1800" kern="100" dirty="0">
                <a:effectLst/>
                <a:ea typeface="Aptos" panose="020B0004020202020204" pitchFamily="34" charset="0"/>
                <a:cs typeface="Times New Roman" panose="02020603050405020304" pitchFamily="18" charset="0"/>
              </a:rPr>
              <a:t>“.</a:t>
            </a:r>
          </a:p>
          <a:p>
            <a:pPr>
              <a:lnSpc>
                <a:spcPct val="115000"/>
              </a:lnSpc>
              <a:spcAft>
                <a:spcPts val="800"/>
              </a:spcAft>
            </a:pPr>
            <a:r>
              <a:rPr lang="es-MX" sz="1800" kern="100" dirty="0">
                <a:effectLst/>
                <a:ea typeface="Aptos" panose="020B0004020202020204" pitchFamily="34" charset="0"/>
                <a:cs typeface="Times New Roman" panose="02020603050405020304" pitchFamily="18" charset="0"/>
              </a:rPr>
              <a:t>Un tren de línea principal siempre está asociado a un tren de tecnología (tren T). </a:t>
            </a:r>
          </a:p>
          <a:p>
            <a:pPr>
              <a:lnSpc>
                <a:spcPct val="115000"/>
              </a:lnSpc>
              <a:spcAft>
                <a:spcPts val="800"/>
              </a:spcAft>
            </a:pPr>
            <a:r>
              <a:rPr lang="es-MX" sz="1800" kern="100" dirty="0">
                <a:effectLst/>
                <a:ea typeface="Aptos" panose="020B0004020202020204" pitchFamily="34" charset="0"/>
                <a:cs typeface="Times New Roman" panose="02020603050405020304" pitchFamily="18" charset="0"/>
              </a:rPr>
              <a:t>Un tren T, recibe las mismas correcciones de errores de software que el tren de línea principal. El tren T también recibe </a:t>
            </a:r>
            <a:r>
              <a:rPr lang="es-MX" sz="1800" kern="100" dirty="0">
                <a:solidFill>
                  <a:srgbClr val="C00000"/>
                </a:solidFill>
                <a:effectLst/>
                <a:ea typeface="Aptos" panose="020B0004020202020204" pitchFamily="34" charset="0"/>
                <a:cs typeface="Times New Roman" panose="02020603050405020304" pitchFamily="18" charset="0"/>
              </a:rPr>
              <a:t>nuevas características de compatibilidad de hardware y software</a:t>
            </a:r>
            <a:r>
              <a:rPr lang="es-MX" sz="1800" kern="100" dirty="0">
                <a:effectLst/>
                <a:ea typeface="Aptos" panose="020B0004020202020204" pitchFamily="34" charset="0"/>
                <a:cs typeface="Times New Roman" panose="02020603050405020304" pitchFamily="18" charset="0"/>
              </a:rPr>
              <a:t>. Las versiones en el tren 12.4T del IOS de Cisco se consideran versiones de </a:t>
            </a:r>
            <a:r>
              <a:rPr lang="es-MX" sz="1800" b="1" kern="100" dirty="0">
                <a:effectLst/>
                <a:ea typeface="Aptos" panose="020B0004020202020204" pitchFamily="34" charset="0"/>
                <a:cs typeface="Times New Roman" panose="02020603050405020304" pitchFamily="18" charset="0"/>
              </a:rPr>
              <a:t>Implementación temprana (ED)</a:t>
            </a:r>
          </a:p>
          <a:p>
            <a:pPr>
              <a:lnSpc>
                <a:spcPct val="115000"/>
              </a:lnSpc>
              <a:spcAft>
                <a:spcPts val="800"/>
              </a:spcAft>
            </a:pPr>
            <a:r>
              <a:rPr lang="es-MX" sz="1800" kern="100" dirty="0">
                <a:effectLst/>
                <a:ea typeface="Aptos" panose="020B0004020202020204" pitchFamily="34" charset="0"/>
                <a:cs typeface="Times New Roman" panose="02020603050405020304" pitchFamily="18" charset="0"/>
              </a:rPr>
              <a:t>Puede haber otros trenes, según la familia de la versión del software. Por ejemplo, el </a:t>
            </a:r>
            <a:r>
              <a:rPr lang="es-MX" sz="1800" b="1" kern="100" dirty="0">
                <a:effectLst/>
                <a:ea typeface="Aptos" panose="020B0004020202020204" pitchFamily="34" charset="0"/>
                <a:cs typeface="Times New Roman" panose="02020603050405020304" pitchFamily="18" charset="0"/>
              </a:rPr>
              <a:t>tren de proveedor de servicios (tren S)</a:t>
            </a:r>
            <a:r>
              <a:rPr lang="es-MX" b="1" kern="100" dirty="0">
                <a:ea typeface="Aptos" panose="020B0004020202020204" pitchFamily="34" charset="0"/>
                <a:cs typeface="Times New Roman" panose="02020603050405020304" pitchFamily="18" charset="0"/>
              </a:rPr>
              <a:t> </a:t>
            </a:r>
            <a:r>
              <a:rPr lang="es-MX" kern="100" dirty="0">
                <a:ea typeface="Aptos" panose="020B0004020202020204" pitchFamily="34" charset="0"/>
                <a:cs typeface="Times New Roman" panose="02020603050405020304" pitchFamily="18" charset="0"/>
              </a:rPr>
              <a:t>con </a:t>
            </a:r>
            <a:r>
              <a:rPr lang="es-MX" sz="1800" kern="100" dirty="0">
                <a:effectLst/>
                <a:ea typeface="Aptos" panose="020B0004020202020204" pitchFamily="34" charset="0"/>
                <a:cs typeface="Times New Roman" panose="02020603050405020304" pitchFamily="18" charset="0"/>
              </a:rPr>
              <a:t>características específicas diseñadas para cumplir con requisitos de los SP.</a:t>
            </a:r>
          </a:p>
          <a:p>
            <a:pPr>
              <a:lnSpc>
                <a:spcPct val="115000"/>
              </a:lnSpc>
              <a:spcAft>
                <a:spcPts val="800"/>
              </a:spcAft>
            </a:pPr>
            <a:r>
              <a:rPr lang="es-MX" sz="1800" kern="100" dirty="0">
                <a:effectLst/>
                <a:ea typeface="Aptos" panose="020B0004020202020204" pitchFamily="34" charset="0"/>
                <a:cs typeface="Times New Roman" panose="02020603050405020304" pitchFamily="18" charset="0"/>
              </a:rPr>
              <a:t>Todos los trenes secundarios del tren de línea principal (T, S, etc.) suelen tener una letra mayúscula que designa el tipo de tren.</a:t>
            </a:r>
          </a:p>
          <a:p>
            <a:pPr>
              <a:lnSpc>
                <a:spcPct val="115000"/>
              </a:lnSpc>
              <a:spcAft>
                <a:spcPts val="800"/>
              </a:spcAft>
            </a:pPr>
            <a:endParaRPr lang="es-MX"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s-MX" kern="100" dirty="0">
                <a:cs typeface="Times New Roman" panose="02020603050405020304" pitchFamily="18" charset="0"/>
              </a:rPr>
              <a:t>En otras palabras, </a:t>
            </a:r>
            <a:r>
              <a:rPr lang="es-MX" b="1" kern="100" dirty="0">
                <a:cs typeface="Times New Roman" panose="02020603050405020304" pitchFamily="18" charset="0"/>
              </a:rPr>
              <a:t>desde el tren de línea principal, un tren T se ramificaba </a:t>
            </a:r>
            <a:r>
              <a:rPr lang="es-MX" kern="100" dirty="0">
                <a:cs typeface="Times New Roman" panose="02020603050405020304" pitchFamily="18" charset="0"/>
              </a:rPr>
              <a:t>y se convertía en una base de código independiente que recibía nuevas características y compatibilidad de hardware. </a:t>
            </a:r>
            <a:r>
              <a:rPr lang="es-MX" b="1" kern="100" dirty="0">
                <a:cs typeface="Times New Roman" panose="02020603050405020304" pitchFamily="18" charset="0"/>
              </a:rPr>
              <a:t>Con el tiempo, un nuevo tren de línea principal evolucionaba de un tren T establecido</a:t>
            </a:r>
            <a:r>
              <a:rPr lang="es-MX" kern="100" dirty="0">
                <a:cs typeface="Times New Roman" panose="02020603050405020304" pitchFamily="18" charset="0"/>
              </a:rPr>
              <a:t>, y el ciclo comenzaba nuevamente.</a:t>
            </a:r>
          </a:p>
          <a:p>
            <a:pPr>
              <a:lnSpc>
                <a:spcPct val="115000"/>
              </a:lnSpc>
              <a:spcAft>
                <a:spcPts val="800"/>
              </a:spcAft>
            </a:pPr>
            <a:endParaRPr lang="es-MX" kern="100" dirty="0">
              <a:ea typeface="Aptos" panose="020B0004020202020204" pitchFamily="34" charset="0"/>
              <a:cs typeface="Times New Roman" panose="02020603050405020304" pitchFamily="18" charset="0"/>
            </a:endParaRPr>
          </a:p>
          <a:p>
            <a:pPr>
              <a:lnSpc>
                <a:spcPct val="115000"/>
              </a:lnSpc>
              <a:spcAft>
                <a:spcPts val="800"/>
              </a:spcAft>
            </a:pPr>
            <a:endParaRPr lang="es-MX"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endParaRPr lang="es-MX" altLang="es-MX" dirty="0"/>
          </a:p>
        </p:txBody>
      </p:sp>
    </p:spTree>
    <p:extLst>
      <p:ext uri="{BB962C8B-B14F-4D97-AF65-F5344CB8AC3E}">
        <p14:creationId xmlns:p14="http://schemas.microsoft.com/office/powerpoint/2010/main" val="3979919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7" y="374947"/>
            <a:ext cx="3350935" cy="1121589"/>
          </a:xfrm>
          <a:prstGeom prst="rect">
            <a:avLst/>
          </a:prstGeom>
        </p:spPr>
        <p:txBody>
          <a:bodyPr wrap="square">
            <a:spAutoFit/>
          </a:bodyPr>
          <a:lstStyle/>
          <a:p>
            <a:pPr>
              <a:lnSpc>
                <a:spcPct val="115000"/>
              </a:lnSpc>
              <a:spcAft>
                <a:spcPts val="800"/>
              </a:spcAft>
            </a:pPr>
            <a:r>
              <a:rPr lang="es-MX" sz="2000" b="1" kern="100" dirty="0">
                <a:effectLst/>
                <a:ea typeface="Aptos" panose="020B0004020202020204" pitchFamily="34" charset="0"/>
                <a:cs typeface="Times New Roman" panose="02020603050405020304" pitchFamily="18" charset="0"/>
              </a:rPr>
              <a:t>Numeración de trenes T y de línea principal del IOS de Cisco 12.4</a:t>
            </a:r>
          </a:p>
        </p:txBody>
      </p:sp>
      <p:pic>
        <p:nvPicPr>
          <p:cNvPr id="3" name="Imagen 2" descr="Numeración de trenes T y de línea principal del IOS de Cisco 12.4">
            <a:hlinkClick r:id="rId2"/>
            <a:extLst>
              <a:ext uri="{FF2B5EF4-FFF2-40B4-BE49-F238E27FC236}">
                <a16:creationId xmlns:a16="http://schemas.microsoft.com/office/drawing/2014/main" id="{B61C7124-3F42-106E-2E56-BEDEE5772EA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46477" y="17958"/>
            <a:ext cx="7249167" cy="6840042"/>
          </a:xfrm>
          <a:prstGeom prst="rect">
            <a:avLst/>
          </a:prstGeom>
          <a:noFill/>
          <a:ln>
            <a:noFill/>
          </a:ln>
        </p:spPr>
      </p:pic>
      <p:sp>
        <p:nvSpPr>
          <p:cNvPr id="4" name="CuadroTexto 3">
            <a:extLst>
              <a:ext uri="{FF2B5EF4-FFF2-40B4-BE49-F238E27FC236}">
                <a16:creationId xmlns:a16="http://schemas.microsoft.com/office/drawing/2014/main" id="{ED435EF7-4D3A-C39D-E14B-FB67E34DD522}"/>
              </a:ext>
            </a:extLst>
          </p:cNvPr>
          <p:cNvSpPr txBox="1"/>
          <p:nvPr/>
        </p:nvSpPr>
        <p:spPr>
          <a:xfrm>
            <a:off x="11156076" y="128336"/>
            <a:ext cx="407484" cy="400110"/>
          </a:xfrm>
          <a:prstGeom prst="rect">
            <a:avLst/>
          </a:prstGeom>
          <a:noFill/>
        </p:spPr>
        <p:txBody>
          <a:bodyPr wrap="none" rtlCol="0">
            <a:spAutoFit/>
          </a:bodyPr>
          <a:lstStyle/>
          <a:p>
            <a:r>
              <a:rPr lang="es-MX" sz="2000" dirty="0">
                <a:latin typeface="Bahnschrift" panose="020B0502040204020203" pitchFamily="34" charset="0"/>
              </a:rPr>
              <a:t>a)</a:t>
            </a:r>
          </a:p>
        </p:txBody>
      </p:sp>
      <p:sp>
        <p:nvSpPr>
          <p:cNvPr id="5" name="Rectángulo 4">
            <a:extLst>
              <a:ext uri="{FF2B5EF4-FFF2-40B4-BE49-F238E27FC236}">
                <a16:creationId xmlns:a16="http://schemas.microsoft.com/office/drawing/2014/main" id="{3BA56516-4919-B982-6F2C-5C922FDE456A}"/>
              </a:ext>
            </a:extLst>
          </p:cNvPr>
          <p:cNvSpPr/>
          <p:nvPr/>
        </p:nvSpPr>
        <p:spPr>
          <a:xfrm>
            <a:off x="9870435" y="481491"/>
            <a:ext cx="657727" cy="4001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0348545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7824" y="348013"/>
            <a:ext cx="3300663" cy="6509987"/>
          </a:xfrm>
          <a:prstGeom prst="rect">
            <a:avLst/>
          </a:prstGeom>
        </p:spPr>
        <p:txBody>
          <a:bodyPr wrap="square">
            <a:spAutoFit/>
          </a:bodyPr>
          <a:lstStyle/>
          <a:p>
            <a:pPr>
              <a:lnSpc>
                <a:spcPct val="115000"/>
              </a:lnSpc>
              <a:spcAft>
                <a:spcPts val="800"/>
              </a:spcAft>
            </a:pPr>
            <a:r>
              <a:rPr lang="es-MX" sz="2000" b="1" kern="100" dirty="0">
                <a:effectLst/>
                <a:ea typeface="Aptos" panose="020B0004020202020204" pitchFamily="34" charset="0"/>
                <a:cs typeface="Times New Roman" panose="02020603050405020304" pitchFamily="18" charset="0"/>
              </a:rPr>
              <a:t>Paquetes de imagen de sistema del IOS de Cisco 12.4</a:t>
            </a:r>
          </a:p>
          <a:p>
            <a:pPr>
              <a:lnSpc>
                <a:spcPct val="115000"/>
              </a:lnSpc>
              <a:spcAft>
                <a:spcPts val="800"/>
              </a:spcAft>
            </a:pPr>
            <a:endParaRPr lang="es-MX" sz="1800" b="1" kern="100" dirty="0">
              <a:effectLst/>
              <a:ea typeface="Aptos" panose="020B0004020202020204" pitchFamily="34" charset="0"/>
              <a:cs typeface="Times New Roman" panose="02020603050405020304" pitchFamily="18" charset="0"/>
            </a:endParaRPr>
          </a:p>
          <a:p>
            <a:r>
              <a:rPr lang="es-MX" sz="1800" dirty="0">
                <a:effectLst/>
                <a:ea typeface="Aptos" panose="020B0004020202020204" pitchFamily="34" charset="0"/>
                <a:cs typeface="Times New Roman" panose="02020603050405020304" pitchFamily="18" charset="0"/>
              </a:rPr>
              <a:t>Antes de la versión 15.0 del software IOS de Cisco, dicho software contaba con ocho paquetes para los </a:t>
            </a:r>
            <a:r>
              <a:rPr lang="es-MX" sz="1800" dirty="0" err="1">
                <a:effectLst/>
                <a:ea typeface="Aptos" panose="020B0004020202020204" pitchFamily="34" charset="0"/>
                <a:cs typeface="Times New Roman" panose="02020603050405020304" pitchFamily="18" charset="0"/>
              </a:rPr>
              <a:t>routers</a:t>
            </a:r>
            <a:r>
              <a:rPr lang="es-MX" sz="1800" dirty="0">
                <a:effectLst/>
                <a:ea typeface="Aptos" panose="020B0004020202020204" pitchFamily="34" charset="0"/>
                <a:cs typeface="Times New Roman" panose="02020603050405020304" pitchFamily="18" charset="0"/>
              </a:rPr>
              <a:t> Cisco</a:t>
            </a:r>
          </a:p>
          <a:p>
            <a:endParaRPr lang="es-MX" b="1" kern="100" dirty="0">
              <a:ea typeface="Aptos" panose="020B0004020202020204" pitchFamily="34" charset="0"/>
              <a:cs typeface="Times New Roman" panose="02020603050405020304" pitchFamily="18" charset="0"/>
            </a:endParaRPr>
          </a:p>
          <a:p>
            <a:r>
              <a:rPr lang="es-MX" sz="2000" b="1" kern="100" dirty="0">
                <a:effectLst/>
                <a:ea typeface="Aptos" panose="020B0004020202020204" pitchFamily="34" charset="0"/>
                <a:cs typeface="Times New Roman" panose="02020603050405020304" pitchFamily="18" charset="0"/>
              </a:rPr>
              <a:t>5 No superiores </a:t>
            </a:r>
          </a:p>
          <a:p>
            <a:r>
              <a:rPr lang="es-MX" sz="2000" b="1" kern="100" dirty="0">
                <a:ea typeface="Aptos" panose="020B0004020202020204" pitchFamily="34" charset="0"/>
                <a:cs typeface="Times New Roman" panose="02020603050405020304" pitchFamily="18" charset="0"/>
              </a:rPr>
              <a:t>3 Superiores</a:t>
            </a:r>
          </a:p>
          <a:p>
            <a:endParaRPr lang="es-MX" sz="2000" b="1" kern="100" dirty="0">
              <a:effectLst/>
              <a:ea typeface="Aptos" panose="020B0004020202020204" pitchFamily="34" charset="0"/>
              <a:cs typeface="Times New Roman" panose="02020603050405020304" pitchFamily="18" charset="0"/>
            </a:endParaRPr>
          </a:p>
          <a:p>
            <a:r>
              <a:rPr lang="es-MX" sz="1800" b="1" kern="100" dirty="0">
                <a:effectLst/>
                <a:latin typeface="Aptos" panose="020B0004020202020204" pitchFamily="34" charset="0"/>
                <a:ea typeface="Aptos" panose="020B0004020202020204" pitchFamily="34" charset="0"/>
                <a:cs typeface="Times New Roman" panose="02020603050405020304" pitchFamily="18" charset="0"/>
              </a:rPr>
              <a:t>Nota</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Cisco </a:t>
            </a:r>
            <a:r>
              <a:rPr lang="es-MX" sz="1800" kern="100" dirty="0" err="1">
                <a:effectLst/>
                <a:latin typeface="Aptos" panose="020B0004020202020204" pitchFamily="34" charset="0"/>
                <a:ea typeface="Aptos" panose="020B0004020202020204" pitchFamily="34" charset="0"/>
                <a:cs typeface="Times New Roman" panose="02020603050405020304" pitchFamily="18" charset="0"/>
              </a:rPr>
              <a:t>Feature</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a:t>
            </a:r>
            <a:r>
              <a:rPr lang="es-MX" sz="1800" kern="100" dirty="0" err="1">
                <a:effectLst/>
                <a:latin typeface="Aptos" panose="020B0004020202020204" pitchFamily="34" charset="0"/>
                <a:ea typeface="Aptos" panose="020B0004020202020204" pitchFamily="34" charset="0"/>
                <a:cs typeface="Times New Roman" panose="02020603050405020304" pitchFamily="18" charset="0"/>
              </a:rPr>
              <a:t>Navigator</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es una herramienta que se utiliza para encontrar el sistema operativo Cisco adecuado según las características y las tecnologías que se necesiten.</a:t>
            </a:r>
          </a:p>
          <a:p>
            <a:endParaRPr lang="es-MX" sz="2000" b="1" kern="100" dirty="0">
              <a:effectLst/>
              <a:ea typeface="Aptos" panose="020B0004020202020204" pitchFamily="34" charset="0"/>
              <a:cs typeface="Times New Roman" panose="02020603050405020304" pitchFamily="18" charset="0"/>
            </a:endParaRPr>
          </a:p>
        </p:txBody>
      </p:sp>
      <p:pic>
        <p:nvPicPr>
          <p:cNvPr id="6" name="Imagen 5" descr="Paquetes de imagen de sistema de Cisco">
            <a:hlinkClick r:id="rId2"/>
            <a:extLst>
              <a:ext uri="{FF2B5EF4-FFF2-40B4-BE49-F238E27FC236}">
                <a16:creationId xmlns:a16="http://schemas.microsoft.com/office/drawing/2014/main" id="{B66EB35D-6E11-B9B5-A2B4-C74635A2CBD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28414" y="146318"/>
            <a:ext cx="8485762" cy="6569233"/>
          </a:xfrm>
          <a:prstGeom prst="rect">
            <a:avLst/>
          </a:prstGeom>
          <a:noFill/>
          <a:ln>
            <a:noFill/>
          </a:ln>
        </p:spPr>
      </p:pic>
    </p:spTree>
    <p:extLst>
      <p:ext uri="{BB962C8B-B14F-4D97-AF65-F5344CB8AC3E}">
        <p14:creationId xmlns:p14="http://schemas.microsoft.com/office/powerpoint/2010/main" val="18411138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6095515"/>
          </a:xfrm>
          <a:prstGeom prst="rect">
            <a:avLst/>
          </a:prstGeom>
        </p:spPr>
        <p:txBody>
          <a:bodyPr wrap="square">
            <a:spAutoFit/>
          </a:bodyPr>
          <a:lstStyle/>
          <a:p>
            <a:pPr>
              <a:lnSpc>
                <a:spcPct val="115000"/>
              </a:lnSpc>
              <a:spcAft>
                <a:spcPts val="800"/>
              </a:spcAft>
            </a:pPr>
            <a:r>
              <a:rPr lang="es-MX" sz="2000" b="1" kern="100" dirty="0">
                <a:solidFill>
                  <a:srgbClr val="444444"/>
                </a:solidFill>
                <a:ea typeface="Calibri" panose="020F0502020204030204" pitchFamily="34" charset="0"/>
                <a:cs typeface="Calibri" panose="020F0502020204030204" pitchFamily="34" charset="0"/>
              </a:rPr>
              <a:t>Trenes M y T del IOS de Cisco 15.0</a:t>
            </a:r>
          </a:p>
          <a:p>
            <a:pPr>
              <a:lnSpc>
                <a:spcPct val="115000"/>
              </a:lnSpc>
              <a:spcAft>
                <a:spcPts val="800"/>
              </a:spcAft>
            </a:pPr>
            <a:endParaRPr lang="es-MX"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s-MX" sz="1800" kern="100" dirty="0">
                <a:effectLst/>
                <a:ea typeface="Aptos" panose="020B0004020202020204" pitchFamily="34" charset="0"/>
                <a:cs typeface="Times New Roman" panose="02020603050405020304" pitchFamily="18" charset="0"/>
              </a:rPr>
              <a:t>Después de la versión 12.4(24)T del IOS, la siguiente versión del  IOS fue 15.0. que proporciona varias mejoras al sistema operativo, por ejemplo:</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effectLst/>
                <a:ea typeface="Aptos" panose="020B0004020202020204" pitchFamily="34" charset="0"/>
                <a:cs typeface="Times New Roman" panose="02020603050405020304" pitchFamily="18" charset="0"/>
              </a:rPr>
              <a:t>Nueva compatibilidad de hardware y de características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effectLst/>
                <a:ea typeface="Aptos" panose="020B0004020202020204" pitchFamily="34" charset="0"/>
                <a:cs typeface="Times New Roman" panose="02020603050405020304" pitchFamily="18" charset="0"/>
              </a:rPr>
              <a:t>Mayor coherencia de características con otras versiones principales del IOS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effectLst/>
                <a:ea typeface="Aptos" panose="020B0004020202020204" pitchFamily="34" charset="0"/>
                <a:cs typeface="Times New Roman" panose="02020603050405020304" pitchFamily="18" charset="0"/>
              </a:rPr>
              <a:t>Versión de nuevas características y programas de recopilación más predecibles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effectLst/>
                <a:ea typeface="Aptos" panose="020B0004020202020204" pitchFamily="34" charset="0"/>
                <a:cs typeface="Times New Roman" panose="02020603050405020304" pitchFamily="18" charset="0"/>
              </a:rPr>
              <a:t>Políticas de compatibilidad de versiones individuales proactivas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effectLst/>
                <a:ea typeface="Aptos" panose="020B0004020202020204" pitchFamily="34" charset="0"/>
                <a:cs typeface="Times New Roman" panose="02020603050405020304" pitchFamily="18" charset="0"/>
              </a:rPr>
              <a:t>Numeración de versión simplificada</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effectLst/>
                <a:ea typeface="Aptos" panose="020B0004020202020204" pitchFamily="34" charset="0"/>
                <a:cs typeface="Times New Roman" panose="02020603050405020304" pitchFamily="18" charset="0"/>
              </a:rPr>
              <a:t>Pautas de migración e implementación de software más claras</a:t>
            </a:r>
          </a:p>
          <a:p>
            <a:pPr>
              <a:lnSpc>
                <a:spcPct val="115000"/>
              </a:lnSpc>
              <a:spcAft>
                <a:spcPts val="800"/>
              </a:spcAft>
            </a:pPr>
            <a:endParaRPr lang="es-MX"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s-MX" sz="1800" kern="100" dirty="0">
                <a:effectLst/>
                <a:ea typeface="Aptos" panose="020B0004020202020204" pitchFamily="34" charset="0"/>
                <a:cs typeface="Times New Roman" panose="02020603050405020304" pitchFamily="18" charset="0"/>
              </a:rPr>
              <a:t>Como se muestra en la ilustración, el IOS de Cisco 15.0 utiliza un modelo de versión distinto de los trenes T y de línea principal independientes de 12.4 tradicionales.</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endParaRPr lang="es-MX" altLang="es-MX" dirty="0"/>
          </a:p>
        </p:txBody>
      </p:sp>
    </p:spTree>
    <p:extLst>
      <p:ext uri="{BB962C8B-B14F-4D97-AF65-F5344CB8AC3E}">
        <p14:creationId xmlns:p14="http://schemas.microsoft.com/office/powerpoint/2010/main" val="1748187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413703"/>
          </a:xfrm>
          <a:prstGeom prst="rect">
            <a:avLst/>
          </a:prstGeom>
        </p:spPr>
        <p:txBody>
          <a:bodyPr wrap="square">
            <a:spAutoFit/>
          </a:bodyPr>
          <a:lstStyle/>
          <a:p>
            <a:pPr>
              <a:lnSpc>
                <a:spcPct val="115000"/>
              </a:lnSpc>
              <a:spcAft>
                <a:spcPts val="800"/>
              </a:spcAft>
            </a:pPr>
            <a:r>
              <a:rPr lang="es-MX" sz="2000" b="1" kern="100" dirty="0">
                <a:solidFill>
                  <a:srgbClr val="444444"/>
                </a:solidFill>
                <a:ea typeface="Calibri" panose="020F0502020204030204" pitchFamily="34" charset="0"/>
                <a:cs typeface="Calibri" panose="020F0502020204030204" pitchFamily="34" charset="0"/>
              </a:rPr>
              <a:t>Trenes M y T del IOS de Cisco 15.0</a:t>
            </a:r>
          </a:p>
        </p:txBody>
      </p:sp>
      <p:pic>
        <p:nvPicPr>
          <p:cNvPr id="3" name="Imagen 2" descr="Familia versión 15 del software IOS de Cisco">
            <a:hlinkClick r:id="rId2"/>
            <a:extLst>
              <a:ext uri="{FF2B5EF4-FFF2-40B4-BE49-F238E27FC236}">
                <a16:creationId xmlns:a16="http://schemas.microsoft.com/office/drawing/2014/main" id="{2CEA3E99-D577-B274-4E1F-10CA906CD32F}"/>
              </a:ext>
            </a:extLst>
          </p:cNvPr>
          <p:cNvPicPr>
            <a:picLocks noChangeAspect="1"/>
          </p:cNvPicPr>
          <p:nvPr/>
        </p:nvPicPr>
        <p:blipFill rotWithShape="1">
          <a:blip r:embed="rId3">
            <a:extLst>
              <a:ext uri="{28A0092B-C50C-407E-A947-70E740481C1C}">
                <a14:useLocalDpi xmlns:a14="http://schemas.microsoft.com/office/drawing/2010/main" val="0"/>
              </a:ext>
            </a:extLst>
          </a:blip>
          <a:srcRect t="11402"/>
          <a:stretch/>
        </p:blipFill>
        <p:spPr bwMode="auto">
          <a:xfrm>
            <a:off x="3098432" y="956801"/>
            <a:ext cx="7123543" cy="2732727"/>
          </a:xfrm>
          <a:prstGeom prst="rect">
            <a:avLst/>
          </a:prstGeom>
          <a:noFill/>
          <a:ln>
            <a:noFill/>
          </a:ln>
        </p:spPr>
      </p:pic>
      <p:sp>
        <p:nvSpPr>
          <p:cNvPr id="5" name="CuadroTexto 4">
            <a:extLst>
              <a:ext uri="{FF2B5EF4-FFF2-40B4-BE49-F238E27FC236}">
                <a16:creationId xmlns:a16="http://schemas.microsoft.com/office/drawing/2014/main" id="{FC56FBF6-2195-979B-F391-E96B74049073}"/>
              </a:ext>
            </a:extLst>
          </p:cNvPr>
          <p:cNvSpPr txBox="1"/>
          <p:nvPr/>
        </p:nvSpPr>
        <p:spPr>
          <a:xfrm>
            <a:off x="322708" y="3857680"/>
            <a:ext cx="11390320" cy="2830198"/>
          </a:xfrm>
          <a:prstGeom prst="rect">
            <a:avLst/>
          </a:prstGeom>
          <a:noFill/>
        </p:spPr>
        <p:txBody>
          <a:bodyPr wrap="square">
            <a:spAutoFit/>
          </a:bodyPr>
          <a:lstStyle/>
          <a:p>
            <a:pPr>
              <a:lnSpc>
                <a:spcPct val="115000"/>
              </a:lnSpc>
              <a:spcAft>
                <a:spcPts val="800"/>
              </a:spcAft>
            </a:pPr>
            <a:r>
              <a:rPr lang="es-MX" sz="1800" kern="100" dirty="0">
                <a:effectLst/>
                <a:latin typeface="Aptos" panose="020B0004020202020204" pitchFamily="34" charset="0"/>
                <a:ea typeface="Aptos" panose="020B0004020202020204" pitchFamily="34" charset="0"/>
                <a:cs typeface="Times New Roman" panose="02020603050405020304" pitchFamily="18" charset="0"/>
              </a:rPr>
              <a:t>En lugar de dividirse en trenes independientes, los trenes T y de línea principal del software IOS 15 tendrán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versión de mantenimiento extendido (versión de EM) y versión de mantenimiento estándar (versión T)</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Con el nuevo modelo de versión del IOS, las versiones de línea principal del IOS de Cisco 15 se denominan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trenes M</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s-MX" b="1" kern="100" dirty="0">
                <a:latin typeface="Aptos" panose="020B0004020202020204" pitchFamily="34" charset="0"/>
                <a:ea typeface="Aptos" panose="020B0004020202020204" pitchFamily="34" charset="0"/>
                <a:cs typeface="Times New Roman" panose="02020603050405020304" pitchFamily="18" charset="0"/>
              </a:rPr>
              <a:t>N</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uevas versiones de un tren T </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se encuentran disponibles de dos a tres veces por año, aprox</a:t>
            </a:r>
            <a:r>
              <a:rPr lang="es-MX" kern="100" dirty="0">
                <a:latin typeface="Aptos" panose="020B0004020202020204" pitchFamily="34" charset="0"/>
                <a:ea typeface="Aptos" panose="020B0004020202020204" pitchFamily="34" charset="0"/>
                <a:cs typeface="Times New Roman" panose="02020603050405020304" pitchFamily="18" charset="0"/>
              </a:rPr>
              <a:t>., y permiten recibir la característica de Cisco más rápidamente. </a:t>
            </a:r>
            <a:endParaRPr lang="es-MX"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Las versiones de EM están disponibles aproximadamente cada 16 a 20 meses</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incorpora la compatibilidad de características y de hardware de todas las versiones T anteriores. Esto hace que las últimas versiones de EM contengan la funcionalidad total del tren en el momento del lanzamiento.</a:t>
            </a:r>
          </a:p>
        </p:txBody>
      </p:sp>
    </p:spTree>
    <p:extLst>
      <p:ext uri="{BB962C8B-B14F-4D97-AF65-F5344CB8AC3E}">
        <p14:creationId xmlns:p14="http://schemas.microsoft.com/office/powerpoint/2010/main" val="7695584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7" y="374947"/>
            <a:ext cx="4609216" cy="767646"/>
          </a:xfrm>
          <a:prstGeom prst="rect">
            <a:avLst/>
          </a:prstGeom>
        </p:spPr>
        <p:txBody>
          <a:bodyPr wrap="square">
            <a:spAutoFit/>
          </a:bodyPr>
          <a:lstStyle/>
          <a:p>
            <a:pPr>
              <a:lnSpc>
                <a:spcPct val="115000"/>
              </a:lnSpc>
              <a:spcAft>
                <a:spcPts val="800"/>
              </a:spcAft>
            </a:pPr>
            <a:r>
              <a:rPr lang="es-MX" sz="2000" b="1" kern="100" dirty="0">
                <a:effectLst/>
                <a:ea typeface="Aptos" panose="020B0004020202020204" pitchFamily="34" charset="0"/>
                <a:cs typeface="Times New Roman" panose="02020603050405020304" pitchFamily="18" charset="0"/>
              </a:rPr>
              <a:t>Numeración de trenes T y de línea principal del IOS de Cisco 15</a:t>
            </a:r>
          </a:p>
        </p:txBody>
      </p:sp>
      <p:pic>
        <p:nvPicPr>
          <p:cNvPr id="6" name="Imagen 5" descr="Numeración de trenes IOS de Cisco 15">
            <a:hlinkClick r:id="rId2"/>
            <a:extLst>
              <a:ext uri="{FF2B5EF4-FFF2-40B4-BE49-F238E27FC236}">
                <a16:creationId xmlns:a16="http://schemas.microsoft.com/office/drawing/2014/main" id="{CB3E130C-DA23-02C2-1438-B33EBC8DE9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55950" y="539235"/>
            <a:ext cx="6839064" cy="6221489"/>
          </a:xfrm>
          <a:prstGeom prst="rect">
            <a:avLst/>
          </a:prstGeom>
          <a:noFill/>
          <a:ln>
            <a:noFill/>
          </a:ln>
        </p:spPr>
      </p:pic>
      <p:sp>
        <p:nvSpPr>
          <p:cNvPr id="8" name="CuadroTexto 7">
            <a:extLst>
              <a:ext uri="{FF2B5EF4-FFF2-40B4-BE49-F238E27FC236}">
                <a16:creationId xmlns:a16="http://schemas.microsoft.com/office/drawing/2014/main" id="{C459598B-87C1-6BBA-CE67-139C49D368A1}"/>
              </a:ext>
            </a:extLst>
          </p:cNvPr>
          <p:cNvSpPr txBox="1"/>
          <p:nvPr/>
        </p:nvSpPr>
        <p:spPr>
          <a:xfrm>
            <a:off x="158074" y="1410510"/>
            <a:ext cx="4773849" cy="5162632"/>
          </a:xfrm>
          <a:prstGeom prst="rect">
            <a:avLst/>
          </a:prstGeom>
          <a:noFill/>
        </p:spPr>
        <p:txBody>
          <a:bodyPr wrap="square">
            <a:spAutoFit/>
          </a:bodyPr>
          <a:lstStyle/>
          <a:p>
            <a:pPr>
              <a:lnSpc>
                <a:spcPct val="115000"/>
              </a:lnSpc>
              <a:spcAft>
                <a:spcPts val="800"/>
              </a:spcAf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Versión de mantenimiento extendido (EM)</a:t>
            </a:r>
          </a:p>
          <a:p>
            <a:pPr>
              <a:lnSpc>
                <a:spcPct val="115000"/>
              </a:lnSpc>
              <a:spcAft>
                <a:spcPts val="800"/>
              </a:spcAft>
            </a:pPr>
            <a:r>
              <a:rPr lang="es-MX" sz="1800" kern="100" dirty="0">
                <a:effectLst/>
                <a:latin typeface="Aptos" panose="020B0004020202020204" pitchFamily="34" charset="0"/>
                <a:ea typeface="Aptos" panose="020B0004020202020204" pitchFamily="34" charset="0"/>
                <a:cs typeface="Times New Roman" panose="02020603050405020304" pitchFamily="18" charset="0"/>
              </a:rPr>
              <a:t>es ideal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para el mantenimiento a largo plazo</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y permite a los clientes cumplir con los requisitos, implementar la versión y mantenerla durante un período extendido. El tren de línea principal incorpora características proporcionadas en versiones anteriores y nuevas mejoras de características incrementales y compatibilidad de hardware.</a:t>
            </a:r>
          </a:p>
          <a:p>
            <a:pPr>
              <a:lnSpc>
                <a:spcPct val="115000"/>
              </a:lnSpc>
              <a:spcAft>
                <a:spcPts val="800"/>
              </a:spcAft>
            </a:pPr>
            <a:r>
              <a:rPr lang="es-MX" sz="1800" i="1" kern="100" dirty="0">
                <a:effectLst/>
                <a:latin typeface="Aptos" panose="020B0004020202020204" pitchFamily="34" charset="0"/>
                <a:ea typeface="Aptos" panose="020B0004020202020204" pitchFamily="34" charset="0"/>
                <a:cs typeface="Times New Roman" panose="02020603050405020304" pitchFamily="18" charset="0"/>
              </a:rPr>
              <a:t>Versión de mantenimiento estándar (T)</a:t>
            </a:r>
          </a:p>
          <a:p>
            <a:pPr>
              <a:lnSpc>
                <a:spcPct val="115000"/>
              </a:lnSpc>
              <a:spcAft>
                <a:spcPts val="800"/>
              </a:spcAft>
            </a:pPr>
            <a:r>
              <a:rPr lang="es-MX" sz="1800" kern="100" dirty="0">
                <a:effectLst/>
                <a:latin typeface="Aptos" panose="020B0004020202020204" pitchFamily="34" charset="0"/>
                <a:ea typeface="Aptos" panose="020B0004020202020204" pitchFamily="34" charset="0"/>
                <a:cs typeface="Times New Roman" panose="02020603050405020304" pitchFamily="18" charset="0"/>
              </a:rPr>
              <a:t>se utiliza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para versiones de implementación cortas</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ideales para las características más recientes y la compatibilidad de hardware antes de que la siguiente versión de EM se encuentre disponible. </a:t>
            </a:r>
          </a:p>
        </p:txBody>
      </p:sp>
    </p:spTree>
    <p:extLst>
      <p:ext uri="{BB962C8B-B14F-4D97-AF65-F5344CB8AC3E}">
        <p14:creationId xmlns:p14="http://schemas.microsoft.com/office/powerpoint/2010/main" val="26130491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7823" y="348013"/>
            <a:ext cx="3880565" cy="5893023"/>
          </a:xfrm>
          <a:prstGeom prst="rect">
            <a:avLst/>
          </a:prstGeom>
        </p:spPr>
        <p:txBody>
          <a:bodyPr wrap="square">
            <a:spAutoFit/>
          </a:bodyPr>
          <a:lstStyle/>
          <a:p>
            <a:pPr>
              <a:lnSpc>
                <a:spcPct val="115000"/>
              </a:lnSpc>
              <a:spcAft>
                <a:spcPts val="800"/>
              </a:spcAft>
            </a:pPr>
            <a:r>
              <a:rPr lang="es-MX" sz="2000" b="1" kern="100" dirty="0">
                <a:effectLst/>
                <a:ea typeface="Aptos" panose="020B0004020202020204" pitchFamily="34" charset="0"/>
                <a:cs typeface="Times New Roman" panose="02020603050405020304" pitchFamily="18" charset="0"/>
              </a:rPr>
              <a:t>Paquetes de imagen de sistema del IOS 15</a:t>
            </a:r>
          </a:p>
          <a:p>
            <a:pPr>
              <a:lnSpc>
                <a:spcPct val="115000"/>
              </a:lnSpc>
              <a:spcAft>
                <a:spcPts val="800"/>
              </a:spcAft>
            </a:pPr>
            <a:endParaRPr lang="es-MX" sz="2000" b="1" kern="100" dirty="0">
              <a:effectLst/>
              <a:ea typeface="Aptos" panose="020B0004020202020204" pitchFamily="34" charset="0"/>
              <a:cs typeface="Times New Roman" panose="02020603050405020304" pitchFamily="18" charset="0"/>
            </a:endParaRPr>
          </a:p>
          <a:p>
            <a:pPr>
              <a:lnSpc>
                <a:spcPct val="115000"/>
              </a:lnSpc>
              <a:spcAft>
                <a:spcPts val="800"/>
              </a:spcAft>
            </a:pPr>
            <a:r>
              <a:rPr lang="es-MX" sz="1800" kern="100" dirty="0">
                <a:effectLst/>
                <a:ea typeface="Aptos" panose="020B0004020202020204" pitchFamily="34" charset="0"/>
                <a:cs typeface="Times New Roman" panose="02020603050405020304" pitchFamily="18" charset="0"/>
              </a:rPr>
              <a:t>Las series de </a:t>
            </a:r>
            <a:r>
              <a:rPr lang="es-MX" sz="1800" kern="100" dirty="0" err="1">
                <a:effectLst/>
                <a:ea typeface="Aptos" panose="020B0004020202020204" pitchFamily="34" charset="0"/>
                <a:cs typeface="Times New Roman" panose="02020603050405020304" pitchFamily="18" charset="0"/>
              </a:rPr>
              <a:t>routers</a:t>
            </a:r>
            <a:r>
              <a:rPr lang="es-MX" sz="1800" kern="100" dirty="0">
                <a:effectLst/>
                <a:ea typeface="Aptos" panose="020B0004020202020204" pitchFamily="34" charset="0"/>
                <a:cs typeface="Times New Roman" panose="02020603050405020304" pitchFamily="18" charset="0"/>
              </a:rPr>
              <a:t> de servicios integrados Cisco de segunda generación (ISR G2) 1900, 2900 y 3900 admiten servicios a petición mediante el uso de licencias de software.</a:t>
            </a:r>
          </a:p>
          <a:p>
            <a:pPr>
              <a:lnSpc>
                <a:spcPct val="115000"/>
              </a:lnSpc>
              <a:spcAft>
                <a:spcPts val="800"/>
              </a:spcAft>
            </a:pPr>
            <a:r>
              <a:rPr lang="es-MX" sz="1800" kern="100" dirty="0">
                <a:effectLst/>
                <a:ea typeface="Aptos" panose="020B0004020202020204" pitchFamily="34" charset="0"/>
                <a:cs typeface="Times New Roman" panose="02020603050405020304" pitchFamily="18" charset="0"/>
              </a:rPr>
              <a:t>Cuando se realiza un pedido de una nueva plataforma de ISR G2 de Cisco, el </a:t>
            </a:r>
            <a:r>
              <a:rPr lang="es-MX" sz="1800" kern="100" dirty="0" err="1">
                <a:effectLst/>
                <a:ea typeface="Aptos" panose="020B0004020202020204" pitchFamily="34" charset="0"/>
                <a:cs typeface="Times New Roman" panose="02020603050405020304" pitchFamily="18" charset="0"/>
              </a:rPr>
              <a:t>router</a:t>
            </a:r>
            <a:r>
              <a:rPr lang="es-MX" sz="1800" kern="100" dirty="0">
                <a:effectLst/>
                <a:ea typeface="Aptos" panose="020B0004020202020204" pitchFamily="34" charset="0"/>
                <a:cs typeface="Times New Roman" panose="02020603050405020304" pitchFamily="18" charset="0"/>
              </a:rPr>
              <a:t> se envía con una imagen única y universal del software IOS de Cisco, y se utiliza una licencia para habilitar los paquetes de conjuntos de características específicos.</a:t>
            </a:r>
            <a:endParaRPr lang="es-MX" sz="2000" b="1" kern="100" dirty="0">
              <a:effectLst/>
              <a:ea typeface="Aptos" panose="020B0004020202020204" pitchFamily="34" charset="0"/>
              <a:cs typeface="Times New Roman" panose="02020603050405020304" pitchFamily="18" charset="0"/>
            </a:endParaRPr>
          </a:p>
        </p:txBody>
      </p:sp>
      <p:pic>
        <p:nvPicPr>
          <p:cNvPr id="3" name="Imagen 2" descr="Modelo de paquetes IOS para routers ISR G2">
            <a:hlinkClick r:id="rId2"/>
            <a:extLst>
              <a:ext uri="{FF2B5EF4-FFF2-40B4-BE49-F238E27FC236}">
                <a16:creationId xmlns:a16="http://schemas.microsoft.com/office/drawing/2014/main" id="{3317C289-0458-D0C4-42AC-F85FEA3330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51076" y="493295"/>
            <a:ext cx="7963100" cy="5871410"/>
          </a:xfrm>
          <a:prstGeom prst="rect">
            <a:avLst/>
          </a:prstGeom>
          <a:noFill/>
          <a:ln>
            <a:noFill/>
          </a:ln>
        </p:spPr>
      </p:pic>
    </p:spTree>
    <p:extLst>
      <p:ext uri="{BB962C8B-B14F-4D97-AF65-F5344CB8AC3E}">
        <p14:creationId xmlns:p14="http://schemas.microsoft.com/office/powerpoint/2010/main" val="29934016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6778779"/>
          </a:xfrm>
          <a:prstGeom prst="rect">
            <a:avLst/>
          </a:prstGeom>
        </p:spPr>
        <p:txBody>
          <a:bodyPr wrap="square">
            <a:spAutoFit/>
          </a:bodyPr>
          <a:lstStyle/>
          <a:p>
            <a:pPr>
              <a:lnSpc>
                <a:spcPct val="115000"/>
              </a:lnSpc>
              <a:spcAft>
                <a:spcPts val="800"/>
              </a:spcAft>
            </a:pPr>
            <a:r>
              <a:rPr lang="es-MX" sz="2000" b="1" kern="100" dirty="0">
                <a:solidFill>
                  <a:srgbClr val="444444"/>
                </a:solidFill>
                <a:ea typeface="Calibri" panose="020F0502020204030204" pitchFamily="34" charset="0"/>
                <a:cs typeface="Calibri" panose="020F0502020204030204" pitchFamily="34" charset="0"/>
              </a:rPr>
              <a:t>Existen dos tipos de imágenes universales admitidas en ISR G2:</a:t>
            </a:r>
          </a:p>
          <a:p>
            <a:pPr>
              <a:lnSpc>
                <a:spcPct val="115000"/>
              </a:lnSpc>
              <a:spcAft>
                <a:spcPts val="800"/>
              </a:spcAft>
            </a:pPr>
            <a:endParaRPr lang="es-MX" sz="2000" b="1" kern="100" dirty="0">
              <a:solidFill>
                <a:srgbClr val="444444"/>
              </a:solidFill>
              <a:ea typeface="Calibri" panose="020F0502020204030204" pitchFamily="34" charset="0"/>
              <a:cs typeface="Calibri" panose="020F050202020403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b="1" kern="100" dirty="0">
                <a:cs typeface="Times New Roman" panose="02020603050405020304" pitchFamily="18" charset="0"/>
              </a:rPr>
              <a:t>Imágenes universales con la designación “universalk9”, </a:t>
            </a:r>
            <a:r>
              <a:rPr lang="es-MX" kern="100" dirty="0">
                <a:cs typeface="Times New Roman" panose="02020603050405020304" pitchFamily="18" charset="0"/>
              </a:rPr>
              <a:t>en el nombre de la imagen: esta imagen universal ofrece todas las características del software IOS de Cisco, incluso características de criptografía del contenido seguras, como IPsec VPN, SSL VPN y comunicaciones unificadas seguras.</a:t>
            </a:r>
          </a:p>
          <a:p>
            <a:pPr marL="342900" lvl="0" indent="-342900">
              <a:lnSpc>
                <a:spcPct val="115000"/>
              </a:lnSpc>
              <a:spcAft>
                <a:spcPts val="800"/>
              </a:spcAft>
              <a:buSzPts val="1000"/>
              <a:buFont typeface="Symbol" panose="05050102010706020507" pitchFamily="18" charset="2"/>
              <a:buChar char=""/>
              <a:tabLst>
                <a:tab pos="457200" algn="l"/>
              </a:tabLst>
            </a:pPr>
            <a:r>
              <a:rPr lang="es-MX" b="1" kern="100" dirty="0">
                <a:cs typeface="Times New Roman" panose="02020603050405020304" pitchFamily="18" charset="0"/>
              </a:rPr>
              <a:t>Imágenes universales con la designación “universalk9_npe”, </a:t>
            </a:r>
            <a:r>
              <a:rPr lang="es-MX" kern="100" dirty="0">
                <a:cs typeface="Times New Roman" panose="02020603050405020304" pitchFamily="18" charset="0"/>
              </a:rPr>
              <a:t>en el nombre de la imagen: el cumplimiento seguro de las capacidades de cifrado que proporciona Cisco Software </a:t>
            </a:r>
            <a:r>
              <a:rPr lang="es-MX" kern="100" dirty="0" err="1">
                <a:cs typeface="Times New Roman" panose="02020603050405020304" pitchFamily="18" charset="0"/>
              </a:rPr>
              <a:t>Activation</a:t>
            </a:r>
            <a:r>
              <a:rPr lang="es-MX" kern="100" dirty="0">
                <a:cs typeface="Times New Roman" panose="02020603050405020304" pitchFamily="18" charset="0"/>
              </a:rPr>
              <a:t> satisface los requisitos para la exportación de capacidades de cifrado.</a:t>
            </a:r>
          </a:p>
          <a:p>
            <a:pPr>
              <a:lnSpc>
                <a:spcPct val="115000"/>
              </a:lnSpc>
              <a:spcAft>
                <a:spcPts val="800"/>
              </a:spcAft>
            </a:pPr>
            <a:endParaRPr lang="es-MX" kern="100" dirty="0">
              <a:cs typeface="Times New Roman" panose="02020603050405020304" pitchFamily="18" charset="0"/>
            </a:endParaRPr>
          </a:p>
          <a:p>
            <a:pPr>
              <a:lnSpc>
                <a:spcPct val="115000"/>
              </a:lnSpc>
              <a:spcAft>
                <a:spcPts val="800"/>
              </a:spcAft>
            </a:pPr>
            <a:r>
              <a:rPr lang="es-MX" kern="100" dirty="0">
                <a:highlight>
                  <a:srgbClr val="FFFF00"/>
                </a:highlight>
                <a:cs typeface="Times New Roman" panose="02020603050405020304" pitchFamily="18" charset="0"/>
              </a:rPr>
              <a:t>Algunos países tienen requisitos de importación que exigen que la plataforma no admita ninguna funcionalidad de criptografía segura, como la criptografía del contenido.</a:t>
            </a:r>
          </a:p>
          <a:p>
            <a:pPr>
              <a:lnSpc>
                <a:spcPct val="115000"/>
              </a:lnSpc>
              <a:spcAft>
                <a:spcPts val="800"/>
              </a:spcAft>
            </a:pPr>
            <a:endParaRPr lang="es-MX" kern="100" dirty="0">
              <a:cs typeface="Times New Roman" panose="02020603050405020304" pitchFamily="18" charset="0"/>
            </a:endParaRPr>
          </a:p>
          <a:p>
            <a:pPr>
              <a:lnSpc>
                <a:spcPct val="115000"/>
              </a:lnSpc>
              <a:spcAft>
                <a:spcPts val="800"/>
              </a:spcAft>
            </a:pPr>
            <a:r>
              <a:rPr lang="es-MX" kern="100" dirty="0">
                <a:cs typeface="Times New Roman" panose="02020603050405020304" pitchFamily="18" charset="0"/>
              </a:rPr>
              <a:t>Con los dispositivos ISR G2, se facilitó la selección de la imagen del IOS, debido a que se incluyen todas las características dentro de la imagen universal. Las características se activan mediante licencias (clave de activación del producto – PAK). Cada dispositivo se envía con imagen universal.</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endParaRPr lang="es-MX" altLang="es-MX" dirty="0"/>
          </a:p>
        </p:txBody>
      </p:sp>
    </p:spTree>
    <p:extLst>
      <p:ext uri="{BB962C8B-B14F-4D97-AF65-F5344CB8AC3E}">
        <p14:creationId xmlns:p14="http://schemas.microsoft.com/office/powerpoint/2010/main" val="31226232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9881607" cy="1121589"/>
          </a:xfrm>
          <a:prstGeom prst="rect">
            <a:avLst/>
          </a:prstGeom>
        </p:spPr>
        <p:txBody>
          <a:bodyPr wrap="square">
            <a:spAutoFit/>
          </a:bodyPr>
          <a:lstStyle/>
          <a:p>
            <a:pPr>
              <a:lnSpc>
                <a:spcPct val="115000"/>
              </a:lnSpc>
              <a:spcAft>
                <a:spcPts val="800"/>
              </a:spcAft>
            </a:pPr>
            <a:r>
              <a:rPr lang="es-MX" sz="2000" b="1" kern="100" dirty="0">
                <a:cs typeface="Times New Roman" panose="02020603050405020304" pitchFamily="18" charset="0"/>
              </a:rPr>
              <a:t>En la Imagen, se muestra la migración sugerida para los ISR de la siguiente generación del IOS 12 (paquetes de reforma del IOS) al IOS 15 (paquetes simplificados).</a:t>
            </a:r>
          </a:p>
        </p:txBody>
      </p:sp>
      <p:pic>
        <p:nvPicPr>
          <p:cNvPr id="3" name="Imagen 2" descr="Transición del IOS 12 al 15">
            <a:hlinkClick r:id="rId2"/>
            <a:extLst>
              <a:ext uri="{FF2B5EF4-FFF2-40B4-BE49-F238E27FC236}">
                <a16:creationId xmlns:a16="http://schemas.microsoft.com/office/drawing/2014/main" id="{9EDD2513-1EC5-0444-BDAD-EB4838C0F0F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51151" y="1496536"/>
            <a:ext cx="9007245" cy="5140927"/>
          </a:xfrm>
          <a:prstGeom prst="rect">
            <a:avLst/>
          </a:prstGeom>
          <a:noFill/>
          <a:ln>
            <a:noFill/>
          </a:ln>
        </p:spPr>
      </p:pic>
    </p:spTree>
    <p:extLst>
      <p:ext uri="{BB962C8B-B14F-4D97-AF65-F5344CB8AC3E}">
        <p14:creationId xmlns:p14="http://schemas.microsoft.com/office/powerpoint/2010/main" val="10064952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7823" y="348013"/>
            <a:ext cx="11352177" cy="2299091"/>
          </a:xfrm>
          <a:prstGeom prst="rect">
            <a:avLst/>
          </a:prstGeom>
        </p:spPr>
        <p:txBody>
          <a:bodyPr wrap="square">
            <a:spAutoFit/>
          </a:bodyPr>
          <a:lstStyle/>
          <a:p>
            <a:pPr>
              <a:lnSpc>
                <a:spcPct val="115000"/>
              </a:lnSpc>
              <a:spcAft>
                <a:spcPts val="800"/>
              </a:spcAft>
            </a:pPr>
            <a:r>
              <a:rPr lang="es-MX" sz="2000" b="1" kern="100" dirty="0">
                <a:cs typeface="Times New Roman" panose="02020603050405020304" pitchFamily="18" charset="0"/>
              </a:rPr>
              <a:t>Nombres de archivo de imagen del IOS</a:t>
            </a:r>
          </a:p>
          <a:p>
            <a:pPr>
              <a:lnSpc>
                <a:spcPct val="115000"/>
              </a:lnSpc>
              <a:spcAft>
                <a:spcPts val="800"/>
              </a:spcAft>
            </a:pPr>
            <a:endParaRPr lang="es-MX" sz="2000" b="1" kern="100" dirty="0">
              <a:cs typeface="Times New Roman" panose="02020603050405020304" pitchFamily="18" charset="0"/>
            </a:endParaRPr>
          </a:p>
          <a:p>
            <a:pPr>
              <a:lnSpc>
                <a:spcPct val="115000"/>
              </a:lnSpc>
              <a:spcAft>
                <a:spcPts val="800"/>
              </a:spcAft>
            </a:pPr>
            <a:r>
              <a:rPr lang="es-MX" kern="100" dirty="0">
                <a:cs typeface="Times New Roman" panose="02020603050405020304" pitchFamily="18" charset="0"/>
              </a:rPr>
              <a:t>Está basado en una convención de nomenclatura especial y contiene varias partes, cada una con un significado específico. </a:t>
            </a:r>
          </a:p>
          <a:p>
            <a:r>
              <a:rPr lang="es-MX" kern="100" dirty="0">
                <a:cs typeface="Times New Roman" panose="02020603050405020304" pitchFamily="18" charset="0"/>
              </a:rPr>
              <a:t>El comando show flash muestra los archivos almacenados en la memoria flash, incluso los archivos de imagen de sistema.</a:t>
            </a:r>
            <a:endParaRPr lang="es-MX" sz="2000" b="1" kern="100" dirty="0">
              <a:effectLst/>
              <a:ea typeface="Aptos" panose="020B0004020202020204" pitchFamily="34" charset="0"/>
              <a:cs typeface="Times New Roman" panose="02020603050405020304" pitchFamily="18" charset="0"/>
            </a:endParaRPr>
          </a:p>
        </p:txBody>
      </p:sp>
      <p:pic>
        <p:nvPicPr>
          <p:cNvPr id="4" name="Imagen 3" descr="Ver la imagen del IOS de Cisco">
            <a:hlinkClick r:id="rId2"/>
            <a:extLst>
              <a:ext uri="{FF2B5EF4-FFF2-40B4-BE49-F238E27FC236}">
                <a16:creationId xmlns:a16="http://schemas.microsoft.com/office/drawing/2014/main" id="{B49DC721-6C21-B519-1F82-A43B94FF8FF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0530" y="2848771"/>
            <a:ext cx="8839093" cy="3407170"/>
          </a:xfrm>
          <a:prstGeom prst="rect">
            <a:avLst/>
          </a:prstGeom>
          <a:noFill/>
          <a:ln>
            <a:noFill/>
          </a:ln>
        </p:spPr>
      </p:pic>
    </p:spTree>
    <p:extLst>
      <p:ext uri="{BB962C8B-B14F-4D97-AF65-F5344CB8AC3E}">
        <p14:creationId xmlns:p14="http://schemas.microsoft.com/office/powerpoint/2010/main" val="1027626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Ejemplo de nombre de imagen IOS 15">
            <a:hlinkClick r:id="rId2"/>
            <a:extLst>
              <a:ext uri="{FF2B5EF4-FFF2-40B4-BE49-F238E27FC236}">
                <a16:creationId xmlns:a16="http://schemas.microsoft.com/office/drawing/2014/main" id="{993EA699-C271-6F05-AE0E-6EDEBC7966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93404" y="902437"/>
            <a:ext cx="6481869" cy="5053126"/>
          </a:xfrm>
          <a:prstGeom prst="rect">
            <a:avLst/>
          </a:prstGeom>
          <a:noFill/>
          <a:ln>
            <a:noFill/>
          </a:ln>
        </p:spPr>
      </p:pic>
      <p:sp>
        <p:nvSpPr>
          <p:cNvPr id="5" name="CuadroTexto 4">
            <a:extLst>
              <a:ext uri="{FF2B5EF4-FFF2-40B4-BE49-F238E27FC236}">
                <a16:creationId xmlns:a16="http://schemas.microsoft.com/office/drawing/2014/main" id="{5A4565DB-99DD-8584-6526-66377F365644}"/>
              </a:ext>
            </a:extLst>
          </p:cNvPr>
          <p:cNvSpPr txBox="1"/>
          <p:nvPr/>
        </p:nvSpPr>
        <p:spPr>
          <a:xfrm>
            <a:off x="286375" y="213140"/>
            <a:ext cx="5307029" cy="5573000"/>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Hardware: </a:t>
            </a:r>
            <a:r>
              <a:rPr lang="es-MX" sz="1800" kern="100" dirty="0" err="1">
                <a:effectLst/>
                <a:latin typeface="Aptos" panose="020B0004020202020204" pitchFamily="34" charset="0"/>
                <a:ea typeface="Aptos" panose="020B0004020202020204" pitchFamily="34" charset="0"/>
                <a:cs typeface="Times New Roman" panose="02020603050405020304" pitchFamily="18" charset="0"/>
              </a:rPr>
              <a:t>Router</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Cisco 1900.</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Designación de la imagen:</a:t>
            </a:r>
            <a:r>
              <a:rPr lang="es-MX" b="1" kern="100" dirty="0">
                <a:latin typeface="Aptos" panose="020B0004020202020204" pitchFamily="34" charset="0"/>
                <a:ea typeface="Aptos" panose="020B0004020202020204" pitchFamily="34" charset="0"/>
                <a:cs typeface="Times New Roman" panose="02020603050405020304" pitchFamily="18" charset="0"/>
              </a:rPr>
              <a:t> </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para un ISR G2 universalk9 </a:t>
            </a:r>
            <a:r>
              <a:rPr lang="es-MX" kern="100" dirty="0">
                <a:latin typeface="Aptos" panose="020B0004020202020204" pitchFamily="34" charset="0"/>
                <a:ea typeface="Aptos" panose="020B0004020202020204" pitchFamily="34" charset="0"/>
                <a:cs typeface="Times New Roman" panose="02020603050405020304" pitchFamily="18" charset="0"/>
              </a:rPr>
              <a:t> o </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universalk9_npe. Universalk9_npe.</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Ubicación de memoria:   					 f</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flash;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m</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RAM;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r</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ROM;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l</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reubicable</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Compresión: </a:t>
            </a:r>
            <a:r>
              <a:rPr lang="es-MX" sz="1800" b="1" dirty="0">
                <a:effectLst/>
                <a:latin typeface="Aptos" panose="020B0004020202020204" pitchFamily="34" charset="0"/>
                <a:ea typeface="Aptos" panose="020B0004020202020204" pitchFamily="34" charset="0"/>
                <a:cs typeface="Times New Roman" panose="02020603050405020304" pitchFamily="18" charset="0"/>
              </a:rPr>
              <a:t>z</a:t>
            </a:r>
            <a:r>
              <a:rPr lang="es-MX" sz="1800" dirty="0">
                <a:effectLst/>
                <a:latin typeface="Aptos" panose="020B0004020202020204" pitchFamily="34" charset="0"/>
                <a:ea typeface="Aptos" panose="020B0004020202020204" pitchFamily="34" charset="0"/>
                <a:cs typeface="Times New Roman" panose="02020603050405020304" pitchFamily="18" charset="0"/>
              </a:rPr>
              <a:t> para zip o </a:t>
            </a:r>
            <a:r>
              <a:rPr lang="es-MX" sz="1800" b="1" dirty="0">
                <a:effectLst/>
                <a:latin typeface="Aptos" panose="020B0004020202020204" pitchFamily="34" charset="0"/>
                <a:ea typeface="Aptos" panose="020B0004020202020204" pitchFamily="34" charset="0"/>
                <a:cs typeface="Times New Roman" panose="02020603050405020304" pitchFamily="18" charset="0"/>
              </a:rPr>
              <a:t>x</a:t>
            </a:r>
            <a:r>
              <a:rPr lang="es-MX" sz="1800" dirty="0">
                <a:effectLst/>
                <a:latin typeface="Aptos" panose="020B0004020202020204" pitchFamily="34" charset="0"/>
                <a:ea typeface="Aptos" panose="020B0004020202020204" pitchFamily="34" charset="0"/>
                <a:cs typeface="Times New Roman" panose="02020603050405020304" pitchFamily="18" charset="0"/>
              </a:rPr>
              <a:t> para </a:t>
            </a:r>
            <a:r>
              <a:rPr lang="es-MX" sz="1800" dirty="0" err="1">
                <a:effectLst/>
                <a:latin typeface="Aptos" panose="020B0004020202020204" pitchFamily="34" charset="0"/>
                <a:ea typeface="Aptos" panose="020B0004020202020204" pitchFamily="34" charset="0"/>
                <a:cs typeface="Times New Roman" panose="02020603050405020304" pitchFamily="18" charset="0"/>
              </a:rPr>
              <a:t>mzip</a:t>
            </a:r>
            <a:r>
              <a:rPr lang="es-MX" sz="1800" dirty="0">
                <a:effectLst/>
                <a:latin typeface="Aptos" panose="020B0004020202020204" pitchFamily="34" charset="0"/>
                <a:ea typeface="Aptos" panose="020B0004020202020204" pitchFamily="34" charset="0"/>
                <a:cs typeface="Times New Roman" panose="02020603050405020304" pitchFamily="18" charset="0"/>
              </a:rPr>
              <a:t>.</a:t>
            </a:r>
            <a:endParaRPr lang="es-MX"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Firma digital: SPA</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indica que el archivo está firmado digitalmente por Cisco.</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Versión según nomenclatura: </a:t>
            </a:r>
            <a:r>
              <a:rPr lang="es-MX" kern="100" dirty="0">
                <a:latin typeface="Aptos" panose="020B0004020202020204" pitchFamily="34" charset="0"/>
                <a:ea typeface="Aptos" panose="020B0004020202020204" pitchFamily="34" charset="0"/>
                <a:cs typeface="Times New Roman" panose="02020603050405020304" pitchFamily="18" charset="0"/>
              </a:rPr>
              <a:t>V</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ersión</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 15.2  </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con nuevas características</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 4, mantenimiento extendido 3</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152-4.M3</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Extensión de archivo. </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Esta extensión indica que este es un archivo binario ejecutable.</a:t>
            </a:r>
          </a:p>
        </p:txBody>
      </p:sp>
    </p:spTree>
    <p:extLst>
      <p:ext uri="{BB962C8B-B14F-4D97-AF65-F5344CB8AC3E}">
        <p14:creationId xmlns:p14="http://schemas.microsoft.com/office/powerpoint/2010/main" val="18078208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5781583"/>
          </a:xfrm>
          <a:prstGeom prst="rect">
            <a:avLst/>
          </a:prstGeom>
        </p:spPr>
        <p:txBody>
          <a:bodyPr wrap="square">
            <a:spAutoFit/>
          </a:bodyPr>
          <a:lstStyle/>
          <a:p>
            <a:pPr>
              <a:lnSpc>
                <a:spcPct val="115000"/>
              </a:lnSpc>
              <a:spcAft>
                <a:spcPts val="800"/>
              </a:spcAft>
            </a:pPr>
            <a:r>
              <a:rPr lang="es-MX" sz="2000" b="1" dirty="0"/>
              <a:t>Requisitos de memoria</a:t>
            </a:r>
          </a:p>
          <a:p>
            <a:pPr>
              <a:lnSpc>
                <a:spcPct val="115000"/>
              </a:lnSpc>
              <a:spcAft>
                <a:spcPts val="800"/>
              </a:spcAft>
            </a:pPr>
            <a:endParaRPr lang="es-MX" sz="2000" b="1" dirty="0"/>
          </a:p>
          <a:p>
            <a:pPr>
              <a:lnSpc>
                <a:spcPct val="115000"/>
              </a:lnSpc>
              <a:spcAft>
                <a:spcPts val="800"/>
              </a:spcAft>
            </a:pPr>
            <a:r>
              <a:rPr lang="es-MX" dirty="0"/>
              <a:t>En la mayoría de los </a:t>
            </a:r>
            <a:r>
              <a:rPr lang="es-MX" dirty="0" err="1"/>
              <a:t>routers</a:t>
            </a:r>
            <a:r>
              <a:rPr lang="es-MX" dirty="0"/>
              <a:t> Cisco, incluso en los </a:t>
            </a:r>
            <a:r>
              <a:rPr lang="es-MX" dirty="0" err="1"/>
              <a:t>routers</a:t>
            </a:r>
            <a:r>
              <a:rPr lang="es-MX" dirty="0"/>
              <a:t> de servicios integrados, el IOS se almacena en la memoria </a:t>
            </a:r>
            <a:r>
              <a:rPr lang="es-MX" dirty="0" err="1"/>
              <a:t>CompactFlash</a:t>
            </a:r>
            <a:r>
              <a:rPr lang="es-MX" dirty="0"/>
              <a:t> como una imagen comprimida y se carga en la DRAM durante el arranque.</a:t>
            </a:r>
          </a:p>
          <a:p>
            <a:pPr>
              <a:lnSpc>
                <a:spcPct val="115000"/>
              </a:lnSpc>
              <a:spcAft>
                <a:spcPts val="800"/>
              </a:spcAft>
            </a:pPr>
            <a:endParaRPr lang="es-MX" dirty="0"/>
          </a:p>
          <a:p>
            <a:pPr>
              <a:lnSpc>
                <a:spcPct val="115000"/>
              </a:lnSpc>
              <a:spcAft>
                <a:spcPts val="800"/>
              </a:spcAft>
            </a:pPr>
            <a:r>
              <a:rPr lang="es-MX" dirty="0"/>
              <a:t>Las imágenes de la versión 15.0 del software IOS de Cisco disponibles para los ISR Cisco 1900 y 2900 requieren 256 MB de memoria flash y 512 MB de memoria RAM. </a:t>
            </a:r>
          </a:p>
          <a:p>
            <a:pPr>
              <a:lnSpc>
                <a:spcPct val="115000"/>
              </a:lnSpc>
              <a:spcAft>
                <a:spcPts val="800"/>
              </a:spcAft>
            </a:pPr>
            <a:endParaRPr lang="es-MX" dirty="0"/>
          </a:p>
          <a:p>
            <a:pPr>
              <a:lnSpc>
                <a:spcPct val="115000"/>
              </a:lnSpc>
              <a:spcAft>
                <a:spcPts val="800"/>
              </a:spcAft>
            </a:pPr>
            <a:r>
              <a:rPr lang="es-MX" dirty="0"/>
              <a:t>El ISR 3900 requiere 256 MB de memoria flash y 1 GB de RAM. Esto no incluye herramientas de administración adicionales, como Cisco </a:t>
            </a:r>
            <a:r>
              <a:rPr lang="es-MX" dirty="0" err="1"/>
              <a:t>Configuration</a:t>
            </a:r>
            <a:r>
              <a:rPr lang="es-MX" dirty="0"/>
              <a:t> Professional (Cisco CP). </a:t>
            </a:r>
          </a:p>
          <a:p>
            <a:pPr>
              <a:lnSpc>
                <a:spcPct val="115000"/>
              </a:lnSpc>
              <a:spcAft>
                <a:spcPts val="800"/>
              </a:spcAft>
            </a:pPr>
            <a:endParaRPr lang="es-MX" dirty="0"/>
          </a:p>
          <a:p>
            <a:pPr>
              <a:lnSpc>
                <a:spcPct val="115000"/>
              </a:lnSpc>
              <a:spcAft>
                <a:spcPts val="800"/>
              </a:spcAft>
            </a:pPr>
            <a:r>
              <a:rPr lang="es-MX" dirty="0"/>
              <a:t>Para obtener detalles completos, consulte la ficha técnica del producto para el </a:t>
            </a:r>
            <a:r>
              <a:rPr lang="es-MX" dirty="0" err="1"/>
              <a:t>router</a:t>
            </a:r>
            <a:r>
              <a:rPr lang="es-MX" dirty="0"/>
              <a:t> específico.</a:t>
            </a:r>
          </a:p>
          <a:p>
            <a:endParaRPr lang="es-MX" dirty="0"/>
          </a:p>
          <a:p>
            <a:endParaRPr lang="es-MX" dirty="0"/>
          </a:p>
        </p:txBody>
      </p:sp>
    </p:spTree>
    <p:extLst>
      <p:ext uri="{BB962C8B-B14F-4D97-AF65-F5344CB8AC3E}">
        <p14:creationId xmlns:p14="http://schemas.microsoft.com/office/powerpoint/2010/main" val="10845380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564AADC-7A1F-8304-B47E-D701C58D8412}"/>
              </a:ext>
            </a:extLst>
          </p:cNvPr>
          <p:cNvSpPr txBox="1"/>
          <p:nvPr/>
        </p:nvSpPr>
        <p:spPr>
          <a:xfrm>
            <a:off x="390696" y="628233"/>
            <a:ext cx="11380125" cy="4524315"/>
          </a:xfrm>
          <a:prstGeom prst="rect">
            <a:avLst/>
          </a:prstGeom>
          <a:noFill/>
        </p:spPr>
        <p:txBody>
          <a:bodyPr wrap="square">
            <a:spAutoFit/>
          </a:bodyPr>
          <a:lstStyle/>
          <a:p>
            <a:r>
              <a:rPr lang="es-MX" dirty="0">
                <a:latin typeface="Calibri" panose="020F0502020204030204" pitchFamily="34" charset="0"/>
                <a:ea typeface="Calibri" panose="020F0502020204030204" pitchFamily="34" charset="0"/>
                <a:cs typeface="Calibri" panose="020F0502020204030204" pitchFamily="34" charset="0"/>
              </a:rPr>
              <a:t>S</a:t>
            </a:r>
            <a:r>
              <a:rPr lang="es-MX" dirty="0">
                <a:effectLst/>
                <a:latin typeface="Calibri" panose="020F0502020204030204" pitchFamily="34" charset="0"/>
                <a:ea typeface="Calibri" panose="020F0502020204030204" pitchFamily="34" charset="0"/>
                <a:cs typeface="Calibri" panose="020F0502020204030204" pitchFamily="34" charset="0"/>
              </a:rPr>
              <a:t>ecuencia de inicio de un </a:t>
            </a:r>
            <a:r>
              <a:rPr lang="es-MX" dirty="0" err="1">
                <a:effectLst/>
                <a:latin typeface="Calibri" panose="020F0502020204030204" pitchFamily="34" charset="0"/>
                <a:ea typeface="Calibri" panose="020F0502020204030204" pitchFamily="34" charset="0"/>
                <a:cs typeface="Calibri" panose="020F0502020204030204" pitchFamily="34" charset="0"/>
              </a:rPr>
              <a:t>router</a:t>
            </a:r>
            <a:r>
              <a:rPr lang="es-MX" dirty="0">
                <a:effectLst/>
                <a:latin typeface="Calibri" panose="020F0502020204030204" pitchFamily="34" charset="0"/>
                <a:ea typeface="Calibri" panose="020F0502020204030204" pitchFamily="34" charset="0"/>
                <a:cs typeface="Calibri" panose="020F0502020204030204" pitchFamily="34" charset="0"/>
              </a:rPr>
              <a:t> </a:t>
            </a:r>
          </a:p>
          <a:p>
            <a:endParaRPr lang="es-MX" dirty="0">
              <a:latin typeface="Calibri" panose="020F0502020204030204" pitchFamily="34" charset="0"/>
              <a:ea typeface="Calibri" panose="020F0502020204030204" pitchFamily="34" charset="0"/>
              <a:cs typeface="Calibri" panose="020F0502020204030204" pitchFamily="34" charset="0"/>
            </a:endParaRPr>
          </a:p>
          <a:p>
            <a:r>
              <a:rPr lang="es-MX" dirty="0">
                <a:effectLst/>
                <a:latin typeface="Calibri" panose="020F0502020204030204" pitchFamily="34" charset="0"/>
                <a:ea typeface="Calibri" panose="020F0502020204030204" pitchFamily="34" charset="0"/>
                <a:cs typeface="Calibri" panose="020F0502020204030204" pitchFamily="34" charset="0"/>
              </a:rPr>
              <a:t>Comienza con la </a:t>
            </a:r>
            <a:r>
              <a:rPr lang="es-MX" b="1" dirty="0">
                <a:effectLst/>
                <a:latin typeface="Calibri" panose="020F0502020204030204" pitchFamily="34" charset="0"/>
                <a:ea typeface="Calibri" panose="020F0502020204030204" pitchFamily="34" charset="0"/>
                <a:cs typeface="Calibri" panose="020F0502020204030204" pitchFamily="34" charset="0"/>
              </a:rPr>
              <a:t>ejecución de la  </a:t>
            </a:r>
            <a:r>
              <a:rPr lang="es-MX" b="1" u="sng" dirty="0">
                <a:solidFill>
                  <a:srgbClr val="467886"/>
                </a:solidFill>
                <a:effectLst/>
                <a:latin typeface="Calibri" panose="020F0502020204030204" pitchFamily="34" charset="0"/>
                <a:ea typeface="Calibri" panose="020F0502020204030204" pitchFamily="34" charset="0"/>
                <a:cs typeface="Calibri" panose="020F0502020204030204" pitchFamily="34" charset="0"/>
              </a:rPr>
              <a:t>autocomprobación de encendido (POST)</a:t>
            </a:r>
            <a:r>
              <a:rPr lang="es-MX" dirty="0">
                <a:effectLst/>
                <a:latin typeface="Calibri" panose="020F0502020204030204" pitchFamily="34" charset="0"/>
                <a:ea typeface="Calibri" panose="020F0502020204030204" pitchFamily="34" charset="0"/>
                <a:cs typeface="Calibri" panose="020F0502020204030204" pitchFamily="34" charset="0"/>
              </a:rPr>
              <a:t>, que verifica el hardware. Luego, el </a:t>
            </a:r>
            <a:r>
              <a:rPr lang="es-MX" dirty="0" err="1">
                <a:effectLst/>
                <a:latin typeface="Calibri" panose="020F0502020204030204" pitchFamily="34" charset="0"/>
                <a:ea typeface="Calibri" panose="020F0502020204030204" pitchFamily="34" charset="0"/>
                <a:cs typeface="Calibri" panose="020F0502020204030204" pitchFamily="34" charset="0"/>
              </a:rPr>
              <a:t>router</a:t>
            </a:r>
            <a:r>
              <a:rPr lang="es-MX" dirty="0">
                <a:effectLst/>
                <a:latin typeface="Calibri" panose="020F0502020204030204" pitchFamily="34" charset="0"/>
                <a:ea typeface="Calibri" panose="020F0502020204030204" pitchFamily="34" charset="0"/>
                <a:cs typeface="Calibri" panose="020F0502020204030204" pitchFamily="34" charset="0"/>
              </a:rPr>
              <a:t> </a:t>
            </a:r>
            <a:r>
              <a:rPr lang="es-MX" b="1" dirty="0">
                <a:effectLst/>
                <a:latin typeface="Calibri" panose="020F0502020204030204" pitchFamily="34" charset="0"/>
                <a:ea typeface="Calibri" panose="020F0502020204030204" pitchFamily="34" charset="0"/>
                <a:cs typeface="Calibri" panose="020F0502020204030204" pitchFamily="34" charset="0"/>
              </a:rPr>
              <a:t>carga el programa de arranque (</a:t>
            </a:r>
            <a:r>
              <a:rPr lang="es-MX" b="1" dirty="0" err="1">
                <a:effectLst/>
                <a:latin typeface="Calibri" panose="020F0502020204030204" pitchFamily="34" charset="0"/>
                <a:ea typeface="Calibri" panose="020F0502020204030204" pitchFamily="34" charset="0"/>
                <a:cs typeface="Calibri" panose="020F0502020204030204" pitchFamily="34" charset="0"/>
              </a:rPr>
              <a:t>bootstrap</a:t>
            </a:r>
            <a:r>
              <a:rPr lang="es-MX" b="1" dirty="0">
                <a:effectLst/>
                <a:latin typeface="Calibri" panose="020F0502020204030204" pitchFamily="34" charset="0"/>
                <a:ea typeface="Calibri" panose="020F0502020204030204" pitchFamily="34" charset="0"/>
                <a:cs typeface="Calibri" panose="020F0502020204030204" pitchFamily="34" charset="0"/>
              </a:rPr>
              <a:t>)</a:t>
            </a:r>
            <a:r>
              <a:rPr lang="es-MX" dirty="0">
                <a:effectLst/>
                <a:latin typeface="Calibri" panose="020F0502020204030204" pitchFamily="34" charset="0"/>
                <a:ea typeface="Calibri" panose="020F0502020204030204" pitchFamily="34" charset="0"/>
                <a:cs typeface="Calibri" panose="020F0502020204030204" pitchFamily="34" charset="0"/>
              </a:rPr>
              <a:t> para encontrar el sistema operativo </a:t>
            </a:r>
            <a:r>
              <a:rPr lang="es-MX" u="sng" dirty="0">
                <a:solidFill>
                  <a:srgbClr val="467886"/>
                </a:solidFill>
                <a:effectLst/>
                <a:latin typeface="Calibri" panose="020F0502020204030204" pitchFamily="34" charset="0"/>
                <a:ea typeface="Calibri" panose="020F0502020204030204" pitchFamily="34" charset="0"/>
                <a:cs typeface="Calibri" panose="020F0502020204030204" pitchFamily="34" charset="0"/>
              </a:rPr>
              <a:t>Cisco IOS</a:t>
            </a:r>
            <a:r>
              <a:rPr lang="es-MX" dirty="0">
                <a:effectLst/>
                <a:latin typeface="Calibri" panose="020F0502020204030204" pitchFamily="34" charset="0"/>
                <a:ea typeface="Calibri" panose="020F0502020204030204" pitchFamily="34" charset="0"/>
                <a:cs typeface="Calibri" panose="020F0502020204030204" pitchFamily="34" charset="0"/>
              </a:rPr>
              <a:t> en la memoria </a:t>
            </a:r>
            <a:r>
              <a:rPr lang="es-MX" u="sng" dirty="0">
                <a:solidFill>
                  <a:srgbClr val="467886"/>
                </a:solidFill>
                <a:effectLst/>
                <a:latin typeface="Calibri" panose="020F0502020204030204" pitchFamily="34" charset="0"/>
                <a:ea typeface="Calibri" panose="020F0502020204030204" pitchFamily="34" charset="0"/>
                <a:cs typeface="Calibri" panose="020F0502020204030204" pitchFamily="34" charset="0"/>
              </a:rPr>
              <a:t>flash</a:t>
            </a:r>
            <a:r>
              <a:rPr lang="es-MX" dirty="0">
                <a:effectLst/>
                <a:latin typeface="Calibri" panose="020F0502020204030204" pitchFamily="34" charset="0"/>
                <a:ea typeface="Calibri" panose="020F0502020204030204" pitchFamily="34" charset="0"/>
                <a:cs typeface="Calibri" panose="020F0502020204030204" pitchFamily="34" charset="0"/>
              </a:rPr>
              <a:t>. A continuación, el IOS se carga en la </a:t>
            </a:r>
            <a:r>
              <a:rPr lang="es-MX" u="sng" dirty="0">
                <a:solidFill>
                  <a:srgbClr val="467886"/>
                </a:solidFill>
                <a:effectLst/>
                <a:latin typeface="Calibri" panose="020F0502020204030204" pitchFamily="34" charset="0"/>
                <a:ea typeface="Calibri" panose="020F0502020204030204" pitchFamily="34" charset="0"/>
                <a:cs typeface="Calibri" panose="020F0502020204030204" pitchFamily="34" charset="0"/>
              </a:rPr>
              <a:t>RAM</a:t>
            </a:r>
            <a:r>
              <a:rPr lang="es-MX" dirty="0">
                <a:effectLst/>
                <a:latin typeface="Calibri" panose="020F0502020204030204" pitchFamily="34" charset="0"/>
                <a:ea typeface="Calibri" panose="020F0502020204030204" pitchFamily="34" charset="0"/>
                <a:cs typeface="Calibri" panose="020F0502020204030204" pitchFamily="34" charset="0"/>
              </a:rPr>
              <a:t> y el </a:t>
            </a:r>
            <a:r>
              <a:rPr lang="es-MX" dirty="0" err="1">
                <a:effectLst/>
                <a:latin typeface="Calibri" panose="020F0502020204030204" pitchFamily="34" charset="0"/>
                <a:ea typeface="Calibri" panose="020F0502020204030204" pitchFamily="34" charset="0"/>
                <a:cs typeface="Calibri" panose="020F0502020204030204" pitchFamily="34" charset="0"/>
              </a:rPr>
              <a:t>router</a:t>
            </a:r>
            <a:r>
              <a:rPr lang="es-MX" dirty="0">
                <a:effectLst/>
                <a:latin typeface="Calibri" panose="020F0502020204030204" pitchFamily="34" charset="0"/>
                <a:ea typeface="Calibri" panose="020F0502020204030204" pitchFamily="34" charset="0"/>
                <a:cs typeface="Calibri" panose="020F0502020204030204" pitchFamily="34" charset="0"/>
              </a:rPr>
              <a:t> </a:t>
            </a:r>
            <a:r>
              <a:rPr lang="es-MX" b="1" dirty="0">
                <a:effectLst/>
                <a:latin typeface="Calibri" panose="020F0502020204030204" pitchFamily="34" charset="0"/>
                <a:ea typeface="Calibri" panose="020F0502020204030204" pitchFamily="34" charset="0"/>
                <a:cs typeface="Calibri" panose="020F0502020204030204" pitchFamily="34" charset="0"/>
              </a:rPr>
              <a:t>busca el archivo de configuración de inicio (startup-</a:t>
            </a:r>
            <a:r>
              <a:rPr lang="es-MX" b="1" dirty="0" err="1">
                <a:effectLst/>
                <a:latin typeface="Calibri" panose="020F0502020204030204" pitchFamily="34" charset="0"/>
                <a:ea typeface="Calibri" panose="020F0502020204030204" pitchFamily="34" charset="0"/>
                <a:cs typeface="Calibri" panose="020F0502020204030204" pitchFamily="34" charset="0"/>
              </a:rPr>
              <a:t>config</a:t>
            </a:r>
            <a:r>
              <a:rPr lang="es-MX" b="1" dirty="0">
                <a:effectLst/>
                <a:latin typeface="Calibri" panose="020F0502020204030204" pitchFamily="34" charset="0"/>
                <a:ea typeface="Calibri" panose="020F0502020204030204" pitchFamily="34" charset="0"/>
                <a:cs typeface="Calibri" panose="020F0502020204030204" pitchFamily="34" charset="0"/>
              </a:rPr>
              <a:t>)</a:t>
            </a:r>
            <a:r>
              <a:rPr lang="es-MX" dirty="0">
                <a:effectLst/>
                <a:latin typeface="Calibri" panose="020F0502020204030204" pitchFamily="34" charset="0"/>
                <a:ea typeface="Calibri" panose="020F0502020204030204" pitchFamily="34" charset="0"/>
                <a:cs typeface="Calibri" panose="020F0502020204030204" pitchFamily="34" charset="0"/>
              </a:rPr>
              <a:t> en la </a:t>
            </a:r>
            <a:r>
              <a:rPr lang="es-MX" u="sng" dirty="0">
                <a:solidFill>
                  <a:srgbClr val="467886"/>
                </a:solidFill>
                <a:effectLst/>
                <a:latin typeface="Calibri" panose="020F0502020204030204" pitchFamily="34" charset="0"/>
                <a:ea typeface="Calibri" panose="020F0502020204030204" pitchFamily="34" charset="0"/>
                <a:cs typeface="Calibri" panose="020F0502020204030204" pitchFamily="34" charset="0"/>
              </a:rPr>
              <a:t>NVRAM</a:t>
            </a:r>
            <a:r>
              <a:rPr lang="es-MX" dirty="0">
                <a:effectLst/>
                <a:latin typeface="Calibri" panose="020F0502020204030204" pitchFamily="34" charset="0"/>
                <a:ea typeface="Calibri" panose="020F0502020204030204" pitchFamily="34" charset="0"/>
                <a:cs typeface="Calibri" panose="020F0502020204030204" pitchFamily="34" charset="0"/>
              </a:rPr>
              <a:t> para aplicarlo. </a:t>
            </a:r>
          </a:p>
          <a:p>
            <a:endParaRPr lang="es-MX" dirty="0">
              <a:latin typeface="Calibri" panose="020F0502020204030204" pitchFamily="34" charset="0"/>
              <a:ea typeface="Calibri" panose="020F0502020204030204" pitchFamily="34" charset="0"/>
              <a:cs typeface="Calibri" panose="020F0502020204030204" pitchFamily="34" charset="0"/>
            </a:endParaRPr>
          </a:p>
          <a:p>
            <a:r>
              <a:rPr lang="es-MX" b="1" dirty="0">
                <a:latin typeface="Calibri" panose="020F0502020204030204" pitchFamily="34" charset="0"/>
                <a:ea typeface="Calibri" panose="020F0502020204030204" pitchFamily="34" charset="0"/>
                <a:cs typeface="Calibri" panose="020F0502020204030204" pitchFamily="34" charset="0"/>
              </a:rPr>
              <a:t>Por tanto las Fases del proceso de arranque son</a:t>
            </a:r>
            <a:endParaRPr lang="es-MX" dirty="0">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mj-lt"/>
              <a:buAutoNum type="arabicPeriod"/>
            </a:pPr>
            <a:r>
              <a:rPr lang="es-MX" b="1" dirty="0">
                <a:latin typeface="Calibri" panose="020F0502020204030204" pitchFamily="34" charset="0"/>
                <a:ea typeface="Calibri" panose="020F0502020204030204" pitchFamily="34" charset="0"/>
                <a:cs typeface="Calibri" panose="020F0502020204030204" pitchFamily="34" charset="0"/>
              </a:rPr>
              <a:t>Ejecución del POST</a:t>
            </a:r>
            <a:r>
              <a:rPr lang="es-MX" dirty="0">
                <a:latin typeface="Calibri" panose="020F0502020204030204" pitchFamily="34" charset="0"/>
                <a:ea typeface="Calibri" panose="020F0502020204030204" pitchFamily="34" charset="0"/>
                <a:cs typeface="Calibri" panose="020F0502020204030204" pitchFamily="34" charset="0"/>
              </a:rPr>
              <a:t>: El </a:t>
            </a:r>
            <a:r>
              <a:rPr lang="es-MX" dirty="0" err="1">
                <a:latin typeface="Calibri" panose="020F0502020204030204" pitchFamily="34" charset="0"/>
                <a:ea typeface="Calibri" panose="020F0502020204030204" pitchFamily="34" charset="0"/>
                <a:cs typeface="Calibri" panose="020F0502020204030204" pitchFamily="34" charset="0"/>
              </a:rPr>
              <a:t>router</a:t>
            </a:r>
            <a:r>
              <a:rPr lang="es-MX" dirty="0">
                <a:latin typeface="Calibri" panose="020F0502020204030204" pitchFamily="34" charset="0"/>
                <a:ea typeface="Calibri" panose="020F0502020204030204" pitchFamily="34" charset="0"/>
                <a:cs typeface="Calibri" panose="020F0502020204030204" pitchFamily="34" charset="0"/>
              </a:rPr>
              <a:t> realiza una prueba de diagnóstico al encender para verificar que el hardware esté en buen estado.</a:t>
            </a:r>
          </a:p>
          <a:p>
            <a:pPr marL="457200" lvl="0" indent="-457200">
              <a:buFont typeface="+mj-lt"/>
              <a:buAutoNum type="arabicPeriod"/>
            </a:pPr>
            <a:r>
              <a:rPr lang="es-MX" b="1" dirty="0">
                <a:latin typeface="Calibri" panose="020F0502020204030204" pitchFamily="34" charset="0"/>
                <a:ea typeface="Calibri" panose="020F0502020204030204" pitchFamily="34" charset="0"/>
                <a:cs typeface="Calibri" panose="020F0502020204030204" pitchFamily="34" charset="0"/>
              </a:rPr>
              <a:t>Carga del programa de arranque (</a:t>
            </a:r>
            <a:r>
              <a:rPr lang="es-MX" b="1" dirty="0" err="1">
                <a:latin typeface="Calibri" panose="020F0502020204030204" pitchFamily="34" charset="0"/>
                <a:ea typeface="Calibri" panose="020F0502020204030204" pitchFamily="34" charset="0"/>
                <a:cs typeface="Calibri" panose="020F0502020204030204" pitchFamily="34" charset="0"/>
              </a:rPr>
              <a:t>bootstrap</a:t>
            </a:r>
            <a:r>
              <a:rPr lang="es-MX" b="1" dirty="0">
                <a:latin typeface="Calibri" panose="020F0502020204030204" pitchFamily="34" charset="0"/>
                <a:ea typeface="Calibri" panose="020F0502020204030204" pitchFamily="34" charset="0"/>
                <a:cs typeface="Calibri" panose="020F0502020204030204" pitchFamily="34" charset="0"/>
              </a:rPr>
              <a:t>)</a:t>
            </a:r>
            <a:r>
              <a:rPr lang="es-MX" dirty="0">
                <a:latin typeface="Calibri" panose="020F0502020204030204" pitchFamily="34" charset="0"/>
                <a:ea typeface="Calibri" panose="020F0502020204030204" pitchFamily="34" charset="0"/>
                <a:cs typeface="Calibri" panose="020F0502020204030204" pitchFamily="34" charset="0"/>
              </a:rPr>
              <a:t>: El software en la ROM encuentra y carga el programa de arranque.</a:t>
            </a:r>
          </a:p>
          <a:p>
            <a:pPr marL="457200" lvl="0" indent="-457200">
              <a:buFont typeface="+mj-lt"/>
              <a:buAutoNum type="arabicPeriod"/>
            </a:pPr>
            <a:r>
              <a:rPr lang="es-MX" b="1" dirty="0">
                <a:latin typeface="Calibri" panose="020F0502020204030204" pitchFamily="34" charset="0"/>
                <a:ea typeface="Calibri" panose="020F0502020204030204" pitchFamily="34" charset="0"/>
                <a:cs typeface="Calibri" panose="020F0502020204030204" pitchFamily="34" charset="0"/>
              </a:rPr>
              <a:t>Carga del </a:t>
            </a:r>
            <a:r>
              <a:rPr lang="es-MX" b="1" u="sng" dirty="0">
                <a:latin typeface="Calibri" panose="020F0502020204030204" pitchFamily="34" charset="0"/>
                <a:ea typeface="Calibri" panose="020F0502020204030204" pitchFamily="34" charset="0"/>
                <a:cs typeface="Calibri" panose="020F0502020204030204" pitchFamily="34" charset="0"/>
              </a:rPr>
              <a:t>Cisco IOS</a:t>
            </a:r>
            <a:r>
              <a:rPr lang="es-MX" dirty="0">
                <a:latin typeface="Calibri" panose="020F0502020204030204" pitchFamily="34" charset="0"/>
                <a:ea typeface="Calibri" panose="020F0502020204030204" pitchFamily="34" charset="0"/>
                <a:cs typeface="Calibri" panose="020F0502020204030204" pitchFamily="34" charset="0"/>
              </a:rPr>
              <a:t>: El programa de arranque localiza el sistema operativo Cisco IOS en la memoria flash y lo copia en la RAM para su ejecución.</a:t>
            </a:r>
          </a:p>
          <a:p>
            <a:pPr marL="457200" lvl="0" indent="-457200">
              <a:buFont typeface="+mj-lt"/>
              <a:buAutoNum type="arabicPeriod"/>
            </a:pPr>
            <a:r>
              <a:rPr lang="es-MX" b="1" dirty="0">
                <a:latin typeface="Calibri" panose="020F0502020204030204" pitchFamily="34" charset="0"/>
                <a:ea typeface="Calibri" panose="020F0502020204030204" pitchFamily="34" charset="0"/>
                <a:cs typeface="Calibri" panose="020F0502020204030204" pitchFamily="34" charset="0"/>
              </a:rPr>
              <a:t>Carga de la configuración</a:t>
            </a:r>
            <a:r>
              <a:rPr lang="es-MX" dirty="0">
                <a:latin typeface="Calibri" panose="020F0502020204030204" pitchFamily="34" charset="0"/>
                <a:ea typeface="Calibri" panose="020F0502020204030204" pitchFamily="34" charset="0"/>
                <a:cs typeface="Calibri" panose="020F0502020204030204" pitchFamily="34" charset="0"/>
              </a:rPr>
              <a:t>: El </a:t>
            </a:r>
            <a:r>
              <a:rPr lang="es-MX" dirty="0" err="1">
                <a:latin typeface="Calibri" panose="020F0502020204030204" pitchFamily="34" charset="0"/>
                <a:ea typeface="Calibri" panose="020F0502020204030204" pitchFamily="34" charset="0"/>
                <a:cs typeface="Calibri" panose="020F0502020204030204" pitchFamily="34" charset="0"/>
              </a:rPr>
              <a:t>router</a:t>
            </a:r>
            <a:r>
              <a:rPr lang="es-MX" dirty="0">
                <a:latin typeface="Calibri" panose="020F0502020204030204" pitchFamily="34" charset="0"/>
                <a:ea typeface="Calibri" panose="020F0502020204030204" pitchFamily="34" charset="0"/>
                <a:cs typeface="Calibri" panose="020F0502020204030204" pitchFamily="34" charset="0"/>
              </a:rPr>
              <a:t> busca el archivo startup-</a:t>
            </a:r>
            <a:r>
              <a:rPr lang="es-MX" dirty="0" err="1">
                <a:latin typeface="Calibri" panose="020F0502020204030204" pitchFamily="34" charset="0"/>
                <a:ea typeface="Calibri" panose="020F0502020204030204" pitchFamily="34" charset="0"/>
                <a:cs typeface="Calibri" panose="020F0502020204030204" pitchFamily="34" charset="0"/>
              </a:rPr>
              <a:t>config</a:t>
            </a:r>
            <a:r>
              <a:rPr lang="es-MX" dirty="0">
                <a:latin typeface="Calibri" panose="020F0502020204030204" pitchFamily="34" charset="0"/>
                <a:ea typeface="Calibri" panose="020F0502020204030204" pitchFamily="34" charset="0"/>
                <a:cs typeface="Calibri" panose="020F0502020204030204" pitchFamily="34" charset="0"/>
              </a:rPr>
              <a:t> en la NVRAM y lo copia en la RAM como la configuración en ejecución (running-</a:t>
            </a:r>
            <a:r>
              <a:rPr lang="es-MX" dirty="0" err="1">
                <a:latin typeface="Calibri" panose="020F0502020204030204" pitchFamily="34" charset="0"/>
                <a:ea typeface="Calibri" panose="020F0502020204030204" pitchFamily="34" charset="0"/>
                <a:cs typeface="Calibri" panose="020F0502020204030204" pitchFamily="34" charset="0"/>
              </a:rPr>
              <a:t>config</a:t>
            </a:r>
            <a:r>
              <a:rPr lang="es-MX" dirty="0">
                <a:latin typeface="Calibri" panose="020F0502020204030204" pitchFamily="34" charset="0"/>
                <a:ea typeface="Calibri" panose="020F0502020204030204" pitchFamily="34" charset="0"/>
                <a:cs typeface="Calibri" panose="020F0502020204030204" pitchFamily="34" charset="0"/>
              </a:rPr>
              <a:t>). Si no se encuentra, puede intentar ingresar a un modo de configuración inicial. </a:t>
            </a:r>
            <a:endParaRPr lang="es-MX" dirty="0"/>
          </a:p>
        </p:txBody>
      </p:sp>
      <p:sp>
        <p:nvSpPr>
          <p:cNvPr id="4" name="CuadroTexto 3">
            <a:extLst>
              <a:ext uri="{FF2B5EF4-FFF2-40B4-BE49-F238E27FC236}">
                <a16:creationId xmlns:a16="http://schemas.microsoft.com/office/drawing/2014/main" id="{B8CDB36D-148C-233A-7B2E-60A433CD1924}"/>
              </a:ext>
            </a:extLst>
          </p:cNvPr>
          <p:cNvSpPr txBox="1"/>
          <p:nvPr/>
        </p:nvSpPr>
        <p:spPr>
          <a:xfrm>
            <a:off x="754540" y="5327987"/>
            <a:ext cx="4410075" cy="1200329"/>
          </a:xfrm>
          <a:prstGeom prst="rect">
            <a:avLst/>
          </a:prstGeom>
          <a:noFill/>
        </p:spPr>
        <p:txBody>
          <a:bodyPr wrap="square">
            <a:spAutoFit/>
          </a:bodyPr>
          <a:lstStyle/>
          <a:p>
            <a:r>
              <a:rPr lang="es-MX" dirty="0">
                <a:latin typeface="Calibri" panose="020F0502020204030204" pitchFamily="34" charset="0"/>
                <a:ea typeface="Calibri" panose="020F0502020204030204" pitchFamily="34" charset="0"/>
                <a:cs typeface="Calibri" panose="020F0502020204030204" pitchFamily="34" charset="0"/>
              </a:rPr>
              <a:t>1) Realizar el POST. </a:t>
            </a:r>
          </a:p>
          <a:p>
            <a:r>
              <a:rPr lang="es-ES" dirty="0">
                <a:latin typeface="Calibri" panose="020F0502020204030204" pitchFamily="34" charset="0"/>
                <a:ea typeface="Calibri" panose="020F0502020204030204" pitchFamily="34" charset="0"/>
                <a:cs typeface="Calibri" panose="020F0502020204030204" pitchFamily="34" charset="0"/>
              </a:rPr>
              <a:t>2) Ejecutar el cargador de </a:t>
            </a:r>
            <a:r>
              <a:rPr lang="es-ES" dirty="0" err="1">
                <a:latin typeface="Calibri" panose="020F0502020204030204" pitchFamily="34" charset="0"/>
                <a:ea typeface="Calibri" panose="020F0502020204030204" pitchFamily="34" charset="0"/>
                <a:cs typeface="Calibri" panose="020F0502020204030204" pitchFamily="34" charset="0"/>
              </a:rPr>
              <a:t>bootstrap</a:t>
            </a:r>
            <a:r>
              <a:rPr lang="es-ES" dirty="0">
                <a:latin typeface="Calibri" panose="020F0502020204030204" pitchFamily="34" charset="0"/>
                <a:ea typeface="Calibri" panose="020F0502020204030204" pitchFamily="34" charset="0"/>
                <a:cs typeface="Calibri" panose="020F0502020204030204" pitchFamily="34" charset="0"/>
              </a:rPr>
              <a:t>. </a:t>
            </a:r>
          </a:p>
          <a:p>
            <a:r>
              <a:rPr lang="es-MX" dirty="0">
                <a:latin typeface="Calibri" panose="020F0502020204030204" pitchFamily="34" charset="0"/>
                <a:ea typeface="Calibri" panose="020F0502020204030204" pitchFamily="34" charset="0"/>
                <a:cs typeface="Calibri" panose="020F0502020204030204" pitchFamily="34" charset="0"/>
              </a:rPr>
              <a:t>3) Localizar el IOS. </a:t>
            </a:r>
          </a:p>
          <a:p>
            <a:endParaRPr lang="es-MX" b="1" dirty="0"/>
          </a:p>
        </p:txBody>
      </p:sp>
      <p:sp>
        <p:nvSpPr>
          <p:cNvPr id="5" name="CuadroTexto 4">
            <a:extLst>
              <a:ext uri="{FF2B5EF4-FFF2-40B4-BE49-F238E27FC236}">
                <a16:creationId xmlns:a16="http://schemas.microsoft.com/office/drawing/2014/main" id="{43D726B2-76CB-E5D8-AD6C-4EDC867661FC}"/>
              </a:ext>
            </a:extLst>
          </p:cNvPr>
          <p:cNvSpPr txBox="1"/>
          <p:nvPr/>
        </p:nvSpPr>
        <p:spPr>
          <a:xfrm>
            <a:off x="4987637" y="5327987"/>
            <a:ext cx="6589583" cy="923330"/>
          </a:xfrm>
          <a:prstGeom prst="rect">
            <a:avLst/>
          </a:prstGeom>
          <a:noFill/>
        </p:spPr>
        <p:txBody>
          <a:bodyPr wrap="square">
            <a:spAutoFit/>
          </a:bodyPr>
          <a:lstStyle/>
          <a:p>
            <a:r>
              <a:rPr lang="es-ES" dirty="0">
                <a:latin typeface="Calibri" panose="020F0502020204030204" pitchFamily="34" charset="0"/>
                <a:ea typeface="Calibri" panose="020F0502020204030204" pitchFamily="34" charset="0"/>
                <a:cs typeface="Calibri" panose="020F0502020204030204" pitchFamily="34" charset="0"/>
              </a:rPr>
              <a:t>4) </a:t>
            </a:r>
            <a:r>
              <a:rPr lang="es-MX" dirty="0">
                <a:latin typeface="Calibri" panose="020F0502020204030204" pitchFamily="34" charset="0"/>
                <a:ea typeface="Calibri" panose="020F0502020204030204" pitchFamily="34" charset="0"/>
                <a:cs typeface="Calibri" panose="020F0502020204030204" pitchFamily="34" charset="0"/>
              </a:rPr>
              <a:t>Cargar el IOS.</a:t>
            </a:r>
          </a:p>
          <a:p>
            <a:r>
              <a:rPr lang="es-ES" dirty="0">
                <a:latin typeface="Calibri" panose="020F0502020204030204" pitchFamily="34" charset="0"/>
                <a:ea typeface="Calibri" panose="020F0502020204030204" pitchFamily="34" charset="0"/>
                <a:cs typeface="Calibri" panose="020F0502020204030204" pitchFamily="34" charset="0"/>
              </a:rPr>
              <a:t>5) Localizar el archivo de configuración. </a:t>
            </a:r>
          </a:p>
          <a:p>
            <a:r>
              <a:rPr lang="es-ES" dirty="0">
                <a:latin typeface="Calibri" panose="020F0502020204030204" pitchFamily="34" charset="0"/>
                <a:ea typeface="Calibri" panose="020F0502020204030204" pitchFamily="34" charset="0"/>
                <a:cs typeface="Calibri" panose="020F0502020204030204" pitchFamily="34" charset="0"/>
              </a:rPr>
              <a:t>6) Ejecutar el archivo de configuración o ingresar en el modo </a:t>
            </a:r>
            <a:r>
              <a:rPr lang="es-ES" dirty="0" err="1">
                <a:latin typeface="Calibri" panose="020F0502020204030204" pitchFamily="34" charset="0"/>
                <a:ea typeface="Calibri" panose="020F0502020204030204" pitchFamily="34" charset="0"/>
                <a:cs typeface="Calibri" panose="020F0502020204030204" pitchFamily="34" charset="0"/>
              </a:rPr>
              <a:t>setup</a:t>
            </a:r>
            <a:r>
              <a:rPr lang="es-ES"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5871386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4647426"/>
          </a:xfrm>
          <a:prstGeom prst="rect">
            <a:avLst/>
          </a:prstGeom>
        </p:spPr>
        <p:txBody>
          <a:bodyPr wrap="square">
            <a:spAutoFit/>
          </a:bodyPr>
          <a:lstStyle/>
          <a:p>
            <a:r>
              <a:rPr lang="es-MX" dirty="0"/>
              <a:t> </a:t>
            </a:r>
            <a:r>
              <a:rPr lang="es-MX" sz="2000" b="1" dirty="0"/>
              <a:t>¿QUÉ ES EL ENRUTAMIENTO?</a:t>
            </a:r>
          </a:p>
          <a:p>
            <a:endParaRPr lang="es-MX" sz="2400" b="1" dirty="0"/>
          </a:p>
          <a:p>
            <a:r>
              <a:rPr lang="es-MX" b="1" dirty="0"/>
              <a:t>S</a:t>
            </a:r>
            <a:r>
              <a:rPr lang="es-MX" dirty="0"/>
              <a:t>e refiere al proceso en el que los enrutadores aprenden sobre </a:t>
            </a:r>
            <a:r>
              <a:rPr lang="es-MX" b="1" dirty="0"/>
              <a:t>redes remotas</a:t>
            </a:r>
            <a:r>
              <a:rPr lang="es-MX" dirty="0"/>
              <a:t>, encuentran todas las rutas posibles para llegar a ellas y luego escogen </a:t>
            </a:r>
            <a:r>
              <a:rPr lang="es-MX" b="1" dirty="0"/>
              <a:t>las mejores rutas </a:t>
            </a:r>
            <a:r>
              <a:rPr lang="es-MX" dirty="0"/>
              <a:t>(las más </a:t>
            </a:r>
            <a:r>
              <a:rPr lang="es-MX" b="1" dirty="0"/>
              <a:t>rápidas</a:t>
            </a:r>
            <a:r>
              <a:rPr lang="es-MX" dirty="0"/>
              <a:t>) para intercambiar datos entre las mismas.</a:t>
            </a:r>
          </a:p>
          <a:p>
            <a:endParaRPr lang="es-MX" dirty="0"/>
          </a:p>
          <a:p>
            <a:r>
              <a:rPr lang="es-MX" dirty="0"/>
              <a:t>En otras palabras, los enrutadores deciden -después de examinar la dirección IP de destino- dónde enviar los paquetes, para que eventualmente lleguen a su red de destino, o simplemente descartan los paquetes si es que, por algún motivo, fallan todos los intentos de </a:t>
            </a:r>
            <a:r>
              <a:rPr lang="es-MX" dirty="0" err="1"/>
              <a:t>enrutarlos</a:t>
            </a:r>
            <a:r>
              <a:rPr lang="es-MX" dirty="0"/>
              <a:t>.</a:t>
            </a:r>
          </a:p>
          <a:p>
            <a:endParaRPr lang="es-MX" dirty="0"/>
          </a:p>
          <a:p>
            <a:r>
              <a:rPr lang="es-MX" dirty="0"/>
              <a:t>Sin embargo, al principio un enrutador no conoce ninguna otra red que no sea la que está directamente conectada al enrutador mismo. Para que un enrutador pueda llevar a cabo el enrutamiento, primero debe saber de la existencia de redes remotas y para que esto suceda, el enrutador tiene que estar configurado con </a:t>
            </a:r>
            <a:r>
              <a:rPr lang="es-MX" b="1" dirty="0"/>
              <a:t>enrutamiento dinámico </a:t>
            </a:r>
            <a:r>
              <a:rPr lang="es-MX" dirty="0"/>
              <a:t>y / o </a:t>
            </a:r>
            <a:r>
              <a:rPr lang="es-MX" b="1" dirty="0"/>
              <a:t>enrutamiento estático</a:t>
            </a:r>
            <a:r>
              <a:rPr lang="es-MX" dirty="0"/>
              <a:t>. </a:t>
            </a:r>
          </a:p>
          <a:p>
            <a:endParaRPr lang="es-MX" dirty="0"/>
          </a:p>
          <a:p>
            <a:endParaRPr lang="es-MX" dirty="0"/>
          </a:p>
        </p:txBody>
      </p:sp>
    </p:spTree>
    <p:extLst>
      <p:ext uri="{BB962C8B-B14F-4D97-AF65-F5344CB8AC3E}">
        <p14:creationId xmlns:p14="http://schemas.microsoft.com/office/powerpoint/2010/main" val="18750791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6186309"/>
          </a:xfrm>
          <a:prstGeom prst="rect">
            <a:avLst/>
          </a:prstGeom>
        </p:spPr>
        <p:txBody>
          <a:bodyPr wrap="square">
            <a:spAutoFit/>
          </a:bodyPr>
          <a:lstStyle/>
          <a:p>
            <a:r>
              <a:rPr lang="es-MX" dirty="0"/>
              <a:t> </a:t>
            </a:r>
            <a:r>
              <a:rPr lang="es-MX" b="1" dirty="0"/>
              <a:t>ENRUTAMIENTO DINÁMICO Y ESTÁTICO.</a:t>
            </a:r>
          </a:p>
          <a:p>
            <a:endParaRPr lang="es-MX" dirty="0"/>
          </a:p>
          <a:p>
            <a:r>
              <a:rPr lang="es-MX" dirty="0"/>
              <a:t>Los enrutadores no necesitan ninguna configuración en absoluto para que puedan alcanzar sus redes conectadas directamente, pero si la necesitan para poder enviar en paquete a una red remota</a:t>
            </a:r>
          </a:p>
          <a:p>
            <a:endParaRPr lang="es-MX" dirty="0"/>
          </a:p>
          <a:p>
            <a:r>
              <a:rPr lang="es-MX" dirty="0"/>
              <a:t>Por tanto para lograr este fin podemos usar el </a:t>
            </a:r>
            <a:r>
              <a:rPr lang="es-MX" b="1" dirty="0"/>
              <a:t>enrutamiento estático</a:t>
            </a:r>
            <a:r>
              <a:rPr lang="es-MX" dirty="0"/>
              <a:t>, el </a:t>
            </a:r>
            <a:r>
              <a:rPr lang="es-MX" b="1" dirty="0"/>
              <a:t>enrutamiento dinámico </a:t>
            </a:r>
            <a:r>
              <a:rPr lang="es-MX" dirty="0"/>
              <a:t>o </a:t>
            </a:r>
            <a:r>
              <a:rPr lang="es-MX" b="1" u="sng" dirty="0"/>
              <a:t>ambos.</a:t>
            </a:r>
            <a:endParaRPr lang="es-MX" dirty="0"/>
          </a:p>
          <a:p>
            <a:endParaRPr lang="es-MX" b="1" dirty="0"/>
          </a:p>
          <a:p>
            <a:r>
              <a:rPr lang="es-MX" b="1" dirty="0"/>
              <a:t>Enrutamiento dinámico: </a:t>
            </a:r>
            <a:r>
              <a:rPr lang="es-MX" dirty="0"/>
              <a:t>Se logra mediante el uso de un o más protocolos de enrutamiento, como  </a:t>
            </a:r>
            <a:r>
              <a:rPr lang="es-MX" b="1" dirty="0"/>
              <a:t>RIP</a:t>
            </a:r>
            <a:r>
              <a:rPr lang="es-MX" dirty="0"/>
              <a:t>, </a:t>
            </a:r>
            <a:r>
              <a:rPr lang="es-MX" b="1" dirty="0"/>
              <a:t>IGRP</a:t>
            </a:r>
            <a:r>
              <a:rPr lang="es-MX" dirty="0"/>
              <a:t>, </a:t>
            </a:r>
            <a:r>
              <a:rPr lang="es-MX" b="1" dirty="0"/>
              <a:t>EIGRP </a:t>
            </a:r>
            <a:r>
              <a:rPr lang="es-MX" dirty="0"/>
              <a:t>u </a:t>
            </a:r>
            <a:r>
              <a:rPr lang="es-MX" b="1" dirty="0"/>
              <a:t>OSPF</a:t>
            </a:r>
            <a:r>
              <a:rPr lang="es-MX" dirty="0"/>
              <a:t>. Un enrutador configurado con un protocolo de enrutamiento dinámico puede:</a:t>
            </a:r>
          </a:p>
          <a:p>
            <a:endParaRPr lang="es-MX" dirty="0"/>
          </a:p>
          <a:p>
            <a:pPr marL="800100" lvl="1" indent="-342900">
              <a:buFont typeface="+mj-lt"/>
              <a:buAutoNum type="arabicPeriod"/>
            </a:pPr>
            <a:r>
              <a:rPr lang="es-MX" dirty="0"/>
              <a:t>Recibir y procesa las actualizaciones enviadas por enrutadores vecinos, que ejecutan el mismo protocolo de enrutamiento.</a:t>
            </a:r>
          </a:p>
          <a:p>
            <a:pPr marL="800100" lvl="1" indent="-342900">
              <a:buFont typeface="+mj-lt"/>
              <a:buAutoNum type="arabicPeriod"/>
            </a:pPr>
            <a:r>
              <a:rPr lang="es-MX" dirty="0"/>
              <a:t>Aprender sobre redes remotas por medio de las actualizaciones recibidas de enrutadores vecinos.</a:t>
            </a:r>
          </a:p>
          <a:p>
            <a:pPr marL="800100" lvl="1" indent="-342900">
              <a:buFont typeface="+mj-lt"/>
              <a:buAutoNum type="arabicPeriod"/>
            </a:pPr>
            <a:r>
              <a:rPr lang="es-MX" dirty="0"/>
              <a:t>Si existiesen múltiples rutas a una mismo red remota, aplicar un algoritmo para determinar la mejor ruta, la más rápida.</a:t>
            </a:r>
          </a:p>
          <a:p>
            <a:pPr marL="800100" lvl="1" indent="-342900">
              <a:buFont typeface="+mj-lt"/>
              <a:buAutoNum type="arabicPeriod"/>
            </a:pPr>
            <a:r>
              <a:rPr lang="es-MX" dirty="0"/>
              <a:t>Anunciar, a enrutadores vecinos, sobre sus rutas a redes remotas.</a:t>
            </a:r>
          </a:p>
          <a:p>
            <a:pPr marL="800100" lvl="1" indent="-342900">
              <a:buFont typeface="+mj-lt"/>
              <a:buAutoNum type="arabicPeriod"/>
            </a:pPr>
            <a:r>
              <a:rPr lang="es-MX" dirty="0"/>
              <a:t>Actualizar sus rutas cuando, por algún motivo, ocurre algún cambio en la topología.</a:t>
            </a:r>
          </a:p>
          <a:p>
            <a:endParaRPr lang="es-MX" dirty="0"/>
          </a:p>
        </p:txBody>
      </p:sp>
    </p:spTree>
    <p:extLst>
      <p:ext uri="{BB962C8B-B14F-4D97-AF65-F5344CB8AC3E}">
        <p14:creationId xmlns:p14="http://schemas.microsoft.com/office/powerpoint/2010/main" val="16574208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6740307"/>
          </a:xfrm>
          <a:prstGeom prst="rect">
            <a:avLst/>
          </a:prstGeom>
        </p:spPr>
        <p:txBody>
          <a:bodyPr wrap="square">
            <a:spAutoFit/>
          </a:bodyPr>
          <a:lstStyle/>
          <a:p>
            <a:r>
              <a:rPr lang="es-MX" dirty="0"/>
              <a:t> </a:t>
            </a:r>
            <a:endParaRPr lang="es-MX" b="1" dirty="0"/>
          </a:p>
          <a:p>
            <a:endParaRPr lang="es-MX" dirty="0"/>
          </a:p>
          <a:p>
            <a:r>
              <a:rPr lang="es-MX" dirty="0"/>
              <a:t>El enrutamiento dinámico posee un tiempo de convergencia más rápido y su escalabilidad es mucho mejor en redes más grandes, comparándolo con el enrutamiento estático, pero a costo de más utilización de recursos como son </a:t>
            </a:r>
            <a:r>
              <a:rPr lang="es-MX" b="1" dirty="0"/>
              <a:t>RAM</a:t>
            </a:r>
            <a:r>
              <a:rPr lang="es-MX" dirty="0"/>
              <a:t>, ciclos del </a:t>
            </a:r>
            <a:r>
              <a:rPr lang="es-MX" b="1" dirty="0"/>
              <a:t>CPU </a:t>
            </a:r>
            <a:r>
              <a:rPr lang="es-MX" dirty="0"/>
              <a:t>(micro-procesador del enrutador) y también más ancho de banda de la propia red.</a:t>
            </a:r>
          </a:p>
          <a:p>
            <a:endParaRPr lang="es-MX" dirty="0"/>
          </a:p>
          <a:p>
            <a:r>
              <a:rPr lang="es-MX" b="1" dirty="0"/>
              <a:t>Enrutamiento estático: </a:t>
            </a:r>
            <a:r>
              <a:rPr lang="es-MX" dirty="0"/>
              <a:t>El</a:t>
            </a:r>
            <a:r>
              <a:rPr lang="es-MX" b="1" dirty="0"/>
              <a:t> </a:t>
            </a:r>
            <a:r>
              <a:rPr lang="es-MX" dirty="0"/>
              <a:t>administrador configura </a:t>
            </a:r>
            <a:r>
              <a:rPr lang="es-MX" u="sng" dirty="0"/>
              <a:t>manualmente</a:t>
            </a:r>
            <a:r>
              <a:rPr lang="es-MX" dirty="0"/>
              <a:t> las rutas en el enrutador, es decir, le indica por donde llegar a las redes remotas. Es como decirle al enrutador, literalmente; "Para enviar paquetes a la red </a:t>
            </a:r>
            <a:r>
              <a:rPr lang="es-MX" b="1" dirty="0"/>
              <a:t>X</a:t>
            </a:r>
            <a:r>
              <a:rPr lang="es-MX" dirty="0"/>
              <a:t>, envíalos por la interfaz </a:t>
            </a:r>
            <a:r>
              <a:rPr lang="es-MX" b="1" dirty="0"/>
              <a:t>Y </a:t>
            </a:r>
            <a:r>
              <a:rPr lang="es-MX" dirty="0"/>
              <a:t>o a la dirección IP del </a:t>
            </a:r>
            <a:r>
              <a:rPr lang="es-MX" u="sng" dirty="0"/>
              <a:t>próximo salto </a:t>
            </a:r>
            <a:r>
              <a:rPr lang="es-MX" b="1" dirty="0"/>
              <a:t>Z</a:t>
            </a:r>
            <a:r>
              <a:rPr lang="es-MX" dirty="0"/>
              <a:t>".</a:t>
            </a:r>
          </a:p>
          <a:p>
            <a:endParaRPr lang="es-MX" dirty="0"/>
          </a:p>
          <a:p>
            <a:r>
              <a:rPr lang="es-MX" dirty="0"/>
              <a:t>Ventajas</a:t>
            </a:r>
          </a:p>
          <a:p>
            <a:pPr marL="342900" indent="-342900">
              <a:buFont typeface="+mj-lt"/>
              <a:buAutoNum type="arabicPeriod"/>
            </a:pPr>
            <a:endParaRPr lang="es-MX" dirty="0"/>
          </a:p>
          <a:p>
            <a:pPr marL="342900" indent="-342900">
              <a:buFont typeface="+mj-lt"/>
              <a:buAutoNum type="arabicPeriod"/>
            </a:pPr>
            <a:r>
              <a:rPr lang="es-MX" b="1" dirty="0"/>
              <a:t>Control total sobre selección de ruta</a:t>
            </a:r>
            <a:r>
              <a:rPr lang="es-MX" dirty="0"/>
              <a:t>: Una ruta estática le indica al enrutador, exactamente dónde enviar los datos, por lo tanto, implementando enrutamiento estático también en los otros enrutadores de la red, el administrador puede crear una ruta específica y controlada, por donde los paquetes pueden llegar a su destino final.</a:t>
            </a:r>
          </a:p>
          <a:p>
            <a:pPr marL="342900" indent="-342900">
              <a:buFont typeface="+mj-lt"/>
              <a:buAutoNum type="arabicPeriod"/>
            </a:pPr>
            <a:endParaRPr lang="es-MX" dirty="0"/>
          </a:p>
          <a:p>
            <a:pPr marL="342900" indent="-342900">
              <a:buFont typeface="+mj-lt"/>
              <a:buAutoNum type="arabicPeriod"/>
            </a:pPr>
            <a:r>
              <a:rPr lang="es-MX" b="1" dirty="0"/>
              <a:t>Disponibilidad</a:t>
            </a:r>
            <a:r>
              <a:rPr lang="es-MX" dirty="0"/>
              <a:t>: Debido a la </a:t>
            </a:r>
            <a:r>
              <a:rPr lang="es-MX" u="sng" dirty="0"/>
              <a:t>naturaleza autónoma de los protocolos dinámicos</a:t>
            </a:r>
            <a:r>
              <a:rPr lang="es-MX" dirty="0"/>
              <a:t>, y en caso que ocurra alguna falla, no siempre estará disponible la misma ruta, es decir, podría haber una ruta alternativa en su lugar si la original falla. Con rutas estáticas esto no es una opción. A menos que algo falle físicamente con la ruta estática, la misma siempre estará allí ... </a:t>
            </a:r>
            <a:r>
              <a:rPr lang="es-MX" b="1" dirty="0"/>
              <a:t>es ... estática.</a:t>
            </a:r>
          </a:p>
          <a:p>
            <a:pPr marL="342900" indent="-342900">
              <a:buFont typeface="+mj-lt"/>
              <a:buAutoNum type="arabicPeriod"/>
            </a:pPr>
            <a:endParaRPr lang="es-MX" b="1" dirty="0"/>
          </a:p>
          <a:p>
            <a:pPr marL="342900" indent="-342900">
              <a:buFont typeface="+mj-lt"/>
              <a:buAutoNum type="arabicPeriod"/>
            </a:pPr>
            <a:endParaRPr lang="es-MX" b="1" dirty="0"/>
          </a:p>
        </p:txBody>
      </p:sp>
    </p:spTree>
    <p:extLst>
      <p:ext uri="{BB962C8B-B14F-4D97-AF65-F5344CB8AC3E}">
        <p14:creationId xmlns:p14="http://schemas.microsoft.com/office/powerpoint/2010/main" val="40407535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3416320"/>
          </a:xfrm>
          <a:prstGeom prst="rect">
            <a:avLst/>
          </a:prstGeom>
        </p:spPr>
        <p:txBody>
          <a:bodyPr wrap="square">
            <a:spAutoFit/>
          </a:bodyPr>
          <a:lstStyle/>
          <a:p>
            <a:r>
              <a:rPr lang="es-MX" dirty="0"/>
              <a:t> </a:t>
            </a:r>
            <a:endParaRPr lang="es-MX" b="1" dirty="0"/>
          </a:p>
          <a:p>
            <a:endParaRPr lang="es-MX" dirty="0"/>
          </a:p>
          <a:p>
            <a:pPr marL="342900" indent="-342900">
              <a:buFont typeface="+mj-lt"/>
              <a:buAutoNum type="arabicPeriod" startAt="3"/>
            </a:pPr>
            <a:r>
              <a:rPr lang="es-MX" b="1" dirty="0"/>
              <a:t>Fácil de implementar (en redes pequeñas)</a:t>
            </a:r>
            <a:r>
              <a:rPr lang="es-MX" dirty="0"/>
              <a:t>:Las rutas estáticas se configuran una línea de comandos a la vez, por lo tanto, si su red sólo tiene unos pocos enrutadores, configurar enrutamiento estático es muy fácil. Pero recordemos que se puede tornar muy complicado muy rápido en redes más y más grandes.</a:t>
            </a:r>
          </a:p>
          <a:p>
            <a:pPr marL="342900" indent="-342900">
              <a:buFont typeface="+mj-lt"/>
              <a:buAutoNum type="arabicPeriod" startAt="3"/>
            </a:pPr>
            <a:endParaRPr lang="es-MX" b="1" dirty="0"/>
          </a:p>
          <a:p>
            <a:pPr marL="342900" indent="-342900">
              <a:buFont typeface="+mj-lt"/>
              <a:buAutoNum type="arabicPeriod" startAt="3"/>
            </a:pPr>
            <a:r>
              <a:rPr lang="es-MX" b="1" dirty="0"/>
              <a:t>Bajos "Gastos Generales"</a:t>
            </a:r>
            <a:r>
              <a:rPr lang="es-MX" dirty="0"/>
              <a:t>(</a:t>
            </a:r>
            <a:r>
              <a:rPr lang="es-MX" dirty="0" err="1"/>
              <a:t>Overhead</a:t>
            </a:r>
            <a:r>
              <a:rPr lang="es-MX" dirty="0"/>
              <a:t>):Debido que al enrutador se le ha indicado literalmente por donde o a dónde enviar los datos, no es necesario para el mismo hacer cálculos para encontrar el mejor camino. Y además, y si por alguna razón la/s rutas estáticas fallan, el enrutador no calculará una ruta alternativa.</a:t>
            </a:r>
          </a:p>
          <a:p>
            <a:pPr marL="342900" indent="-342900">
              <a:buFont typeface="+mj-lt"/>
              <a:buAutoNum type="arabicPeriod" startAt="3"/>
            </a:pPr>
            <a:endParaRPr lang="es-MX" b="1" dirty="0"/>
          </a:p>
        </p:txBody>
      </p:sp>
    </p:spTree>
    <p:extLst>
      <p:ext uri="{BB962C8B-B14F-4D97-AF65-F5344CB8AC3E}">
        <p14:creationId xmlns:p14="http://schemas.microsoft.com/office/powerpoint/2010/main" val="37163827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5632311"/>
          </a:xfrm>
          <a:prstGeom prst="rect">
            <a:avLst/>
          </a:prstGeom>
        </p:spPr>
        <p:txBody>
          <a:bodyPr wrap="square">
            <a:spAutoFit/>
          </a:bodyPr>
          <a:lstStyle/>
          <a:p>
            <a:r>
              <a:rPr lang="es-MX" dirty="0"/>
              <a:t> </a:t>
            </a:r>
            <a:r>
              <a:rPr lang="es-MX" b="1" dirty="0"/>
              <a:t>Algunos conceptos importantes:</a:t>
            </a:r>
          </a:p>
          <a:p>
            <a:endParaRPr lang="es-MX" dirty="0"/>
          </a:p>
          <a:p>
            <a:r>
              <a:rPr lang="es-MX" b="1" dirty="0"/>
              <a:t>Sistema Autónomo: </a:t>
            </a:r>
          </a:p>
          <a:p>
            <a:endParaRPr lang="es-MX" b="1" dirty="0"/>
          </a:p>
          <a:p>
            <a:r>
              <a:rPr lang="es-MX" b="1" dirty="0"/>
              <a:t>S</a:t>
            </a:r>
            <a:r>
              <a:rPr lang="es-MX" dirty="0"/>
              <a:t>e refiere a una red (o un grupo de redes) que está </a:t>
            </a:r>
            <a:r>
              <a:rPr lang="es-MX" u="sng" dirty="0"/>
              <a:t>bajo una sola administración</a:t>
            </a:r>
            <a:r>
              <a:rPr lang="es-MX" dirty="0"/>
              <a:t>. Podría ser una empresa, un grupo de edificios pertenecientes a la misma empresa, tu propio proveedor de servicios de Internet, o incluso tu red doméstica. </a:t>
            </a:r>
          </a:p>
          <a:p>
            <a:endParaRPr lang="es-MX" i="1" dirty="0"/>
          </a:p>
          <a:p>
            <a:r>
              <a:rPr lang="es-MX" b="1" i="1" dirty="0"/>
              <a:t>La red de Internet </a:t>
            </a:r>
            <a:r>
              <a:rPr lang="es-MX" dirty="0"/>
              <a:t>está formada por </a:t>
            </a:r>
            <a:r>
              <a:rPr lang="es-MX" i="1" dirty="0"/>
              <a:t>sistemas autónomos conectados entre sí</a:t>
            </a:r>
            <a:r>
              <a:rPr lang="es-MX" dirty="0"/>
              <a:t>. Los paquetes de datos son transmitidos, de un nodo a otro, dentro de un mismo </a:t>
            </a:r>
            <a:r>
              <a:rPr lang="es-MX" b="1" dirty="0"/>
              <a:t>SA </a:t>
            </a:r>
            <a:r>
              <a:rPr lang="es-MX" dirty="0"/>
              <a:t>hasta que necesiten llegar a otro nodo en un </a:t>
            </a:r>
            <a:r>
              <a:rPr lang="es-MX" b="1" dirty="0"/>
              <a:t>SA </a:t>
            </a:r>
            <a:r>
              <a:rPr lang="es-MX" dirty="0"/>
              <a:t>diferente. </a:t>
            </a:r>
          </a:p>
          <a:p>
            <a:endParaRPr lang="es-MX" dirty="0"/>
          </a:p>
          <a:p>
            <a:r>
              <a:rPr lang="es-MX" dirty="0" err="1"/>
              <a:t>P.e</a:t>
            </a:r>
            <a:r>
              <a:rPr lang="es-MX" dirty="0"/>
              <a:t>. Para que los datos de una red doméstica en Argentina puedan llegar a otra red remota en Alemania, fue necesario, que los paquetes sean transmitidos, dentro de tu red doméstica, a su </a:t>
            </a:r>
            <a:r>
              <a:rPr lang="es-MX" b="1" dirty="0"/>
              <a:t>Puerta de Enlace </a:t>
            </a:r>
            <a:r>
              <a:rPr lang="es-MX" dirty="0"/>
              <a:t>predeterminada (es el enrutador que conecta tu red, a </a:t>
            </a:r>
            <a:r>
              <a:rPr lang="es-MX" b="1" dirty="0"/>
              <a:t>Internet</a:t>
            </a:r>
            <a:r>
              <a:rPr lang="es-MX" dirty="0"/>
              <a:t>). Tu enrutador, entonces, </a:t>
            </a:r>
            <a:r>
              <a:rPr lang="es-MX" dirty="0" err="1"/>
              <a:t>rutea</a:t>
            </a:r>
            <a:r>
              <a:rPr lang="es-MX" dirty="0"/>
              <a:t> los paquetes a un </a:t>
            </a:r>
            <a:r>
              <a:rPr lang="es-MX" b="1" dirty="0"/>
              <a:t>SA </a:t>
            </a:r>
            <a:r>
              <a:rPr lang="es-MX" dirty="0"/>
              <a:t>diferente, que es el </a:t>
            </a:r>
            <a:r>
              <a:rPr lang="es-MX" b="1" dirty="0"/>
              <a:t>SA </a:t>
            </a:r>
            <a:r>
              <a:rPr lang="es-MX" dirty="0"/>
              <a:t>de tu proveedor de Internet, y desde allí a un tercer </a:t>
            </a:r>
            <a:r>
              <a:rPr lang="es-MX" b="1" dirty="0"/>
              <a:t>SA</a:t>
            </a:r>
            <a:r>
              <a:rPr lang="es-MX" dirty="0"/>
              <a:t>, y así sucesivamente hasta que los paquetes lleguen a su red de destino final o </a:t>
            </a:r>
            <a:r>
              <a:rPr lang="es-MX" b="1" dirty="0"/>
              <a:t>SA</a:t>
            </a:r>
            <a:r>
              <a:rPr lang="es-MX" dirty="0"/>
              <a:t>, en Alemania.</a:t>
            </a:r>
          </a:p>
          <a:p>
            <a:endParaRPr lang="es-MX" b="1" dirty="0"/>
          </a:p>
          <a:p>
            <a:endParaRPr lang="es-MX" b="1" dirty="0"/>
          </a:p>
        </p:txBody>
      </p:sp>
    </p:spTree>
    <p:extLst>
      <p:ext uri="{BB962C8B-B14F-4D97-AF65-F5344CB8AC3E}">
        <p14:creationId xmlns:p14="http://schemas.microsoft.com/office/powerpoint/2010/main" val="21208509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4247317"/>
          </a:xfrm>
          <a:prstGeom prst="rect">
            <a:avLst/>
          </a:prstGeom>
        </p:spPr>
        <p:txBody>
          <a:bodyPr wrap="square">
            <a:spAutoFit/>
          </a:bodyPr>
          <a:lstStyle/>
          <a:p>
            <a:r>
              <a:rPr lang="es-MX" dirty="0"/>
              <a:t> </a:t>
            </a:r>
            <a:endParaRPr lang="es-MX" b="1" dirty="0"/>
          </a:p>
          <a:p>
            <a:endParaRPr lang="es-MX" dirty="0"/>
          </a:p>
          <a:p>
            <a:r>
              <a:rPr lang="es-MX" dirty="0"/>
              <a:t>Es importante entender el concepto de lo que es un </a:t>
            </a:r>
            <a:r>
              <a:rPr lang="es-MX" b="1" dirty="0"/>
              <a:t>SA</a:t>
            </a:r>
            <a:r>
              <a:rPr lang="es-MX" dirty="0"/>
              <a:t>, porque algunos protocolos de enrutamiento como ser </a:t>
            </a:r>
            <a:r>
              <a:rPr lang="es-MX" b="1" dirty="0"/>
              <a:t>EIGRP </a:t>
            </a:r>
            <a:r>
              <a:rPr lang="es-MX" dirty="0"/>
              <a:t>y </a:t>
            </a:r>
            <a:r>
              <a:rPr lang="es-MX" b="1" dirty="0"/>
              <a:t>OSPF</a:t>
            </a:r>
            <a:r>
              <a:rPr lang="es-MX" dirty="0"/>
              <a:t>, utilizan este concepto en su lógica, es decir, entienden y reconocen los límites delineados por un sistema autónomo.</a:t>
            </a:r>
          </a:p>
          <a:p>
            <a:endParaRPr lang="es-MX" dirty="0"/>
          </a:p>
          <a:p>
            <a:r>
              <a:rPr lang="es-MX" dirty="0"/>
              <a:t>A los sistemas autónomos se les asigna un número único entre </a:t>
            </a:r>
            <a:r>
              <a:rPr lang="es-MX" b="1" dirty="0"/>
              <a:t>1 </a:t>
            </a:r>
            <a:r>
              <a:rPr lang="es-MX" dirty="0"/>
              <a:t>y </a:t>
            </a:r>
            <a:r>
              <a:rPr lang="es-MX" b="1" dirty="0"/>
              <a:t>65535</a:t>
            </a:r>
            <a:r>
              <a:rPr lang="es-MX" dirty="0"/>
              <a:t>, estos números son administrados, al igual que las direcciones IP, por la </a:t>
            </a:r>
            <a:r>
              <a:rPr lang="es-MX" b="1" dirty="0"/>
              <a:t>Internet </a:t>
            </a:r>
            <a:r>
              <a:rPr lang="es-MX" b="1" dirty="0" err="1"/>
              <a:t>Assigned</a:t>
            </a:r>
            <a:r>
              <a:rPr lang="es-MX" b="1" dirty="0"/>
              <a:t> </a:t>
            </a:r>
            <a:r>
              <a:rPr lang="es-MX" b="1" dirty="0" err="1"/>
              <a:t>Numbers</a:t>
            </a:r>
            <a:r>
              <a:rPr lang="es-MX" b="1" dirty="0"/>
              <a:t> </a:t>
            </a:r>
            <a:r>
              <a:rPr lang="es-MX" b="1" dirty="0" err="1"/>
              <a:t>Authority</a:t>
            </a:r>
            <a:r>
              <a:rPr lang="es-MX" b="1" dirty="0"/>
              <a:t> </a:t>
            </a:r>
            <a:r>
              <a:rPr lang="es-MX" dirty="0"/>
              <a:t>(</a:t>
            </a:r>
            <a:r>
              <a:rPr lang="es-MX" b="1" dirty="0"/>
              <a:t>IANA</a:t>
            </a:r>
            <a:r>
              <a:rPr lang="es-MX" dirty="0"/>
              <a:t>), y también como las direcciones IP, hay números de SA </a:t>
            </a:r>
            <a:r>
              <a:rPr lang="es-MX" b="1" dirty="0"/>
              <a:t>privados </a:t>
            </a:r>
            <a:r>
              <a:rPr lang="es-MX" dirty="0"/>
              <a:t>y </a:t>
            </a:r>
            <a:r>
              <a:rPr lang="es-MX" b="1" dirty="0"/>
              <a:t>públicos</a:t>
            </a:r>
            <a:r>
              <a:rPr lang="es-MX" dirty="0"/>
              <a:t>.</a:t>
            </a:r>
          </a:p>
          <a:p>
            <a:endParaRPr lang="es-MX" dirty="0"/>
          </a:p>
          <a:p>
            <a:r>
              <a:rPr lang="es-MX" dirty="0"/>
              <a:t>Por ejemplo, si estas implementando </a:t>
            </a:r>
            <a:r>
              <a:rPr lang="es-MX" b="1" dirty="0"/>
              <a:t>EIGRP </a:t>
            </a:r>
            <a:r>
              <a:rPr lang="es-MX" dirty="0"/>
              <a:t>como protocolo de enrutamiento interno (el cual requiere la asignación de números de SA como parte de su configuración), deberás utilizar un número SA </a:t>
            </a:r>
            <a:r>
              <a:rPr lang="es-MX" b="1" dirty="0"/>
              <a:t>privado</a:t>
            </a:r>
            <a:r>
              <a:rPr lang="es-MX" dirty="0"/>
              <a:t>. Por lo contrario, si vas a asignar un número SA a una red que se conecta directamente a la red troncal (</a:t>
            </a:r>
            <a:r>
              <a:rPr lang="es-MX" dirty="0" err="1"/>
              <a:t>backbone</a:t>
            </a:r>
            <a:r>
              <a:rPr lang="es-MX" dirty="0"/>
              <a:t>) de Internet, deberás solicitar a IANA un número de SA </a:t>
            </a:r>
            <a:r>
              <a:rPr lang="es-MX" b="1" dirty="0"/>
              <a:t>público</a:t>
            </a:r>
            <a:r>
              <a:rPr lang="es-MX" dirty="0"/>
              <a:t>.</a:t>
            </a:r>
            <a:endParaRPr lang="es-MX" b="1" dirty="0"/>
          </a:p>
        </p:txBody>
      </p:sp>
    </p:spTree>
    <p:extLst>
      <p:ext uri="{BB962C8B-B14F-4D97-AF65-F5344CB8AC3E}">
        <p14:creationId xmlns:p14="http://schemas.microsoft.com/office/powerpoint/2010/main" val="3261676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5539978"/>
          </a:xfrm>
          <a:prstGeom prst="rect">
            <a:avLst/>
          </a:prstGeom>
        </p:spPr>
        <p:txBody>
          <a:bodyPr wrap="square">
            <a:spAutoFit/>
          </a:bodyPr>
          <a:lstStyle/>
          <a:p>
            <a:r>
              <a:rPr lang="es-MX" dirty="0"/>
              <a:t> </a:t>
            </a:r>
            <a:endParaRPr lang="es-MX" b="1" dirty="0"/>
          </a:p>
          <a:p>
            <a:endParaRPr lang="es-MX" dirty="0"/>
          </a:p>
          <a:p>
            <a:pPr algn="just"/>
            <a:r>
              <a:rPr lang="es-ES" sz="2000" b="1" i="0" u="none" strike="noStrike" baseline="0" dirty="0">
                <a:solidFill>
                  <a:srgbClr val="000000"/>
                </a:solidFill>
                <a:latin typeface="+mj-lt"/>
              </a:rPr>
              <a:t>En los enrutadores: un puerto o interfase – una red</a:t>
            </a:r>
          </a:p>
          <a:p>
            <a:pPr algn="just"/>
            <a:endParaRPr lang="es-ES" sz="2000" dirty="0">
              <a:solidFill>
                <a:srgbClr val="000000"/>
              </a:solidFill>
              <a:latin typeface="+mj-lt"/>
            </a:endParaRPr>
          </a:p>
          <a:p>
            <a:pPr algn="just"/>
            <a:r>
              <a:rPr lang="es-ES" sz="2000" b="0" i="0" u="none" strike="noStrike" baseline="0" dirty="0">
                <a:solidFill>
                  <a:srgbClr val="000000"/>
                </a:solidFill>
                <a:latin typeface="+mj-lt"/>
              </a:rPr>
              <a:t>Un concepto importante: </a:t>
            </a:r>
            <a:r>
              <a:rPr lang="es-ES" sz="2000" b="1" i="0" u="none" strike="noStrike" baseline="0" dirty="0">
                <a:solidFill>
                  <a:srgbClr val="000000"/>
                </a:solidFill>
                <a:latin typeface="+mj-lt"/>
              </a:rPr>
              <a:t>"Cada una de las interfaces de un enrutador, pertenece a su propia red, únicamente".</a:t>
            </a:r>
          </a:p>
          <a:p>
            <a:pPr algn="just"/>
            <a:endParaRPr lang="es-ES" sz="2000" b="0" i="0" u="none" strike="noStrike" baseline="0" dirty="0">
              <a:solidFill>
                <a:srgbClr val="000000"/>
              </a:solidFill>
              <a:latin typeface="+mj-lt"/>
            </a:endParaRPr>
          </a:p>
          <a:p>
            <a:pPr algn="just"/>
            <a:r>
              <a:rPr lang="es-ES" sz="2000" b="1" i="0" u="none" strike="noStrike" baseline="0" dirty="0">
                <a:solidFill>
                  <a:srgbClr val="000000"/>
                </a:solidFill>
                <a:latin typeface="+mj-lt"/>
              </a:rPr>
              <a:t>El objetivo principal de un enrutador es rutear paquetes entre redes remotas</a:t>
            </a:r>
            <a:r>
              <a:rPr lang="es-ES" sz="2000" b="0" i="0" u="none" strike="noStrike" baseline="0" dirty="0">
                <a:solidFill>
                  <a:srgbClr val="000000"/>
                </a:solidFill>
                <a:latin typeface="+mj-lt"/>
              </a:rPr>
              <a:t>, y para que esto suceda, obviamente, el enrutador tiene que tener diferentes redes conectadas a sus interfaces, si el enrutador tiene dos de sus interfaces conectadas a la misma red, no puede haber ningún enrutamiento.</a:t>
            </a:r>
          </a:p>
          <a:p>
            <a:pPr algn="just"/>
            <a:endParaRPr lang="es-ES" sz="2000" b="0" i="0" u="none" strike="noStrike" baseline="0" dirty="0">
              <a:solidFill>
                <a:srgbClr val="000000"/>
              </a:solidFill>
              <a:latin typeface="+mj-lt"/>
            </a:endParaRPr>
          </a:p>
          <a:p>
            <a:pPr algn="just"/>
            <a:r>
              <a:rPr lang="es-ES" sz="2000" b="1" i="0" u="none" strike="noStrike" baseline="0" dirty="0">
                <a:solidFill>
                  <a:srgbClr val="000000"/>
                </a:solidFill>
                <a:latin typeface="+mj-lt"/>
              </a:rPr>
              <a:t>Si intentáramos configurar dos o más de las interfaces de un enrutador en la </a:t>
            </a:r>
            <a:r>
              <a:rPr lang="es-ES" sz="2000" b="1" i="0" u="sng" strike="noStrike" baseline="0" dirty="0">
                <a:solidFill>
                  <a:srgbClr val="000000"/>
                </a:solidFill>
                <a:latin typeface="+mj-lt"/>
              </a:rPr>
              <a:t>misma red</a:t>
            </a:r>
            <a:r>
              <a:rPr lang="es-ES" sz="2000" b="1" i="0" u="none" strike="noStrike" baseline="0" dirty="0">
                <a:solidFill>
                  <a:srgbClr val="000000"/>
                </a:solidFill>
                <a:latin typeface="+mj-lt"/>
              </a:rPr>
              <a:t>, obtendríamos un error</a:t>
            </a:r>
            <a:r>
              <a:rPr lang="es-ES" sz="2000" b="0" i="0" u="none" strike="noStrike" baseline="0" dirty="0">
                <a:solidFill>
                  <a:srgbClr val="000000"/>
                </a:solidFill>
                <a:latin typeface="+mj-lt"/>
              </a:rPr>
              <a:t>. Cada interfaz en un enrutador, es una red diferente. </a:t>
            </a:r>
          </a:p>
          <a:p>
            <a:pPr algn="just"/>
            <a:endParaRPr lang="es-ES" sz="2000" dirty="0">
              <a:solidFill>
                <a:srgbClr val="000000"/>
              </a:solidFill>
              <a:latin typeface="+mj-lt"/>
            </a:endParaRPr>
          </a:p>
          <a:p>
            <a:pPr algn="just"/>
            <a:r>
              <a:rPr lang="es-ES" sz="2000" b="0" i="0" u="none" strike="noStrike" baseline="0" dirty="0">
                <a:solidFill>
                  <a:srgbClr val="000000"/>
                </a:solidFill>
                <a:latin typeface="+mj-lt"/>
              </a:rPr>
              <a:t>Desde la perspectiva de un enrutador las redes están, o </a:t>
            </a:r>
            <a:r>
              <a:rPr lang="es-ES" sz="2000" b="1" i="0" u="none" strike="noStrike" baseline="0" dirty="0">
                <a:solidFill>
                  <a:srgbClr val="000000"/>
                </a:solidFill>
                <a:latin typeface="+mj-lt"/>
              </a:rPr>
              <a:t>directamente conectadas</a:t>
            </a:r>
            <a:r>
              <a:rPr lang="es-ES" sz="2000" b="0" i="0" u="none" strike="noStrike" baseline="0" dirty="0">
                <a:solidFill>
                  <a:srgbClr val="000000"/>
                </a:solidFill>
                <a:latin typeface="+mj-lt"/>
              </a:rPr>
              <a:t>, o son </a:t>
            </a:r>
            <a:r>
              <a:rPr lang="es-ES" sz="2000" b="1" i="0" u="none" strike="noStrike" baseline="0" dirty="0">
                <a:solidFill>
                  <a:srgbClr val="000000"/>
                </a:solidFill>
                <a:latin typeface="+mj-lt"/>
              </a:rPr>
              <a:t>redes remotas</a:t>
            </a:r>
            <a:r>
              <a:rPr lang="es-ES" sz="2000" b="0" i="0" u="none" strike="noStrike" baseline="0" dirty="0">
                <a:solidFill>
                  <a:srgbClr val="000000"/>
                </a:solidFill>
                <a:latin typeface="+mj-lt"/>
              </a:rPr>
              <a:t>.</a:t>
            </a:r>
          </a:p>
          <a:p>
            <a:pPr algn="just"/>
            <a:endParaRPr lang="es-ES" sz="1800" b="0" i="0" u="none" strike="noStrike" baseline="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5036471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2308324"/>
          </a:xfrm>
          <a:prstGeom prst="rect">
            <a:avLst/>
          </a:prstGeom>
        </p:spPr>
        <p:txBody>
          <a:bodyPr wrap="square">
            <a:spAutoFit/>
          </a:bodyPr>
          <a:lstStyle/>
          <a:p>
            <a:r>
              <a:rPr lang="es-MX" dirty="0"/>
              <a:t> </a:t>
            </a:r>
            <a:r>
              <a:rPr lang="es-MX" sz="1800" b="1" i="0" u="none" strike="noStrike" baseline="0" dirty="0">
                <a:solidFill>
                  <a:srgbClr val="000000"/>
                </a:solidFill>
                <a:latin typeface="Trebuchet MS" panose="020B0603020202020204" pitchFamily="34" charset="0"/>
              </a:rPr>
              <a:t>Redes Directamente Conectadas:</a:t>
            </a:r>
          </a:p>
          <a:p>
            <a:endParaRPr lang="es-MX" sz="1800" b="0" i="0" u="none" strike="noStrike" baseline="0" dirty="0">
              <a:solidFill>
                <a:srgbClr val="000000"/>
              </a:solidFill>
              <a:latin typeface="Trebuchet MS" panose="020B0603020202020204" pitchFamily="34" charset="0"/>
            </a:endParaRPr>
          </a:p>
          <a:p>
            <a:pPr algn="just"/>
            <a:r>
              <a:rPr lang="es-ES" sz="1800" b="0" i="0" u="none" strike="noStrike" baseline="0" dirty="0">
                <a:solidFill>
                  <a:srgbClr val="000000"/>
                </a:solidFill>
                <a:latin typeface="Consolas" panose="020B0609020204030204" pitchFamily="49" charset="0"/>
              </a:rPr>
              <a:t>Este concepto es muy simple. En la siguiente topología tenemos dos redes distintas conectadas por un enrutador. Una de las interfaces del enrutador se configuró con una dirección IP perteneciente a la red </a:t>
            </a:r>
            <a:r>
              <a:rPr lang="es-ES" sz="1800" b="1" i="0" u="none" strike="noStrike" baseline="0" dirty="0">
                <a:solidFill>
                  <a:srgbClr val="000000"/>
                </a:solidFill>
                <a:latin typeface="Consolas" panose="020B0609020204030204" pitchFamily="49" charset="0"/>
              </a:rPr>
              <a:t>A</a:t>
            </a:r>
            <a:r>
              <a:rPr lang="es-ES" sz="1800" b="0" i="0" u="none" strike="noStrike" baseline="0" dirty="0">
                <a:solidFill>
                  <a:srgbClr val="000000"/>
                </a:solidFill>
                <a:latin typeface="Consolas" panose="020B0609020204030204" pitchFamily="49" charset="0"/>
              </a:rPr>
              <a:t>, y la otra interfaz se configuró con la dirección IP perteneciente a la red </a:t>
            </a:r>
            <a:r>
              <a:rPr lang="es-ES" sz="1800" b="1" i="0" u="none" strike="noStrike" baseline="0" dirty="0">
                <a:solidFill>
                  <a:srgbClr val="000000"/>
                </a:solidFill>
                <a:latin typeface="Consolas" panose="020B0609020204030204" pitchFamily="49" charset="0"/>
              </a:rPr>
              <a:t>B</a:t>
            </a:r>
            <a:r>
              <a:rPr lang="es-ES" sz="1800" b="0" i="0" u="none" strike="noStrike" baseline="0" dirty="0">
                <a:solidFill>
                  <a:srgbClr val="000000"/>
                </a:solidFill>
                <a:latin typeface="Consolas" panose="020B0609020204030204" pitchFamily="49" charset="0"/>
              </a:rPr>
              <a:t>. Esto significa que el enrutador sabe cómo llegar a cualquiera de estas dos redes, porque las mismas están directamente conectadas al enrutador, como se observa.</a:t>
            </a:r>
          </a:p>
        </p:txBody>
      </p:sp>
      <p:pic>
        <p:nvPicPr>
          <p:cNvPr id="4" name="Imagen 3">
            <a:extLst>
              <a:ext uri="{FF2B5EF4-FFF2-40B4-BE49-F238E27FC236}">
                <a16:creationId xmlns:a16="http://schemas.microsoft.com/office/drawing/2014/main" id="{475F0976-91CC-9DE8-3D65-A2111B59CB47}"/>
              </a:ext>
            </a:extLst>
          </p:cNvPr>
          <p:cNvPicPr>
            <a:picLocks noChangeAspect="1"/>
          </p:cNvPicPr>
          <p:nvPr/>
        </p:nvPicPr>
        <p:blipFill rotWithShape="1">
          <a:blip r:embed="rId2"/>
          <a:srcRect l="6944" t="5044" r="2082" b="1253"/>
          <a:stretch/>
        </p:blipFill>
        <p:spPr>
          <a:xfrm>
            <a:off x="1832565" y="2895543"/>
            <a:ext cx="8293394" cy="3615069"/>
          </a:xfrm>
          <a:prstGeom prst="rect">
            <a:avLst/>
          </a:prstGeom>
        </p:spPr>
      </p:pic>
    </p:spTree>
    <p:extLst>
      <p:ext uri="{BB962C8B-B14F-4D97-AF65-F5344CB8AC3E}">
        <p14:creationId xmlns:p14="http://schemas.microsoft.com/office/powerpoint/2010/main" val="7238877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1754326"/>
          </a:xfrm>
          <a:prstGeom prst="rect">
            <a:avLst/>
          </a:prstGeom>
        </p:spPr>
        <p:txBody>
          <a:bodyPr wrap="square">
            <a:spAutoFit/>
          </a:bodyPr>
          <a:lstStyle/>
          <a:p>
            <a:r>
              <a:rPr lang="es-MX" sz="1800" b="1" i="0" u="none" strike="noStrike" baseline="0" dirty="0">
                <a:solidFill>
                  <a:srgbClr val="000000"/>
                </a:solidFill>
                <a:latin typeface="Trebuchet MS" panose="020B0603020202020204" pitchFamily="34" charset="0"/>
              </a:rPr>
              <a:t>Redes remotas:</a:t>
            </a:r>
          </a:p>
          <a:p>
            <a:endParaRPr lang="es-MX" sz="1800" b="0" i="0" u="none" strike="noStrike" baseline="0" dirty="0">
              <a:solidFill>
                <a:srgbClr val="000000"/>
              </a:solidFill>
              <a:latin typeface="Trebuchet MS" panose="020B0603020202020204" pitchFamily="34" charset="0"/>
            </a:endParaRPr>
          </a:p>
          <a:p>
            <a:pPr algn="just"/>
            <a:r>
              <a:rPr lang="es-ES" sz="1800" b="0" i="0" u="sng" strike="noStrike" baseline="0" dirty="0">
                <a:solidFill>
                  <a:srgbClr val="000000"/>
                </a:solidFill>
                <a:latin typeface="Consolas" panose="020B0609020204030204" pitchFamily="49" charset="0"/>
              </a:rPr>
              <a:t>Una red remota es una red que está separada, de otra red, por dos o más </a:t>
            </a:r>
            <a:r>
              <a:rPr lang="es-ES" sz="1800" b="0" i="0" u="sng" strike="noStrike" baseline="0" dirty="0" err="1">
                <a:solidFill>
                  <a:srgbClr val="000000"/>
                </a:solidFill>
                <a:latin typeface="Consolas" panose="020B0609020204030204" pitchFamily="49" charset="0"/>
              </a:rPr>
              <a:t>enrutadores</a:t>
            </a:r>
            <a:r>
              <a:rPr lang="es-ES" sz="1800" b="0" i="0" u="none" strike="noStrike" baseline="0" dirty="0" err="1">
                <a:solidFill>
                  <a:srgbClr val="000000"/>
                </a:solidFill>
                <a:latin typeface="Consolas" panose="020B0609020204030204" pitchFamily="49" charset="0"/>
              </a:rPr>
              <a:t>.En</a:t>
            </a:r>
            <a:r>
              <a:rPr lang="es-ES" sz="1800" b="0" i="0" u="none" strike="noStrike" baseline="0" dirty="0">
                <a:solidFill>
                  <a:srgbClr val="000000"/>
                </a:solidFill>
                <a:latin typeface="Consolas" panose="020B0609020204030204" pitchFamily="49" charset="0"/>
              </a:rPr>
              <a:t> otras palabras, si un paquete necesita </a:t>
            </a:r>
            <a:r>
              <a:rPr lang="es-ES" sz="1800" b="1" i="0" u="none" strike="noStrike" baseline="0" dirty="0">
                <a:solidFill>
                  <a:srgbClr val="000000"/>
                </a:solidFill>
                <a:latin typeface="Consolas" panose="020B0609020204030204" pitchFamily="49" charset="0"/>
              </a:rPr>
              <a:t>saltar </a:t>
            </a:r>
            <a:r>
              <a:rPr lang="es-ES" sz="1800" b="0" i="0" u="none" strike="noStrike" baseline="0" dirty="0">
                <a:solidFill>
                  <a:srgbClr val="000000"/>
                </a:solidFill>
                <a:latin typeface="Consolas" panose="020B0609020204030204" pitchFamily="49" charset="0"/>
              </a:rPr>
              <a:t>(pasar a través) de dos o más enrutadores para llegar a una red determinada, esta red será una red remota, </a:t>
            </a:r>
            <a:r>
              <a:rPr lang="es-ES" sz="1800" b="0" i="0" u="none" strike="noStrike" baseline="0" dirty="0">
                <a:solidFill>
                  <a:srgbClr val="000000"/>
                </a:solidFill>
                <a:latin typeface="Trebuchet MS" panose="020B0603020202020204" pitchFamily="34" charset="0"/>
              </a:rPr>
              <a:t>porque la red no está </a:t>
            </a:r>
            <a:r>
              <a:rPr lang="es-ES" sz="1800" b="0" i="0" u="none" strike="noStrike" baseline="0" dirty="0">
                <a:solidFill>
                  <a:srgbClr val="000000"/>
                </a:solidFill>
                <a:latin typeface="Consolas" panose="020B0609020204030204" pitchFamily="49" charset="0"/>
              </a:rPr>
              <a:t>conectada directamente.</a:t>
            </a:r>
            <a:endParaRPr lang="es-MX" sz="1800" b="0" i="0" u="none" strike="noStrike" baseline="0" dirty="0">
              <a:solidFill>
                <a:srgbClr val="000000"/>
              </a:solidFill>
              <a:latin typeface="Trebuchet MS" panose="020B0603020202020204" pitchFamily="34" charset="0"/>
            </a:endParaRPr>
          </a:p>
        </p:txBody>
      </p:sp>
      <p:pic>
        <p:nvPicPr>
          <p:cNvPr id="5" name="Imagen 4">
            <a:extLst>
              <a:ext uri="{FF2B5EF4-FFF2-40B4-BE49-F238E27FC236}">
                <a16:creationId xmlns:a16="http://schemas.microsoft.com/office/drawing/2014/main" id="{520656CE-7BFA-3324-945C-6604992D67AB}"/>
              </a:ext>
            </a:extLst>
          </p:cNvPr>
          <p:cNvPicPr>
            <a:picLocks noChangeAspect="1"/>
          </p:cNvPicPr>
          <p:nvPr/>
        </p:nvPicPr>
        <p:blipFill rotWithShape="1">
          <a:blip r:embed="rId2"/>
          <a:srcRect t="2498"/>
          <a:stretch/>
        </p:blipFill>
        <p:spPr>
          <a:xfrm>
            <a:off x="243775" y="2414586"/>
            <a:ext cx="11675874" cy="4386261"/>
          </a:xfrm>
          <a:prstGeom prst="rect">
            <a:avLst/>
          </a:prstGeom>
        </p:spPr>
      </p:pic>
    </p:spTree>
    <p:extLst>
      <p:ext uri="{BB962C8B-B14F-4D97-AF65-F5344CB8AC3E}">
        <p14:creationId xmlns:p14="http://schemas.microsoft.com/office/powerpoint/2010/main" val="4717354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2308324"/>
          </a:xfrm>
          <a:prstGeom prst="rect">
            <a:avLst/>
          </a:prstGeom>
        </p:spPr>
        <p:txBody>
          <a:bodyPr wrap="square">
            <a:spAutoFit/>
          </a:bodyPr>
          <a:lstStyle/>
          <a:p>
            <a:r>
              <a:rPr lang="es-MX" sz="1800" b="1" i="0" u="none" strike="noStrike" baseline="0" dirty="0">
                <a:solidFill>
                  <a:srgbClr val="000000"/>
                </a:solidFill>
                <a:latin typeface="Trebuchet MS" panose="020B0603020202020204" pitchFamily="34" charset="0"/>
              </a:rPr>
              <a:t>SALTO</a:t>
            </a:r>
          </a:p>
          <a:p>
            <a:endParaRPr lang="es-MX" sz="1800" b="0" i="0" u="none" strike="noStrike" baseline="0" dirty="0">
              <a:solidFill>
                <a:srgbClr val="000000"/>
              </a:solidFill>
              <a:latin typeface="Trebuchet MS" panose="020B0603020202020204" pitchFamily="34" charset="0"/>
            </a:endParaRPr>
          </a:p>
          <a:p>
            <a:pPr algn="just"/>
            <a:r>
              <a:rPr lang="es-ES" dirty="0">
                <a:solidFill>
                  <a:srgbClr val="000000"/>
                </a:solidFill>
                <a:latin typeface="Consolas" panose="020B0609020204030204" pitchFamily="49" charset="0"/>
              </a:rPr>
              <a:t>C</a:t>
            </a:r>
            <a:r>
              <a:rPr lang="es-ES" sz="1800" b="0" i="0" u="none" strike="noStrike" baseline="0" dirty="0">
                <a:solidFill>
                  <a:srgbClr val="000000"/>
                </a:solidFill>
                <a:latin typeface="Consolas" panose="020B0609020204030204" pitchFamily="49" charset="0"/>
              </a:rPr>
              <a:t>ada vez, que los paquetes pasan a través de otro enrutador (es decir, los paquetes entrar en una interfaz y salen por otra interfaz del enrutador), se denomina "</a:t>
            </a:r>
            <a:r>
              <a:rPr lang="es-ES" sz="1800" b="1" i="0" u="none" strike="noStrike" baseline="0" dirty="0">
                <a:solidFill>
                  <a:srgbClr val="000000"/>
                </a:solidFill>
                <a:latin typeface="Consolas" panose="020B0609020204030204" pitchFamily="49" charset="0"/>
              </a:rPr>
              <a:t>salto</a:t>
            </a:r>
            <a:r>
              <a:rPr lang="es-ES" sz="1800" b="0" i="0" u="none" strike="noStrike" baseline="0" dirty="0">
                <a:solidFill>
                  <a:srgbClr val="000000"/>
                </a:solidFill>
                <a:latin typeface="Consolas" panose="020B0609020204030204" pitchFamily="49" charset="0"/>
              </a:rPr>
              <a:t>" (Hop, en ingles), y la información continuará "</a:t>
            </a:r>
            <a:r>
              <a:rPr lang="es-ES" sz="1800" b="1" i="0" u="none" strike="noStrike" baseline="0" dirty="0">
                <a:solidFill>
                  <a:srgbClr val="000000"/>
                </a:solidFill>
                <a:latin typeface="Consolas" panose="020B0609020204030204" pitchFamily="49" charset="0"/>
              </a:rPr>
              <a:t>saltando</a:t>
            </a:r>
            <a:r>
              <a:rPr lang="es-ES" sz="1800" b="0" i="0" u="none" strike="noStrike" baseline="0" dirty="0">
                <a:solidFill>
                  <a:srgbClr val="000000"/>
                </a:solidFill>
                <a:latin typeface="Consolas" panose="020B0609020204030204" pitchFamily="49" charset="0"/>
              </a:rPr>
              <a:t>" de enrutador en enrutador, hasta que llegue a su destino. Por lo tanto, en nuestro escenario podemos ver que hay 2 saltos desde la red A </a:t>
            </a:r>
            <a:r>
              <a:rPr lang="es-ES" sz="1800" b="0" i="0" u="none" strike="noStrike" baseline="0" dirty="0" err="1">
                <a:solidFill>
                  <a:srgbClr val="000000"/>
                </a:solidFill>
                <a:latin typeface="Consolas" panose="020B0609020204030204" pitchFamily="49" charset="0"/>
              </a:rPr>
              <a:t>a</a:t>
            </a:r>
            <a:r>
              <a:rPr lang="es-ES" sz="1800" b="0" i="0" u="none" strike="noStrike" baseline="0" dirty="0">
                <a:solidFill>
                  <a:srgbClr val="000000"/>
                </a:solidFill>
                <a:latin typeface="Consolas" panose="020B0609020204030204" pitchFamily="49" charset="0"/>
              </a:rPr>
              <a:t> la red C, y 1 salto desde la red A </a:t>
            </a:r>
            <a:r>
              <a:rPr lang="es-ES" sz="1800" b="0" i="0" u="none" strike="noStrike" baseline="0" dirty="0" err="1">
                <a:solidFill>
                  <a:srgbClr val="000000"/>
                </a:solidFill>
                <a:latin typeface="Consolas" panose="020B0609020204030204" pitchFamily="49" charset="0"/>
              </a:rPr>
              <a:t>a</a:t>
            </a:r>
            <a:r>
              <a:rPr lang="es-ES" sz="1800" b="0" i="0" u="none" strike="noStrike" baseline="0" dirty="0">
                <a:solidFill>
                  <a:srgbClr val="000000"/>
                </a:solidFill>
                <a:latin typeface="Consolas" panose="020B0609020204030204" pitchFamily="49" charset="0"/>
              </a:rPr>
              <a:t> la red B:</a:t>
            </a:r>
          </a:p>
          <a:p>
            <a:pPr algn="just"/>
            <a:endParaRPr lang="es-MX" sz="1800" b="0" i="0" u="none" strike="noStrike" baseline="0" dirty="0">
              <a:solidFill>
                <a:srgbClr val="000000"/>
              </a:solidFill>
              <a:latin typeface="Trebuchet MS" panose="020B0603020202020204" pitchFamily="34" charset="0"/>
            </a:endParaRPr>
          </a:p>
        </p:txBody>
      </p:sp>
      <p:pic>
        <p:nvPicPr>
          <p:cNvPr id="4" name="Imagen 3">
            <a:extLst>
              <a:ext uri="{FF2B5EF4-FFF2-40B4-BE49-F238E27FC236}">
                <a16:creationId xmlns:a16="http://schemas.microsoft.com/office/drawing/2014/main" id="{E77CE3A1-AC87-C3DA-B7D3-8FBF0747849E}"/>
              </a:ext>
            </a:extLst>
          </p:cNvPr>
          <p:cNvPicPr>
            <a:picLocks noChangeAspect="1"/>
          </p:cNvPicPr>
          <p:nvPr/>
        </p:nvPicPr>
        <p:blipFill>
          <a:blip r:embed="rId2"/>
          <a:stretch>
            <a:fillRect/>
          </a:stretch>
        </p:blipFill>
        <p:spPr>
          <a:xfrm>
            <a:off x="366252" y="2726707"/>
            <a:ext cx="8701086" cy="3748768"/>
          </a:xfrm>
          <a:prstGeom prst="rect">
            <a:avLst/>
          </a:prstGeom>
        </p:spPr>
      </p:pic>
      <p:sp>
        <p:nvSpPr>
          <p:cNvPr id="7" name="CuadroTexto 6">
            <a:extLst>
              <a:ext uri="{FF2B5EF4-FFF2-40B4-BE49-F238E27FC236}">
                <a16:creationId xmlns:a16="http://schemas.microsoft.com/office/drawing/2014/main" id="{B08682F4-6AFF-FD84-3EF2-25769B19AFD5}"/>
              </a:ext>
            </a:extLst>
          </p:cNvPr>
          <p:cNvSpPr txBox="1"/>
          <p:nvPr/>
        </p:nvSpPr>
        <p:spPr>
          <a:xfrm>
            <a:off x="9314121" y="3429000"/>
            <a:ext cx="2511627" cy="1477328"/>
          </a:xfrm>
          <a:prstGeom prst="rect">
            <a:avLst/>
          </a:prstGeom>
          <a:noFill/>
        </p:spPr>
        <p:txBody>
          <a:bodyPr wrap="square">
            <a:spAutoFit/>
          </a:bodyPr>
          <a:lstStyle/>
          <a:p>
            <a:r>
              <a:rPr lang="es-ES" sz="1800" b="1" i="0" u="none" strike="noStrike" baseline="0" dirty="0">
                <a:solidFill>
                  <a:srgbClr val="000000"/>
                </a:solidFill>
                <a:latin typeface="Consolas" panose="020B0609020204030204" pitchFamily="49" charset="0"/>
              </a:rPr>
              <a:t>RIP</a:t>
            </a:r>
            <a:r>
              <a:rPr lang="es-ES" sz="1800" b="0" i="0" u="none" strike="noStrike" baseline="0" dirty="0">
                <a:solidFill>
                  <a:srgbClr val="000000"/>
                </a:solidFill>
                <a:latin typeface="Consolas" panose="020B0609020204030204" pitchFamily="49" charset="0"/>
              </a:rPr>
              <a:t>, utiliza </a:t>
            </a:r>
            <a:r>
              <a:rPr lang="es-ES" sz="1800" b="1" i="0" u="none" strike="noStrike" baseline="0" dirty="0">
                <a:solidFill>
                  <a:srgbClr val="000000"/>
                </a:solidFill>
                <a:latin typeface="Consolas" panose="020B0609020204030204" pitchFamily="49" charset="0"/>
              </a:rPr>
              <a:t>conteo de saltos </a:t>
            </a:r>
            <a:r>
              <a:rPr lang="es-ES" sz="1800" b="0" i="0" u="none" strike="noStrike" baseline="0" dirty="0">
                <a:solidFill>
                  <a:srgbClr val="000000"/>
                </a:solidFill>
                <a:latin typeface="Consolas" panose="020B0609020204030204" pitchFamily="49" charset="0"/>
              </a:rPr>
              <a:t>como métrica para determinar las mejores rutas.</a:t>
            </a:r>
            <a:endParaRPr lang="es-MX" dirty="0"/>
          </a:p>
        </p:txBody>
      </p:sp>
    </p:spTree>
    <p:extLst>
      <p:ext uri="{BB962C8B-B14F-4D97-AF65-F5344CB8AC3E}">
        <p14:creationId xmlns:p14="http://schemas.microsoft.com/office/powerpoint/2010/main" val="38675959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6E2AB59-9D70-7E48-ABA9-517249202026}"/>
              </a:ext>
            </a:extLst>
          </p:cNvPr>
          <p:cNvSpPr/>
          <p:nvPr/>
        </p:nvSpPr>
        <p:spPr>
          <a:xfrm>
            <a:off x="395435" y="1297338"/>
            <a:ext cx="11226020" cy="1200329"/>
          </a:xfrm>
          <a:prstGeom prst="rect">
            <a:avLst/>
          </a:prstGeom>
        </p:spPr>
        <p:txBody>
          <a:bodyPr wrap="square">
            <a:spAutoFit/>
          </a:bodyPr>
          <a:lstStyle/>
          <a:p>
            <a:r>
              <a:rPr lang="es-MX" dirty="0"/>
              <a:t> </a:t>
            </a:r>
            <a:r>
              <a:rPr lang="es-MX" sz="1800" b="1" i="0" u="none" strike="noStrike" baseline="0" dirty="0">
                <a:solidFill>
                  <a:srgbClr val="000000"/>
                </a:solidFill>
                <a:latin typeface="Trebuchet MS" panose="020B0603020202020204" pitchFamily="34" charset="0"/>
              </a:rPr>
              <a:t>tarea:</a:t>
            </a:r>
          </a:p>
          <a:p>
            <a:endParaRPr lang="es-MX" b="1" dirty="0">
              <a:solidFill>
                <a:srgbClr val="000000"/>
              </a:solidFill>
              <a:latin typeface="Trebuchet MS" panose="020B0603020202020204" pitchFamily="34" charset="0"/>
            </a:endParaRPr>
          </a:p>
          <a:p>
            <a:r>
              <a:rPr lang="es-MX" sz="1800" b="1" i="0" u="none" strike="noStrike" baseline="0" dirty="0">
                <a:solidFill>
                  <a:srgbClr val="000000"/>
                </a:solidFill>
                <a:latin typeface="Trebuchet MS" panose="020B0603020202020204" pitchFamily="34" charset="0"/>
              </a:rPr>
              <a:t>Tipos de enrutadores</a:t>
            </a:r>
          </a:p>
          <a:p>
            <a:endParaRPr lang="es-MX" sz="1800" b="0" i="0" u="none" strike="noStrike" baseline="0"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24165793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07160-6FD6-D7AB-D14D-0D1DCC6B87B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6DE80799-8C5B-F6EA-C95A-856F31D290F5}"/>
              </a:ext>
            </a:extLst>
          </p:cNvPr>
          <p:cNvSpPr/>
          <p:nvPr/>
        </p:nvSpPr>
        <p:spPr>
          <a:xfrm>
            <a:off x="366252" y="587219"/>
            <a:ext cx="11226020" cy="2585323"/>
          </a:xfrm>
          <a:prstGeom prst="rect">
            <a:avLst/>
          </a:prstGeom>
        </p:spPr>
        <p:txBody>
          <a:bodyPr wrap="square">
            <a:spAutoFit/>
          </a:bodyPr>
          <a:lstStyle/>
          <a:p>
            <a:r>
              <a:rPr lang="es-MX" dirty="0"/>
              <a:t> </a:t>
            </a:r>
            <a:r>
              <a:rPr lang="es-MX" sz="1800" b="1" i="0" u="none" strike="noStrike" baseline="0" dirty="0">
                <a:solidFill>
                  <a:srgbClr val="000000"/>
                </a:solidFill>
                <a:latin typeface="Trebuchet MS" panose="020B0603020202020204" pitchFamily="34" charset="0"/>
              </a:rPr>
              <a:t>Tabla de rutas o tabla de enrutamiento:</a:t>
            </a:r>
          </a:p>
          <a:p>
            <a:endParaRPr lang="es-MX" sz="1800" b="0" i="0" u="none" strike="noStrike" baseline="0" dirty="0">
              <a:solidFill>
                <a:srgbClr val="000000"/>
              </a:solidFill>
              <a:latin typeface="Trebuchet MS" panose="020B0603020202020204" pitchFamily="34" charset="0"/>
            </a:endParaRPr>
          </a:p>
          <a:p>
            <a:r>
              <a:rPr lang="es-ES" sz="1800" b="0" i="0" u="none" strike="noStrike" baseline="0" dirty="0">
                <a:solidFill>
                  <a:srgbClr val="000000"/>
                </a:solidFill>
                <a:latin typeface="Consolas" panose="020B0609020204030204" pitchFamily="49" charset="0"/>
              </a:rPr>
              <a:t>Es un archivo de datos que se usa para almacenar la información de la ruta o camino a seguir para acceder a redes remotas o conectadas directamente.</a:t>
            </a:r>
          </a:p>
          <a:p>
            <a:endParaRPr lang="es-ES" dirty="0">
              <a:solidFill>
                <a:srgbClr val="000000"/>
              </a:solidFill>
              <a:latin typeface="Consolas" panose="020B0609020204030204" pitchFamily="49" charset="0"/>
            </a:endParaRPr>
          </a:p>
          <a:p>
            <a:r>
              <a:rPr lang="es-ES" sz="1800" b="0" i="0" u="none" strike="noStrike" baseline="0" dirty="0">
                <a:solidFill>
                  <a:srgbClr val="000000"/>
                </a:solidFill>
                <a:latin typeface="Consolas" panose="020B0609020204030204" pitchFamily="49" charset="0"/>
              </a:rPr>
              <a:t>Al configurar una interfaz del </a:t>
            </a:r>
            <a:r>
              <a:rPr lang="es-ES" sz="1800" b="0" i="0" u="none" strike="noStrike" baseline="0" dirty="0" err="1">
                <a:solidFill>
                  <a:srgbClr val="000000"/>
                </a:solidFill>
                <a:latin typeface="Consolas" panose="020B0609020204030204" pitchFamily="49" charset="0"/>
              </a:rPr>
              <a:t>router</a:t>
            </a:r>
            <a:r>
              <a:rPr lang="es-ES" dirty="0">
                <a:solidFill>
                  <a:srgbClr val="000000"/>
                </a:solidFill>
                <a:latin typeface="Consolas" panose="020B0609020204030204" pitchFamily="49" charset="0"/>
              </a:rPr>
              <a:t> con una dirección IP y una máscara, estos datos pasan a la tabla de enrutamiento, como una red conectada directamente. </a:t>
            </a:r>
            <a:r>
              <a:rPr lang="en-US" dirty="0">
                <a:solidFill>
                  <a:srgbClr val="000000"/>
                </a:solidFill>
                <a:latin typeface="Consolas" panose="020B0609020204030204" pitchFamily="49" charset="0"/>
              </a:rPr>
              <a:t>El comando </a:t>
            </a:r>
            <a:r>
              <a:rPr lang="en-US" b="1" dirty="0">
                <a:solidFill>
                  <a:srgbClr val="C00000"/>
                </a:solidFill>
                <a:latin typeface="Consolas" panose="020B0609020204030204" pitchFamily="49" charset="0"/>
              </a:rPr>
              <a:t>show IP route</a:t>
            </a:r>
            <a:r>
              <a:rPr lang="en-US" dirty="0">
                <a:solidFill>
                  <a:srgbClr val="000000"/>
                </a:solidFill>
                <a:latin typeface="Consolas" panose="020B0609020204030204" pitchFamily="49" charset="0"/>
              </a:rPr>
              <a:t> se </a:t>
            </a:r>
            <a:r>
              <a:rPr lang="es-MX" noProof="0" dirty="0">
                <a:solidFill>
                  <a:srgbClr val="000000"/>
                </a:solidFill>
                <a:latin typeface="Consolas" panose="020B0609020204030204" pitchFamily="49" charset="0"/>
              </a:rPr>
              <a:t>usa para ver </a:t>
            </a:r>
            <a:r>
              <a:rPr lang="en-US" dirty="0">
                <a:solidFill>
                  <a:srgbClr val="000000"/>
                </a:solidFill>
                <a:latin typeface="Consolas" panose="020B0609020204030204" pitchFamily="49" charset="0"/>
              </a:rPr>
              <a:t>la </a:t>
            </a:r>
            <a:r>
              <a:rPr lang="es-MX" noProof="0" dirty="0">
                <a:solidFill>
                  <a:srgbClr val="000000"/>
                </a:solidFill>
                <a:latin typeface="Consolas" panose="020B0609020204030204" pitchFamily="49" charset="0"/>
              </a:rPr>
              <a:t>tabla de enrutamiento.</a:t>
            </a:r>
          </a:p>
          <a:p>
            <a:endParaRPr lang="es-ES" sz="1800" b="0" i="0" u="none" strike="noStrike" baseline="0" dirty="0">
              <a:solidFill>
                <a:srgbClr val="000000"/>
              </a:solidFill>
              <a:latin typeface="Consolas" panose="020B0609020204030204" pitchFamily="49" charset="0"/>
            </a:endParaRPr>
          </a:p>
        </p:txBody>
      </p:sp>
      <p:pic>
        <p:nvPicPr>
          <p:cNvPr id="7" name="Imagen 6">
            <a:extLst>
              <a:ext uri="{FF2B5EF4-FFF2-40B4-BE49-F238E27FC236}">
                <a16:creationId xmlns:a16="http://schemas.microsoft.com/office/drawing/2014/main" id="{9C70E1AF-4F9B-1E04-5A38-AD628326015B}"/>
              </a:ext>
            </a:extLst>
          </p:cNvPr>
          <p:cNvPicPr>
            <a:picLocks noChangeAspect="1"/>
          </p:cNvPicPr>
          <p:nvPr/>
        </p:nvPicPr>
        <p:blipFill>
          <a:blip r:embed="rId2"/>
          <a:srcRect t="17595" b="4876"/>
          <a:stretch>
            <a:fillRect/>
          </a:stretch>
        </p:blipFill>
        <p:spPr>
          <a:xfrm>
            <a:off x="2064827" y="3004364"/>
            <a:ext cx="8062345" cy="3634561"/>
          </a:xfrm>
          <a:prstGeom prst="rect">
            <a:avLst/>
          </a:prstGeom>
        </p:spPr>
      </p:pic>
    </p:spTree>
    <p:extLst>
      <p:ext uri="{BB962C8B-B14F-4D97-AF65-F5344CB8AC3E}">
        <p14:creationId xmlns:p14="http://schemas.microsoft.com/office/powerpoint/2010/main" val="38057801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C8638F6-519C-FF59-BEA9-D91F4FBE674C}"/>
              </a:ext>
            </a:extLst>
          </p:cNvPr>
          <p:cNvSpPr/>
          <p:nvPr/>
        </p:nvSpPr>
        <p:spPr>
          <a:xfrm>
            <a:off x="366251" y="587219"/>
            <a:ext cx="11311399" cy="5909310"/>
          </a:xfrm>
          <a:prstGeom prst="rect">
            <a:avLst/>
          </a:prstGeom>
        </p:spPr>
        <p:txBody>
          <a:bodyPr wrap="square">
            <a:spAutoFit/>
          </a:bodyPr>
          <a:lstStyle/>
          <a:p>
            <a:r>
              <a:rPr lang="es-MX" dirty="0"/>
              <a:t> </a:t>
            </a:r>
            <a:r>
              <a:rPr lang="es-MX" sz="1800" b="1" i="0" u="none" strike="noStrike" baseline="0" dirty="0">
                <a:solidFill>
                  <a:srgbClr val="000000"/>
                </a:solidFill>
                <a:latin typeface="Trebuchet MS" panose="020B0603020202020204" pitchFamily="34" charset="0"/>
              </a:rPr>
              <a:t>Tabla de rutas o tabla de enrutamiento:</a:t>
            </a:r>
          </a:p>
          <a:p>
            <a:endParaRPr lang="es-MX" sz="1800" b="0" i="0" u="none" strike="noStrike" baseline="0" dirty="0">
              <a:solidFill>
                <a:srgbClr val="000000"/>
              </a:solidFill>
              <a:latin typeface="Trebuchet MS" panose="020B0603020202020204" pitchFamily="34" charset="0"/>
            </a:endParaRPr>
          </a:p>
          <a:p>
            <a:r>
              <a:rPr lang="es-ES" sz="1800" b="0" i="0" u="none" strike="noStrike" baseline="0" dirty="0">
                <a:solidFill>
                  <a:srgbClr val="000000"/>
                </a:solidFill>
                <a:latin typeface="Consolas" panose="020B0609020204030204" pitchFamily="49" charset="0"/>
              </a:rPr>
              <a:t>Si unan red no esta directamente conectada, es una </a:t>
            </a:r>
            <a:r>
              <a:rPr lang="es-ES" sz="1800" b="1" i="0" u="none" strike="noStrike" baseline="0" dirty="0">
                <a:solidFill>
                  <a:srgbClr val="000000"/>
                </a:solidFill>
                <a:latin typeface="Consolas" panose="020B0609020204030204" pitchFamily="49" charset="0"/>
              </a:rPr>
              <a:t>red remota </a:t>
            </a:r>
            <a:r>
              <a:rPr lang="es-ES" sz="1800" b="0" i="0" u="none" strike="noStrike" baseline="0" dirty="0">
                <a:solidFill>
                  <a:srgbClr val="000000"/>
                </a:solidFill>
                <a:latin typeface="Consolas" panose="020B0609020204030204" pitchFamily="49" charset="0"/>
              </a:rPr>
              <a:t>a la que solo se puede llegar mediante el envío del paquete a otro </a:t>
            </a:r>
            <a:r>
              <a:rPr lang="es-ES" sz="1800" b="0" i="0" u="none" strike="noStrike" baseline="0" dirty="0" err="1">
                <a:solidFill>
                  <a:srgbClr val="000000"/>
                </a:solidFill>
                <a:latin typeface="Consolas" panose="020B0609020204030204" pitchFamily="49" charset="0"/>
              </a:rPr>
              <a:t>router</a:t>
            </a:r>
            <a:r>
              <a:rPr lang="es-ES" sz="1800" b="0" i="0" u="none" strike="noStrike" baseline="0" dirty="0">
                <a:solidFill>
                  <a:srgbClr val="000000"/>
                </a:solidFill>
                <a:latin typeface="Consolas" panose="020B0609020204030204" pitchFamily="49" charset="0"/>
              </a:rPr>
              <a:t> que </a:t>
            </a:r>
            <a:r>
              <a:rPr lang="es-ES" sz="1800" b="1" i="0" u="none" strike="noStrike" baseline="0" dirty="0">
                <a:solidFill>
                  <a:srgbClr val="000000"/>
                </a:solidFill>
                <a:latin typeface="Consolas" panose="020B0609020204030204" pitchFamily="49" charset="0"/>
              </a:rPr>
              <a:t>quizá</a:t>
            </a:r>
            <a:r>
              <a:rPr lang="es-ES" sz="1800" b="0" i="0" u="none" strike="noStrike" baseline="0" dirty="0">
                <a:solidFill>
                  <a:srgbClr val="000000"/>
                </a:solidFill>
                <a:latin typeface="Consolas" panose="020B0609020204030204" pitchFamily="49" charset="0"/>
              </a:rPr>
              <a:t> este conectado directamente a esa red.</a:t>
            </a:r>
          </a:p>
          <a:p>
            <a:endParaRPr lang="es-ES" dirty="0">
              <a:solidFill>
                <a:srgbClr val="000000"/>
              </a:solidFill>
              <a:latin typeface="Consolas" panose="020B0609020204030204" pitchFamily="49" charset="0"/>
            </a:endParaRPr>
          </a:p>
          <a:p>
            <a:r>
              <a:rPr lang="es-ES" sz="1800" b="0" i="0" u="none" strike="noStrike" baseline="0" dirty="0">
                <a:solidFill>
                  <a:srgbClr val="000000"/>
                </a:solidFill>
                <a:latin typeface="Consolas" panose="020B0609020204030204" pitchFamily="49" charset="0"/>
              </a:rPr>
              <a:t>Las redes remotas se agregan a la tabla de enrutamiento mediante la configuración de rutas estáticas y/o el uso de un protocolo de enrutamiento dinámico</a:t>
            </a:r>
          </a:p>
          <a:p>
            <a:endParaRPr lang="es-ES" dirty="0">
              <a:solidFill>
                <a:srgbClr val="000000"/>
              </a:solidFill>
              <a:latin typeface="Consolas" panose="020B0609020204030204" pitchFamily="49" charset="0"/>
            </a:endParaRPr>
          </a:p>
          <a:p>
            <a:r>
              <a:rPr lang="es-ES" sz="1800" b="1" i="0" u="none" strike="noStrike" baseline="0" dirty="0">
                <a:solidFill>
                  <a:srgbClr val="000000"/>
                </a:solidFill>
                <a:latin typeface="Consolas" panose="020B0609020204030204" pitchFamily="49" charset="0"/>
              </a:rPr>
              <a:t>Configuración de rutas estáticas:</a:t>
            </a:r>
          </a:p>
          <a:p>
            <a:endParaRPr lang="es-ES" dirty="0">
              <a:solidFill>
                <a:srgbClr val="000000"/>
              </a:solidFill>
              <a:latin typeface="Consolas" panose="020B0609020204030204" pitchFamily="49" charset="0"/>
            </a:endParaRPr>
          </a:p>
          <a:p>
            <a:r>
              <a:rPr lang="es-ES" sz="1800" b="0" i="0" u="none" strike="noStrike" baseline="0" dirty="0">
                <a:solidFill>
                  <a:srgbClr val="000000"/>
                </a:solidFill>
                <a:latin typeface="Consolas" panose="020B0609020204030204" pitchFamily="49" charset="0"/>
              </a:rPr>
              <a:t>Se realiza mediante el comando:</a:t>
            </a:r>
          </a:p>
          <a:p>
            <a:endParaRPr lang="es-ES" dirty="0">
              <a:solidFill>
                <a:srgbClr val="000000"/>
              </a:solidFill>
              <a:latin typeface="Consolas" panose="020B0609020204030204" pitchFamily="49" charset="0"/>
            </a:endParaRPr>
          </a:p>
          <a:p>
            <a:r>
              <a:rPr lang="es-ES" sz="1800" b="0" i="0" u="none" strike="noStrike" baseline="0" dirty="0">
                <a:solidFill>
                  <a:srgbClr val="C00000"/>
                </a:solidFill>
                <a:latin typeface="Consolas" panose="020B0609020204030204" pitchFamily="49" charset="0"/>
              </a:rPr>
              <a:t>Router(</a:t>
            </a:r>
            <a:r>
              <a:rPr lang="es-ES" sz="1800" b="0" i="0" u="none" strike="noStrike" baseline="0" dirty="0" err="1">
                <a:solidFill>
                  <a:srgbClr val="C00000"/>
                </a:solidFill>
                <a:latin typeface="Consolas" panose="020B0609020204030204" pitchFamily="49" charset="0"/>
              </a:rPr>
              <a:t>config</a:t>
            </a:r>
            <a:r>
              <a:rPr lang="es-ES" sz="1800" b="0" i="0" u="none" strike="noStrike" baseline="0" dirty="0">
                <a:solidFill>
                  <a:srgbClr val="C00000"/>
                </a:solidFill>
                <a:latin typeface="Consolas" panose="020B0609020204030204" pitchFamily="49" charset="0"/>
              </a:rPr>
              <a:t>)# </a:t>
            </a:r>
            <a:r>
              <a:rPr lang="es-ES" sz="1800" b="1" i="0" u="none" strike="noStrike" baseline="0" dirty="0" err="1">
                <a:solidFill>
                  <a:srgbClr val="C00000"/>
                </a:solidFill>
                <a:latin typeface="Consolas" panose="020B0609020204030204" pitchFamily="49" charset="0"/>
              </a:rPr>
              <a:t>ip</a:t>
            </a:r>
            <a:r>
              <a:rPr lang="es-ES" sz="1800" b="1" i="0" u="none" strike="noStrike" baseline="0" dirty="0">
                <a:solidFill>
                  <a:srgbClr val="C00000"/>
                </a:solidFill>
                <a:latin typeface="Consolas" panose="020B0609020204030204" pitchFamily="49" charset="0"/>
              </a:rPr>
              <a:t> </a:t>
            </a:r>
            <a:r>
              <a:rPr lang="es-ES" sz="1800" b="1" i="0" u="none" strike="noStrike" baseline="0" dirty="0" err="1">
                <a:solidFill>
                  <a:srgbClr val="C00000"/>
                </a:solidFill>
                <a:latin typeface="Consolas" panose="020B0609020204030204" pitchFamily="49" charset="0"/>
              </a:rPr>
              <a:t>route</a:t>
            </a:r>
            <a:r>
              <a:rPr lang="es-ES" sz="1800" b="1" i="0" u="none" strike="noStrike" baseline="0" dirty="0">
                <a:solidFill>
                  <a:srgbClr val="C00000"/>
                </a:solidFill>
                <a:latin typeface="Consolas" panose="020B0609020204030204" pitchFamily="49" charset="0"/>
              </a:rPr>
              <a:t> </a:t>
            </a:r>
            <a:r>
              <a:rPr lang="es-ES" sz="1800" b="0" i="0" u="none" strike="noStrike" baseline="0" dirty="0" err="1">
                <a:solidFill>
                  <a:srgbClr val="C00000"/>
                </a:solidFill>
                <a:latin typeface="Consolas" panose="020B0609020204030204" pitchFamily="49" charset="0"/>
              </a:rPr>
              <a:t>ip</a:t>
            </a:r>
            <a:r>
              <a:rPr lang="es-ES" sz="1800" b="0" i="0" u="none" strike="noStrike" baseline="0" dirty="0">
                <a:solidFill>
                  <a:srgbClr val="C00000"/>
                </a:solidFill>
                <a:latin typeface="Consolas" panose="020B0609020204030204" pitchFamily="49" charset="0"/>
              </a:rPr>
              <a:t>-destino máscara {</a:t>
            </a:r>
            <a:r>
              <a:rPr lang="es-ES" sz="1800" b="0" i="0" u="none" strike="noStrike" baseline="0" dirty="0" err="1">
                <a:solidFill>
                  <a:srgbClr val="C00000"/>
                </a:solidFill>
                <a:latin typeface="Consolas" panose="020B0609020204030204" pitchFamily="49" charset="0"/>
              </a:rPr>
              <a:t>ip</a:t>
            </a:r>
            <a:r>
              <a:rPr lang="es-ES" sz="1800" b="0" i="0" u="none" strike="noStrike" baseline="0" dirty="0">
                <a:solidFill>
                  <a:srgbClr val="C00000"/>
                </a:solidFill>
                <a:latin typeface="Consolas" panose="020B0609020204030204" pitchFamily="49" charset="0"/>
              </a:rPr>
              <a:t> siguiente </a:t>
            </a:r>
            <a:r>
              <a:rPr lang="es-ES" sz="1800" b="0" i="0" u="none" strike="noStrike" baseline="0" dirty="0" err="1">
                <a:solidFill>
                  <a:srgbClr val="C00000"/>
                </a:solidFill>
                <a:latin typeface="Consolas" panose="020B0609020204030204" pitchFamily="49" charset="0"/>
              </a:rPr>
              <a:t>router</a:t>
            </a:r>
            <a:r>
              <a:rPr lang="es-ES" sz="1800" b="0" i="0" u="none" strike="noStrike" baseline="0" dirty="0">
                <a:solidFill>
                  <a:srgbClr val="C00000"/>
                </a:solidFill>
                <a:latin typeface="Consolas" panose="020B0609020204030204" pitchFamily="49" charset="0"/>
              </a:rPr>
              <a:t>/ interfaz de salida}</a:t>
            </a:r>
          </a:p>
          <a:p>
            <a:endParaRPr lang="es-ES" sz="1800" b="0" i="0" u="none" strike="noStrike" baseline="0" dirty="0">
              <a:solidFill>
                <a:srgbClr val="000000"/>
              </a:solidFill>
              <a:latin typeface="Consolas" panose="020B0609020204030204" pitchFamily="49" charset="0"/>
            </a:endParaRPr>
          </a:p>
          <a:p>
            <a:pPr marL="285750" indent="-285750">
              <a:buFont typeface="Arial" panose="020B0604020202020204" pitchFamily="34" charset="0"/>
              <a:buChar char="•"/>
            </a:pPr>
            <a:r>
              <a:rPr lang="es-ES" dirty="0" err="1">
                <a:solidFill>
                  <a:srgbClr val="000000"/>
                </a:solidFill>
                <a:latin typeface="Consolas" panose="020B0609020204030204" pitchFamily="49" charset="0"/>
              </a:rPr>
              <a:t>ip</a:t>
            </a:r>
            <a:r>
              <a:rPr lang="es-ES" dirty="0">
                <a:solidFill>
                  <a:srgbClr val="000000"/>
                </a:solidFill>
                <a:latin typeface="Consolas" panose="020B0609020204030204" pitchFamily="49" charset="0"/>
              </a:rPr>
              <a:t>-destino: dirección </a:t>
            </a:r>
            <a:r>
              <a:rPr lang="es-ES" dirty="0" err="1">
                <a:solidFill>
                  <a:srgbClr val="000000"/>
                </a:solidFill>
                <a:latin typeface="Consolas" panose="020B0609020204030204" pitchFamily="49" charset="0"/>
              </a:rPr>
              <a:t>ip</a:t>
            </a:r>
            <a:r>
              <a:rPr lang="es-ES" dirty="0">
                <a:solidFill>
                  <a:srgbClr val="000000"/>
                </a:solidFill>
                <a:latin typeface="Consolas" panose="020B0609020204030204" pitchFamily="49" charset="0"/>
              </a:rPr>
              <a:t> de la red remota</a:t>
            </a:r>
          </a:p>
          <a:p>
            <a:pPr marL="285750" indent="-285750">
              <a:buFont typeface="Arial" panose="020B0604020202020204" pitchFamily="34" charset="0"/>
              <a:buChar char="•"/>
            </a:pPr>
            <a:r>
              <a:rPr lang="es-ES" dirty="0">
                <a:solidFill>
                  <a:srgbClr val="000000"/>
                </a:solidFill>
                <a:latin typeface="Consolas" panose="020B0609020204030204" pitchFamily="49" charset="0"/>
              </a:rPr>
              <a:t>Máscara: de la red remota (se puede modificar para resumir o </a:t>
            </a:r>
            <a:r>
              <a:rPr lang="es-ES" dirty="0" err="1">
                <a:solidFill>
                  <a:srgbClr val="000000"/>
                </a:solidFill>
                <a:latin typeface="Consolas" panose="020B0609020204030204" pitchFamily="49" charset="0"/>
              </a:rPr>
              <a:t>sumarizar</a:t>
            </a:r>
            <a:r>
              <a:rPr lang="es-ES" dirty="0">
                <a:solidFill>
                  <a:srgbClr val="000000"/>
                </a:solidFill>
                <a:latin typeface="Consolas" panose="020B0609020204030204" pitchFamily="49" charset="0"/>
              </a:rPr>
              <a:t> un grupo de redes)</a:t>
            </a:r>
          </a:p>
          <a:p>
            <a:pPr marL="285750" indent="-285750">
              <a:buFont typeface="Arial" panose="020B0604020202020204" pitchFamily="34" charset="0"/>
              <a:buChar char="•"/>
            </a:pPr>
            <a:r>
              <a:rPr lang="es-ES" dirty="0" err="1">
                <a:solidFill>
                  <a:srgbClr val="000000"/>
                </a:solidFill>
                <a:latin typeface="Consolas" panose="020B0609020204030204" pitchFamily="49" charset="0"/>
              </a:rPr>
              <a:t>ip</a:t>
            </a:r>
            <a:r>
              <a:rPr lang="es-ES" dirty="0">
                <a:solidFill>
                  <a:srgbClr val="000000"/>
                </a:solidFill>
                <a:latin typeface="Consolas" panose="020B0609020204030204" pitchFamily="49" charset="0"/>
              </a:rPr>
              <a:t> siguiente </a:t>
            </a:r>
            <a:r>
              <a:rPr lang="es-ES" dirty="0" err="1">
                <a:solidFill>
                  <a:srgbClr val="000000"/>
                </a:solidFill>
                <a:latin typeface="Consolas" panose="020B0609020204030204" pitchFamily="49" charset="0"/>
              </a:rPr>
              <a:t>router</a:t>
            </a:r>
            <a:r>
              <a:rPr lang="es-ES" dirty="0">
                <a:solidFill>
                  <a:srgbClr val="000000"/>
                </a:solidFill>
                <a:latin typeface="Consolas" panose="020B0609020204030204" pitchFamily="49" charset="0"/>
              </a:rPr>
              <a:t>/ interfaz de salida: se escribe la dirección IP de la interfaz del siguiente </a:t>
            </a:r>
            <a:r>
              <a:rPr lang="es-ES" dirty="0" err="1">
                <a:solidFill>
                  <a:srgbClr val="000000"/>
                </a:solidFill>
                <a:latin typeface="Consolas" panose="020B0609020204030204" pitchFamily="49" charset="0"/>
              </a:rPr>
              <a:t>router</a:t>
            </a:r>
            <a:r>
              <a:rPr lang="es-ES" dirty="0">
                <a:solidFill>
                  <a:srgbClr val="000000"/>
                </a:solidFill>
                <a:latin typeface="Consolas" panose="020B0609020204030204" pitchFamily="49" charset="0"/>
              </a:rPr>
              <a:t> (que corresponde al enlace entre ambos </a:t>
            </a:r>
            <a:r>
              <a:rPr lang="es-ES" dirty="0" err="1">
                <a:solidFill>
                  <a:srgbClr val="000000"/>
                </a:solidFill>
                <a:latin typeface="Consolas" panose="020B0609020204030204" pitchFamily="49" charset="0"/>
              </a:rPr>
              <a:t>routers</a:t>
            </a:r>
            <a:r>
              <a:rPr lang="es-ES" dirty="0">
                <a:solidFill>
                  <a:srgbClr val="000000"/>
                </a:solidFill>
                <a:latin typeface="Consolas" panose="020B0609020204030204" pitchFamily="49" charset="0"/>
              </a:rPr>
              <a:t>) o se escribe el nombre de la </a:t>
            </a:r>
            <a:r>
              <a:rPr lang="es-ES" dirty="0" err="1">
                <a:solidFill>
                  <a:srgbClr val="000000"/>
                </a:solidFill>
                <a:latin typeface="Consolas" panose="020B0609020204030204" pitchFamily="49" charset="0"/>
              </a:rPr>
              <a:t>intrefaz</a:t>
            </a:r>
            <a:r>
              <a:rPr lang="es-ES" dirty="0">
                <a:solidFill>
                  <a:srgbClr val="000000"/>
                </a:solidFill>
                <a:latin typeface="Consolas" panose="020B0609020204030204" pitchFamily="49" charset="0"/>
              </a:rPr>
              <a:t> de salida</a:t>
            </a:r>
          </a:p>
        </p:txBody>
      </p:sp>
    </p:spTree>
    <p:extLst>
      <p:ext uri="{BB962C8B-B14F-4D97-AF65-F5344CB8AC3E}">
        <p14:creationId xmlns:p14="http://schemas.microsoft.com/office/powerpoint/2010/main" val="35315979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AC95470-C977-15F7-A19F-7A18AF1EAD24}"/>
              </a:ext>
            </a:extLst>
          </p:cNvPr>
          <p:cNvPicPr>
            <a:picLocks noChangeAspect="1"/>
          </p:cNvPicPr>
          <p:nvPr/>
        </p:nvPicPr>
        <p:blipFill>
          <a:blip r:embed="rId2"/>
          <a:srcRect t="22663" b="8431"/>
          <a:stretch>
            <a:fillRect/>
          </a:stretch>
        </p:blipFill>
        <p:spPr>
          <a:xfrm>
            <a:off x="1592189" y="1495425"/>
            <a:ext cx="9007621" cy="4657726"/>
          </a:xfrm>
          <a:prstGeom prst="rect">
            <a:avLst/>
          </a:prstGeom>
        </p:spPr>
      </p:pic>
      <p:sp>
        <p:nvSpPr>
          <p:cNvPr id="5" name="CuadroTexto 4">
            <a:extLst>
              <a:ext uri="{FF2B5EF4-FFF2-40B4-BE49-F238E27FC236}">
                <a16:creationId xmlns:a16="http://schemas.microsoft.com/office/drawing/2014/main" id="{0F6FB4D1-0495-F458-5B0F-D3F37A59EEEB}"/>
              </a:ext>
            </a:extLst>
          </p:cNvPr>
          <p:cNvSpPr txBox="1"/>
          <p:nvPr/>
        </p:nvSpPr>
        <p:spPr>
          <a:xfrm>
            <a:off x="673893" y="237171"/>
            <a:ext cx="10175081" cy="1477328"/>
          </a:xfrm>
          <a:prstGeom prst="rect">
            <a:avLst/>
          </a:prstGeom>
          <a:noFill/>
        </p:spPr>
        <p:txBody>
          <a:bodyPr wrap="square">
            <a:spAutoFit/>
          </a:bodyPr>
          <a:lstStyle/>
          <a:p>
            <a:r>
              <a:rPr lang="es-ES" sz="1800" b="0" i="0" u="none" strike="noStrike" baseline="0" dirty="0">
                <a:solidFill>
                  <a:srgbClr val="000000"/>
                </a:solidFill>
                <a:latin typeface="Consolas" panose="020B0609020204030204" pitchFamily="49" charset="0"/>
              </a:rPr>
              <a:t>Ejemplo de configuración de una ruta estática:</a:t>
            </a:r>
          </a:p>
          <a:p>
            <a:endParaRPr lang="es-ES" dirty="0">
              <a:solidFill>
                <a:srgbClr val="000000"/>
              </a:solidFill>
              <a:latin typeface="Consolas" panose="020B0609020204030204" pitchFamily="49" charset="0"/>
            </a:endParaRPr>
          </a:p>
          <a:p>
            <a:r>
              <a:rPr lang="es-ES" sz="1800" b="0" i="0" u="none" strike="noStrike" baseline="0" dirty="0">
                <a:solidFill>
                  <a:srgbClr val="000000"/>
                </a:solidFill>
                <a:latin typeface="Consolas" panose="020B0609020204030204" pitchFamily="49" charset="0"/>
              </a:rPr>
              <a:t>Router(</a:t>
            </a:r>
            <a:r>
              <a:rPr lang="es-ES" sz="1800" b="0" i="0" u="none" strike="noStrike" baseline="0" dirty="0" err="1">
                <a:solidFill>
                  <a:srgbClr val="000000"/>
                </a:solidFill>
                <a:latin typeface="Consolas" panose="020B0609020204030204" pitchFamily="49" charset="0"/>
              </a:rPr>
              <a:t>config</a:t>
            </a:r>
            <a:r>
              <a:rPr lang="es-ES" sz="1800" b="0" i="0" u="none" strike="noStrike" baseline="0" dirty="0">
                <a:solidFill>
                  <a:srgbClr val="000000"/>
                </a:solidFill>
                <a:latin typeface="Consolas" panose="020B0609020204030204" pitchFamily="49" charset="0"/>
              </a:rPr>
              <a:t>)# </a:t>
            </a:r>
            <a:r>
              <a:rPr lang="es-ES" sz="1800" b="1" i="0" u="none" strike="noStrike" baseline="0" dirty="0" err="1">
                <a:solidFill>
                  <a:srgbClr val="000000"/>
                </a:solidFill>
                <a:latin typeface="Consolas" panose="020B0609020204030204" pitchFamily="49" charset="0"/>
              </a:rPr>
              <a:t>ip</a:t>
            </a:r>
            <a:r>
              <a:rPr lang="es-ES" sz="1800" b="1" i="0" u="none" strike="noStrike" baseline="0" dirty="0">
                <a:solidFill>
                  <a:srgbClr val="000000"/>
                </a:solidFill>
                <a:latin typeface="Consolas" panose="020B0609020204030204" pitchFamily="49" charset="0"/>
              </a:rPr>
              <a:t> </a:t>
            </a:r>
            <a:r>
              <a:rPr lang="es-ES" sz="1800" b="1" i="0" u="none" strike="noStrike" baseline="0" dirty="0" err="1">
                <a:solidFill>
                  <a:srgbClr val="000000"/>
                </a:solidFill>
                <a:latin typeface="Consolas" panose="020B0609020204030204" pitchFamily="49" charset="0"/>
              </a:rPr>
              <a:t>route</a:t>
            </a:r>
            <a:r>
              <a:rPr lang="es-ES" sz="1800" b="1" i="0" u="none" strike="noStrike" baseline="0" dirty="0">
                <a:solidFill>
                  <a:srgbClr val="000000"/>
                </a:solidFill>
                <a:latin typeface="Consolas" panose="020B0609020204030204" pitchFamily="49" charset="0"/>
              </a:rPr>
              <a:t> </a:t>
            </a:r>
            <a:r>
              <a:rPr lang="es-ES" sz="1800" b="0" i="0" u="none" strike="noStrike" baseline="0" dirty="0">
                <a:solidFill>
                  <a:srgbClr val="000000"/>
                </a:solidFill>
                <a:latin typeface="Consolas" panose="020B0609020204030204" pitchFamily="49" charset="0"/>
              </a:rPr>
              <a:t>192.168.3.0 255.255.255.0 </a:t>
            </a:r>
            <a:r>
              <a:rPr lang="es-ES" sz="1800" b="1" i="0" u="none" strike="noStrike" baseline="0" dirty="0">
                <a:solidFill>
                  <a:srgbClr val="C00000"/>
                </a:solidFill>
                <a:latin typeface="Consolas" panose="020B0609020204030204" pitchFamily="49" charset="0"/>
              </a:rPr>
              <a:t>192.168.2.2       </a:t>
            </a:r>
            <a:r>
              <a:rPr lang="es-ES" dirty="0">
                <a:solidFill>
                  <a:srgbClr val="000000"/>
                </a:solidFill>
                <a:latin typeface="Consolas" panose="020B0609020204030204" pitchFamily="49" charset="0"/>
              </a:rPr>
              <a:t>o</a:t>
            </a:r>
          </a:p>
          <a:p>
            <a:r>
              <a:rPr lang="es-ES" dirty="0">
                <a:solidFill>
                  <a:srgbClr val="000000"/>
                </a:solidFill>
                <a:latin typeface="Consolas" panose="020B0609020204030204" pitchFamily="49" charset="0"/>
              </a:rPr>
              <a:t>Router(</a:t>
            </a:r>
            <a:r>
              <a:rPr lang="es-ES" dirty="0" err="1">
                <a:solidFill>
                  <a:srgbClr val="000000"/>
                </a:solidFill>
                <a:latin typeface="Consolas" panose="020B0609020204030204" pitchFamily="49" charset="0"/>
              </a:rPr>
              <a:t>config</a:t>
            </a:r>
            <a:r>
              <a:rPr lang="es-ES" dirty="0">
                <a:solidFill>
                  <a:srgbClr val="000000"/>
                </a:solidFill>
                <a:latin typeface="Consolas" panose="020B0609020204030204" pitchFamily="49" charset="0"/>
              </a:rPr>
              <a:t>)# </a:t>
            </a:r>
            <a:r>
              <a:rPr lang="es-ES" b="1" dirty="0" err="1">
                <a:solidFill>
                  <a:srgbClr val="000000"/>
                </a:solidFill>
                <a:latin typeface="Consolas" panose="020B0609020204030204" pitchFamily="49" charset="0"/>
              </a:rPr>
              <a:t>ip</a:t>
            </a:r>
            <a:r>
              <a:rPr lang="es-ES" b="1" dirty="0">
                <a:solidFill>
                  <a:srgbClr val="000000"/>
                </a:solidFill>
                <a:latin typeface="Consolas" panose="020B0609020204030204" pitchFamily="49" charset="0"/>
              </a:rPr>
              <a:t> </a:t>
            </a:r>
            <a:r>
              <a:rPr lang="es-ES" b="1" dirty="0" err="1">
                <a:solidFill>
                  <a:srgbClr val="000000"/>
                </a:solidFill>
                <a:latin typeface="Consolas" panose="020B0609020204030204" pitchFamily="49" charset="0"/>
              </a:rPr>
              <a:t>route</a:t>
            </a:r>
            <a:r>
              <a:rPr lang="es-ES" b="1" dirty="0">
                <a:solidFill>
                  <a:srgbClr val="000000"/>
                </a:solidFill>
                <a:latin typeface="Consolas" panose="020B0609020204030204" pitchFamily="49" charset="0"/>
              </a:rPr>
              <a:t> </a:t>
            </a:r>
            <a:r>
              <a:rPr lang="es-ES" dirty="0">
                <a:solidFill>
                  <a:srgbClr val="000000"/>
                </a:solidFill>
                <a:latin typeface="Consolas" panose="020B0609020204030204" pitchFamily="49" charset="0"/>
              </a:rPr>
              <a:t>192.168.3.0 255.255.255.0 </a:t>
            </a:r>
            <a:r>
              <a:rPr lang="es-ES" b="1" dirty="0">
                <a:solidFill>
                  <a:srgbClr val="C00000"/>
                </a:solidFill>
                <a:latin typeface="Consolas" panose="020B0609020204030204" pitchFamily="49" charset="0"/>
              </a:rPr>
              <a:t>serial 0/0/0</a:t>
            </a:r>
            <a:endParaRPr lang="es-ES" sz="1800" b="1" i="0" u="none" strike="noStrike" baseline="0" dirty="0">
              <a:solidFill>
                <a:srgbClr val="C00000"/>
              </a:solidFill>
              <a:latin typeface="Consolas" panose="020B0609020204030204" pitchFamily="49" charset="0"/>
            </a:endParaRPr>
          </a:p>
          <a:p>
            <a:endParaRPr lang="es-ES" sz="1800" b="0" i="0" u="none" strike="noStrike" baseline="0" dirty="0">
              <a:solidFill>
                <a:srgbClr val="000000"/>
              </a:solidFill>
              <a:latin typeface="Consolas" panose="020B0609020204030204" pitchFamily="49" charset="0"/>
            </a:endParaRPr>
          </a:p>
        </p:txBody>
      </p:sp>
      <p:sp>
        <p:nvSpPr>
          <p:cNvPr id="7" name="CuadroTexto 6">
            <a:extLst>
              <a:ext uri="{FF2B5EF4-FFF2-40B4-BE49-F238E27FC236}">
                <a16:creationId xmlns:a16="http://schemas.microsoft.com/office/drawing/2014/main" id="{0E10E38F-914E-CACF-273E-2CB32B948574}"/>
              </a:ext>
            </a:extLst>
          </p:cNvPr>
          <p:cNvSpPr txBox="1"/>
          <p:nvPr/>
        </p:nvSpPr>
        <p:spPr>
          <a:xfrm>
            <a:off x="759619" y="6297663"/>
            <a:ext cx="10813256" cy="369332"/>
          </a:xfrm>
          <a:prstGeom prst="rect">
            <a:avLst/>
          </a:prstGeom>
          <a:noFill/>
        </p:spPr>
        <p:txBody>
          <a:bodyPr wrap="square">
            <a:spAutoFit/>
          </a:bodyPr>
          <a:lstStyle/>
          <a:p>
            <a:r>
              <a:rPr lang="es-ES" sz="1800" b="0" i="0" u="none" strike="noStrike" baseline="0" dirty="0">
                <a:solidFill>
                  <a:srgbClr val="000000"/>
                </a:solidFill>
                <a:latin typeface="Consolas" panose="020B0609020204030204" pitchFamily="49" charset="0"/>
              </a:rPr>
              <a:t>Las rutas estáticas, se indican con una S en la tabla de enrutamiento</a:t>
            </a:r>
            <a:endParaRPr lang="es-MX" dirty="0"/>
          </a:p>
        </p:txBody>
      </p:sp>
    </p:spTree>
    <p:extLst>
      <p:ext uri="{BB962C8B-B14F-4D97-AF65-F5344CB8AC3E}">
        <p14:creationId xmlns:p14="http://schemas.microsoft.com/office/powerpoint/2010/main" val="13691275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5EB6746-0645-1D0E-BCB2-48BBB7F7EE4D}"/>
              </a:ext>
            </a:extLst>
          </p:cNvPr>
          <p:cNvPicPr>
            <a:picLocks noChangeAspect="1"/>
          </p:cNvPicPr>
          <p:nvPr/>
        </p:nvPicPr>
        <p:blipFill>
          <a:blip r:embed="rId2"/>
          <a:stretch>
            <a:fillRect/>
          </a:stretch>
        </p:blipFill>
        <p:spPr>
          <a:xfrm>
            <a:off x="1649344" y="430270"/>
            <a:ext cx="8893311" cy="5997460"/>
          </a:xfrm>
          <a:prstGeom prst="rect">
            <a:avLst/>
          </a:prstGeom>
        </p:spPr>
      </p:pic>
    </p:spTree>
    <p:extLst>
      <p:ext uri="{BB962C8B-B14F-4D97-AF65-F5344CB8AC3E}">
        <p14:creationId xmlns:p14="http://schemas.microsoft.com/office/powerpoint/2010/main" val="17881276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ACAB7F1-A3EB-497D-722A-515CC80907A9}"/>
              </a:ext>
            </a:extLst>
          </p:cNvPr>
          <p:cNvPicPr>
            <a:picLocks noChangeAspect="1"/>
          </p:cNvPicPr>
          <p:nvPr/>
        </p:nvPicPr>
        <p:blipFill>
          <a:blip r:embed="rId2"/>
          <a:stretch>
            <a:fillRect/>
          </a:stretch>
        </p:blipFill>
        <p:spPr>
          <a:xfrm>
            <a:off x="1649344" y="7323"/>
            <a:ext cx="8893311" cy="6843353"/>
          </a:xfrm>
          <a:prstGeom prst="rect">
            <a:avLst/>
          </a:prstGeom>
        </p:spPr>
      </p:pic>
    </p:spTree>
    <p:extLst>
      <p:ext uri="{BB962C8B-B14F-4D97-AF65-F5344CB8AC3E}">
        <p14:creationId xmlns:p14="http://schemas.microsoft.com/office/powerpoint/2010/main" val="9102189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34A5249-0BF8-4BE0-42FD-D5C0BFD3ADF2}"/>
              </a:ext>
            </a:extLst>
          </p:cNvPr>
          <p:cNvPicPr>
            <a:picLocks noChangeAspect="1"/>
          </p:cNvPicPr>
          <p:nvPr/>
        </p:nvPicPr>
        <p:blipFill>
          <a:blip r:embed="rId2"/>
          <a:stretch>
            <a:fillRect/>
          </a:stretch>
        </p:blipFill>
        <p:spPr>
          <a:xfrm>
            <a:off x="1588379" y="197840"/>
            <a:ext cx="9015241" cy="6462320"/>
          </a:xfrm>
          <a:prstGeom prst="rect">
            <a:avLst/>
          </a:prstGeom>
        </p:spPr>
      </p:pic>
    </p:spTree>
    <p:extLst>
      <p:ext uri="{BB962C8B-B14F-4D97-AF65-F5344CB8AC3E}">
        <p14:creationId xmlns:p14="http://schemas.microsoft.com/office/powerpoint/2010/main" val="26610484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FE30F70-EE35-E484-3D45-01E387CB8B4E}"/>
              </a:ext>
            </a:extLst>
          </p:cNvPr>
          <p:cNvPicPr>
            <a:picLocks noChangeAspect="1"/>
          </p:cNvPicPr>
          <p:nvPr/>
        </p:nvPicPr>
        <p:blipFill rotWithShape="1">
          <a:blip r:embed="rId2"/>
          <a:srcRect t="30765" b="-1337"/>
          <a:stretch/>
        </p:blipFill>
        <p:spPr>
          <a:xfrm>
            <a:off x="1113694" y="613083"/>
            <a:ext cx="9121930" cy="4259393"/>
          </a:xfrm>
          <a:prstGeom prst="rect">
            <a:avLst/>
          </a:prstGeom>
        </p:spPr>
      </p:pic>
      <p:sp>
        <p:nvSpPr>
          <p:cNvPr id="4" name="Rectangle 3">
            <a:extLst>
              <a:ext uri="{FF2B5EF4-FFF2-40B4-BE49-F238E27FC236}">
                <a16:creationId xmlns:a16="http://schemas.microsoft.com/office/drawing/2014/main" id="{7E41CB46-42F0-3F58-34D6-7C3826390448}"/>
              </a:ext>
            </a:extLst>
          </p:cNvPr>
          <p:cNvSpPr txBox="1">
            <a:spLocks noChangeArrowheads="1"/>
          </p:cNvSpPr>
          <p:nvPr/>
        </p:nvSpPr>
        <p:spPr>
          <a:xfrm>
            <a:off x="493594" y="4791000"/>
            <a:ext cx="10828830" cy="5445481"/>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s-MX" sz="2000" noProof="0" dirty="0">
                <a:solidFill>
                  <a:srgbClr val="000000"/>
                </a:solidFill>
              </a:rPr>
              <a:t>Rutas estáticas </a:t>
            </a:r>
            <a:r>
              <a:rPr lang="en-US" sz="2000" dirty="0">
                <a:solidFill>
                  <a:srgbClr val="000000"/>
                </a:solidFill>
              </a:rPr>
              <a:t>para R1:</a:t>
            </a:r>
          </a:p>
          <a:p>
            <a:pPr marL="914400" lvl="2" indent="0">
              <a:buNone/>
            </a:pPr>
            <a:r>
              <a:rPr lang="en-US" sz="2000" dirty="0">
                <a:solidFill>
                  <a:srgbClr val="000000"/>
                </a:solidFill>
              </a:rPr>
              <a:t>R1 (config)# </a:t>
            </a:r>
            <a:r>
              <a:rPr lang="en-US" sz="2000" dirty="0" err="1">
                <a:solidFill>
                  <a:srgbClr val="000000"/>
                </a:solidFill>
              </a:rPr>
              <a:t>ip</a:t>
            </a:r>
            <a:r>
              <a:rPr lang="en-US" sz="2000" dirty="0">
                <a:solidFill>
                  <a:srgbClr val="000000"/>
                </a:solidFill>
              </a:rPr>
              <a:t> route 172.16.1.0  255.255.255.0  172.16.2.2</a:t>
            </a:r>
          </a:p>
          <a:p>
            <a:pPr marL="914400" lvl="2" indent="0">
              <a:buNone/>
            </a:pPr>
            <a:r>
              <a:rPr lang="en-US" sz="2000" dirty="0">
                <a:solidFill>
                  <a:srgbClr val="000000"/>
                </a:solidFill>
              </a:rPr>
              <a:t>R1 (config)# </a:t>
            </a:r>
            <a:r>
              <a:rPr lang="en-US" sz="2000" dirty="0" err="1">
                <a:solidFill>
                  <a:srgbClr val="000000"/>
                </a:solidFill>
              </a:rPr>
              <a:t>ip</a:t>
            </a:r>
            <a:r>
              <a:rPr lang="en-US" sz="2000" dirty="0">
                <a:solidFill>
                  <a:srgbClr val="000000"/>
                </a:solidFill>
              </a:rPr>
              <a:t> route 192.168.1.0  255.255.255.0  172.16.2.2</a:t>
            </a:r>
          </a:p>
          <a:p>
            <a:pPr marL="914400" lvl="2" indent="0">
              <a:buNone/>
            </a:pPr>
            <a:r>
              <a:rPr lang="en-US" sz="2000" dirty="0">
                <a:solidFill>
                  <a:srgbClr val="000000"/>
                </a:solidFill>
              </a:rPr>
              <a:t>R1 (config)# </a:t>
            </a:r>
            <a:r>
              <a:rPr lang="en-US" sz="2000" dirty="0" err="1">
                <a:solidFill>
                  <a:srgbClr val="000000"/>
                </a:solidFill>
              </a:rPr>
              <a:t>ip</a:t>
            </a:r>
            <a:r>
              <a:rPr lang="en-US" sz="2000" dirty="0">
                <a:solidFill>
                  <a:srgbClr val="000000"/>
                </a:solidFill>
              </a:rPr>
              <a:t> route 192.168.2.0  255.255.255.0  172.16.2.2</a:t>
            </a:r>
          </a:p>
          <a:p>
            <a:pPr marL="914400" lvl="2" indent="0">
              <a:buNone/>
            </a:pPr>
            <a:endParaRPr lang="en-US" sz="2000" dirty="0">
              <a:solidFill>
                <a:srgbClr val="000000"/>
              </a:solidFill>
            </a:endParaRPr>
          </a:p>
        </p:txBody>
      </p:sp>
      <p:sp>
        <p:nvSpPr>
          <p:cNvPr id="2" name="CuadroTexto 1">
            <a:extLst>
              <a:ext uri="{FF2B5EF4-FFF2-40B4-BE49-F238E27FC236}">
                <a16:creationId xmlns:a16="http://schemas.microsoft.com/office/drawing/2014/main" id="{0FCCE4E1-7E90-2BDB-F785-7511B8EB31AF}"/>
              </a:ext>
            </a:extLst>
          </p:cNvPr>
          <p:cNvSpPr txBox="1"/>
          <p:nvPr/>
        </p:nvSpPr>
        <p:spPr>
          <a:xfrm>
            <a:off x="335884" y="212973"/>
            <a:ext cx="5572125" cy="400110"/>
          </a:xfrm>
          <a:prstGeom prst="rect">
            <a:avLst/>
          </a:prstGeom>
          <a:noFill/>
        </p:spPr>
        <p:txBody>
          <a:bodyPr wrap="square" rtlCol="0">
            <a:spAutoFit/>
          </a:bodyPr>
          <a:lstStyle/>
          <a:p>
            <a:r>
              <a:rPr lang="es-MX" sz="2000" b="1" dirty="0">
                <a:solidFill>
                  <a:srgbClr val="C00000"/>
                </a:solidFill>
                <a:latin typeface="+mj-lt"/>
                <a:ea typeface="+mj-ea"/>
                <a:cs typeface="+mj-cs"/>
              </a:rPr>
              <a:t>Practica 4: rutas estáticas y sumarización</a:t>
            </a:r>
          </a:p>
        </p:txBody>
      </p:sp>
    </p:spTree>
    <p:extLst>
      <p:ext uri="{BB962C8B-B14F-4D97-AF65-F5344CB8AC3E}">
        <p14:creationId xmlns:p14="http://schemas.microsoft.com/office/powerpoint/2010/main" val="31762277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1F720-F1D1-D5E2-6B39-B1564416B60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4C4E97F-9A66-6948-3306-153BD1A30437}"/>
              </a:ext>
            </a:extLst>
          </p:cNvPr>
          <p:cNvPicPr>
            <a:picLocks noChangeAspect="1"/>
          </p:cNvPicPr>
          <p:nvPr/>
        </p:nvPicPr>
        <p:blipFill rotWithShape="1">
          <a:blip r:embed="rId2"/>
          <a:srcRect t="30765" b="-1337"/>
          <a:stretch/>
        </p:blipFill>
        <p:spPr>
          <a:xfrm>
            <a:off x="7029449" y="4439515"/>
            <a:ext cx="5016245" cy="2342285"/>
          </a:xfrm>
          <a:prstGeom prst="rect">
            <a:avLst/>
          </a:prstGeom>
        </p:spPr>
      </p:pic>
      <p:sp>
        <p:nvSpPr>
          <p:cNvPr id="4" name="Rectangle 3">
            <a:extLst>
              <a:ext uri="{FF2B5EF4-FFF2-40B4-BE49-F238E27FC236}">
                <a16:creationId xmlns:a16="http://schemas.microsoft.com/office/drawing/2014/main" id="{BD10E8A3-D194-0DFC-E795-113C85D6D313}"/>
              </a:ext>
            </a:extLst>
          </p:cNvPr>
          <p:cNvSpPr txBox="1">
            <a:spLocks noChangeArrowheads="1"/>
          </p:cNvSpPr>
          <p:nvPr/>
        </p:nvSpPr>
        <p:spPr>
          <a:xfrm>
            <a:off x="493594" y="942310"/>
            <a:ext cx="10828830" cy="5445481"/>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s-MX" sz="2000" noProof="0" dirty="0">
                <a:solidFill>
                  <a:srgbClr val="000000"/>
                </a:solidFill>
              </a:rPr>
              <a:t>Rutas estáticas </a:t>
            </a:r>
            <a:r>
              <a:rPr lang="en-US" sz="2000" dirty="0">
                <a:solidFill>
                  <a:srgbClr val="000000"/>
                </a:solidFill>
              </a:rPr>
              <a:t>para R2:</a:t>
            </a:r>
          </a:p>
          <a:p>
            <a:pPr marL="914400" lvl="2" indent="0">
              <a:buNone/>
            </a:pPr>
            <a:r>
              <a:rPr lang="en-US" sz="2000" dirty="0">
                <a:solidFill>
                  <a:srgbClr val="000000"/>
                </a:solidFill>
              </a:rPr>
              <a:t>R2 (config)# </a:t>
            </a:r>
            <a:r>
              <a:rPr lang="en-US" sz="2000" dirty="0" err="1">
                <a:solidFill>
                  <a:srgbClr val="000000"/>
                </a:solidFill>
              </a:rPr>
              <a:t>ip</a:t>
            </a:r>
            <a:r>
              <a:rPr lang="en-US" sz="2000" dirty="0">
                <a:solidFill>
                  <a:srgbClr val="000000"/>
                </a:solidFill>
              </a:rPr>
              <a:t> route 172.16.3.0  255.255.255.0  172.16.2.1</a:t>
            </a:r>
          </a:p>
          <a:p>
            <a:pPr marL="914400" lvl="2" indent="0">
              <a:buNone/>
            </a:pPr>
            <a:r>
              <a:rPr lang="en-US" sz="2000" dirty="0">
                <a:solidFill>
                  <a:srgbClr val="000000"/>
                </a:solidFill>
              </a:rPr>
              <a:t>R2 (config)# </a:t>
            </a:r>
            <a:r>
              <a:rPr lang="en-US" sz="2000" dirty="0" err="1">
                <a:solidFill>
                  <a:srgbClr val="000000"/>
                </a:solidFill>
              </a:rPr>
              <a:t>ip</a:t>
            </a:r>
            <a:r>
              <a:rPr lang="en-US" sz="2000" dirty="0">
                <a:solidFill>
                  <a:srgbClr val="000000"/>
                </a:solidFill>
              </a:rPr>
              <a:t> route 192.168.2.0  255.255.255.0  172.16.1.1</a:t>
            </a:r>
          </a:p>
          <a:p>
            <a:pPr marL="914400" lvl="2" indent="0">
              <a:buNone/>
            </a:pPr>
            <a:endParaRPr lang="en-US" sz="2000" dirty="0">
              <a:solidFill>
                <a:srgbClr val="000000"/>
              </a:solidFill>
            </a:endParaRPr>
          </a:p>
          <a:p>
            <a:pPr marL="0" indent="0">
              <a:buNone/>
            </a:pPr>
            <a:r>
              <a:rPr lang="es-MX" dirty="0">
                <a:solidFill>
                  <a:srgbClr val="000000"/>
                </a:solidFill>
              </a:rPr>
              <a:t>Rutas estáticas </a:t>
            </a:r>
            <a:r>
              <a:rPr lang="en-US" dirty="0">
                <a:solidFill>
                  <a:srgbClr val="000000"/>
                </a:solidFill>
              </a:rPr>
              <a:t>para R3:</a:t>
            </a: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172.16.1.0  255.255.255.0  192.168.1.2</a:t>
            </a: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192.16.2.0  255.255.255.0 192.168.1.2</a:t>
            </a: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192.16.3.0  255.255.255.0 192.168.1.2</a:t>
            </a:r>
          </a:p>
          <a:p>
            <a:pPr marL="914400" lvl="2" indent="0">
              <a:buNone/>
            </a:pPr>
            <a:endParaRPr lang="en-US" sz="2000" dirty="0">
              <a:solidFill>
                <a:srgbClr val="000000"/>
              </a:solidFill>
            </a:endParaRPr>
          </a:p>
        </p:txBody>
      </p:sp>
      <p:sp>
        <p:nvSpPr>
          <p:cNvPr id="2" name="CuadroTexto 1">
            <a:extLst>
              <a:ext uri="{FF2B5EF4-FFF2-40B4-BE49-F238E27FC236}">
                <a16:creationId xmlns:a16="http://schemas.microsoft.com/office/drawing/2014/main" id="{AB34F8F2-2C8D-3EAC-20B0-85D983A817A2}"/>
              </a:ext>
            </a:extLst>
          </p:cNvPr>
          <p:cNvSpPr txBox="1"/>
          <p:nvPr/>
        </p:nvSpPr>
        <p:spPr>
          <a:xfrm>
            <a:off x="335884" y="212973"/>
            <a:ext cx="5572125" cy="400110"/>
          </a:xfrm>
          <a:prstGeom prst="rect">
            <a:avLst/>
          </a:prstGeom>
          <a:noFill/>
        </p:spPr>
        <p:txBody>
          <a:bodyPr wrap="square" rtlCol="0">
            <a:spAutoFit/>
          </a:bodyPr>
          <a:lstStyle/>
          <a:p>
            <a:r>
              <a:rPr lang="es-MX" sz="2000" b="1" dirty="0">
                <a:solidFill>
                  <a:srgbClr val="C00000"/>
                </a:solidFill>
                <a:latin typeface="+mj-lt"/>
                <a:ea typeface="+mj-ea"/>
                <a:cs typeface="+mj-cs"/>
              </a:rPr>
              <a:t>Practica 4: rutas estáticas y sumarización</a:t>
            </a:r>
          </a:p>
        </p:txBody>
      </p:sp>
    </p:spTree>
    <p:extLst>
      <p:ext uri="{BB962C8B-B14F-4D97-AF65-F5344CB8AC3E}">
        <p14:creationId xmlns:p14="http://schemas.microsoft.com/office/powerpoint/2010/main" val="5284852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E544BCC-EBCB-C543-E3B9-780FFA0B43D4}"/>
              </a:ext>
            </a:extLst>
          </p:cNvPr>
          <p:cNvPicPr>
            <a:picLocks noChangeAspect="1"/>
          </p:cNvPicPr>
          <p:nvPr/>
        </p:nvPicPr>
        <p:blipFill>
          <a:blip r:embed="rId2"/>
          <a:stretch>
            <a:fillRect/>
          </a:stretch>
        </p:blipFill>
        <p:spPr>
          <a:xfrm>
            <a:off x="1538845" y="285477"/>
            <a:ext cx="9114310" cy="6287045"/>
          </a:xfrm>
          <a:prstGeom prst="rect">
            <a:avLst/>
          </a:prstGeom>
        </p:spPr>
      </p:pic>
      <p:sp>
        <p:nvSpPr>
          <p:cNvPr id="4" name="CuadroTexto 3">
            <a:extLst>
              <a:ext uri="{FF2B5EF4-FFF2-40B4-BE49-F238E27FC236}">
                <a16:creationId xmlns:a16="http://schemas.microsoft.com/office/drawing/2014/main" id="{2E0A5297-E3B4-6916-559A-D1D1804DED5C}"/>
              </a:ext>
            </a:extLst>
          </p:cNvPr>
          <p:cNvSpPr txBox="1"/>
          <p:nvPr/>
        </p:nvSpPr>
        <p:spPr>
          <a:xfrm>
            <a:off x="5181600" y="1426517"/>
            <a:ext cx="3657600" cy="461665"/>
          </a:xfrm>
          <a:prstGeom prst="rect">
            <a:avLst/>
          </a:prstGeom>
          <a:noFill/>
        </p:spPr>
        <p:txBody>
          <a:bodyPr wrap="square" rtlCol="0">
            <a:spAutoFit/>
          </a:bodyPr>
          <a:lstStyle/>
          <a:p>
            <a:r>
              <a:rPr lang="es-MX" sz="2400" b="1" dirty="0"/>
              <a:t>(</a:t>
            </a:r>
            <a:r>
              <a:rPr lang="es-MX" sz="2400" b="1" dirty="0" err="1"/>
              <a:t>sumarizadas</a:t>
            </a:r>
            <a:r>
              <a:rPr lang="es-MX" sz="2400" b="1" dirty="0"/>
              <a:t>)</a:t>
            </a:r>
          </a:p>
        </p:txBody>
      </p:sp>
    </p:spTree>
    <p:extLst>
      <p:ext uri="{BB962C8B-B14F-4D97-AF65-F5344CB8AC3E}">
        <p14:creationId xmlns:p14="http://schemas.microsoft.com/office/powerpoint/2010/main" val="17500855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D5062F2-52C1-7FAB-02FC-4BF451FD0B91}"/>
              </a:ext>
            </a:extLst>
          </p:cNvPr>
          <p:cNvPicPr>
            <a:picLocks noChangeAspect="1"/>
          </p:cNvPicPr>
          <p:nvPr/>
        </p:nvPicPr>
        <p:blipFill>
          <a:blip r:embed="rId2"/>
          <a:stretch>
            <a:fillRect/>
          </a:stretch>
        </p:blipFill>
        <p:spPr>
          <a:xfrm>
            <a:off x="1310225" y="1062785"/>
            <a:ext cx="9571549" cy="4732430"/>
          </a:xfrm>
          <a:prstGeom prst="rect">
            <a:avLst/>
          </a:prstGeom>
        </p:spPr>
      </p:pic>
    </p:spTree>
    <p:extLst>
      <p:ext uri="{BB962C8B-B14F-4D97-AF65-F5344CB8AC3E}">
        <p14:creationId xmlns:p14="http://schemas.microsoft.com/office/powerpoint/2010/main" val="415688777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A7C4CFA-8D07-82F2-E89E-16BA10371003}"/>
              </a:ext>
            </a:extLst>
          </p:cNvPr>
          <p:cNvPicPr>
            <a:picLocks noChangeAspect="1"/>
          </p:cNvPicPr>
          <p:nvPr/>
        </p:nvPicPr>
        <p:blipFill rotWithShape="1">
          <a:blip r:embed="rId2"/>
          <a:srcRect t="30765" b="-1337"/>
          <a:stretch/>
        </p:blipFill>
        <p:spPr>
          <a:xfrm>
            <a:off x="146626" y="3429000"/>
            <a:ext cx="7343558" cy="3429000"/>
          </a:xfrm>
          <a:prstGeom prst="rect">
            <a:avLst/>
          </a:prstGeom>
        </p:spPr>
      </p:pic>
      <p:pic>
        <p:nvPicPr>
          <p:cNvPr id="3" name="Imagen 2">
            <a:extLst>
              <a:ext uri="{FF2B5EF4-FFF2-40B4-BE49-F238E27FC236}">
                <a16:creationId xmlns:a16="http://schemas.microsoft.com/office/drawing/2014/main" id="{B097CC87-E916-78FA-A3B1-6FE02F6577F9}"/>
              </a:ext>
            </a:extLst>
          </p:cNvPr>
          <p:cNvPicPr>
            <a:picLocks noChangeAspect="1"/>
          </p:cNvPicPr>
          <p:nvPr/>
        </p:nvPicPr>
        <p:blipFill>
          <a:blip r:embed="rId3"/>
          <a:stretch>
            <a:fillRect/>
          </a:stretch>
        </p:blipFill>
        <p:spPr>
          <a:xfrm>
            <a:off x="4499551" y="0"/>
            <a:ext cx="7708033" cy="5210175"/>
          </a:xfrm>
          <a:prstGeom prst="rect">
            <a:avLst/>
          </a:prstGeom>
        </p:spPr>
      </p:pic>
    </p:spTree>
    <p:extLst>
      <p:ext uri="{BB962C8B-B14F-4D97-AF65-F5344CB8AC3E}">
        <p14:creationId xmlns:p14="http://schemas.microsoft.com/office/powerpoint/2010/main" val="29056567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601CE10-10CB-CF28-5456-C7EB119B602E}"/>
              </a:ext>
            </a:extLst>
          </p:cNvPr>
          <p:cNvPicPr>
            <a:picLocks noChangeAspect="1"/>
          </p:cNvPicPr>
          <p:nvPr/>
        </p:nvPicPr>
        <p:blipFill>
          <a:blip r:embed="rId2"/>
          <a:stretch>
            <a:fillRect/>
          </a:stretch>
        </p:blipFill>
        <p:spPr>
          <a:xfrm>
            <a:off x="1481690" y="30185"/>
            <a:ext cx="9228620" cy="6797629"/>
          </a:xfrm>
          <a:prstGeom prst="rect">
            <a:avLst/>
          </a:prstGeom>
        </p:spPr>
      </p:pic>
    </p:spTree>
    <p:extLst>
      <p:ext uri="{BB962C8B-B14F-4D97-AF65-F5344CB8AC3E}">
        <p14:creationId xmlns:p14="http://schemas.microsoft.com/office/powerpoint/2010/main" val="23232518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D3527-BAC6-C339-FA55-5356014DE31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053AF37-48F2-2AB5-C8D5-15ADD995E5DA}"/>
              </a:ext>
            </a:extLst>
          </p:cNvPr>
          <p:cNvSpPr txBox="1">
            <a:spLocks noChangeArrowheads="1"/>
          </p:cNvSpPr>
          <p:nvPr/>
        </p:nvSpPr>
        <p:spPr>
          <a:xfrm>
            <a:off x="493594" y="942310"/>
            <a:ext cx="10828830" cy="5445481"/>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s-MX" sz="2000" noProof="0" dirty="0">
                <a:solidFill>
                  <a:srgbClr val="000000"/>
                </a:solidFill>
              </a:rPr>
              <a:t>Por tanto las tres rutas estáticas de R3, con máscara de 24 bits:</a:t>
            </a:r>
            <a:endParaRPr lang="en-US" dirty="0">
              <a:solidFill>
                <a:srgbClr val="000000"/>
              </a:solidFill>
            </a:endParaRP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172.16.1.0  255.255.255.0  192.168.1.2</a:t>
            </a: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192.16.2.0  255.255.255.0 192.168.1.2</a:t>
            </a: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192.16.3.0  255.255.255.0 192.168.1.2</a:t>
            </a:r>
          </a:p>
          <a:p>
            <a:pPr marL="914400" lvl="2" indent="0">
              <a:buNone/>
            </a:pPr>
            <a:endParaRPr lang="en-US" sz="2000" dirty="0">
              <a:solidFill>
                <a:srgbClr val="000000"/>
              </a:solidFill>
            </a:endParaRPr>
          </a:p>
          <a:p>
            <a:pPr marL="0" lvl="2" indent="0">
              <a:buNone/>
            </a:pPr>
            <a:r>
              <a:rPr lang="es-MX" sz="2000" noProof="0" dirty="0">
                <a:solidFill>
                  <a:srgbClr val="000000"/>
                </a:solidFill>
              </a:rPr>
              <a:t>Se Pueden sustituir por una sola ruta con </a:t>
            </a:r>
            <a:r>
              <a:rPr lang="en-US" sz="2000" dirty="0">
                <a:solidFill>
                  <a:srgbClr val="000000"/>
                </a:solidFill>
              </a:rPr>
              <a:t>mascara de 22 bits</a:t>
            </a:r>
          </a:p>
          <a:p>
            <a:pPr marL="0" lvl="2" indent="0">
              <a:buNone/>
            </a:pPr>
            <a:r>
              <a:rPr lang="en-US" sz="2000" dirty="0">
                <a:solidFill>
                  <a:srgbClr val="000000"/>
                </a:solidFill>
              </a:rPr>
              <a:t>		R3 (config)# </a:t>
            </a:r>
            <a:r>
              <a:rPr lang="en-US" sz="2000" dirty="0" err="1">
                <a:solidFill>
                  <a:srgbClr val="000000"/>
                </a:solidFill>
              </a:rPr>
              <a:t>ip</a:t>
            </a:r>
            <a:r>
              <a:rPr lang="en-US" sz="2000" dirty="0">
                <a:solidFill>
                  <a:srgbClr val="000000"/>
                </a:solidFill>
              </a:rPr>
              <a:t> route 172.16.</a:t>
            </a:r>
            <a:r>
              <a:rPr lang="en-US" sz="2000" b="1" dirty="0">
                <a:solidFill>
                  <a:srgbClr val="C00000"/>
                </a:solidFill>
              </a:rPr>
              <a:t>0</a:t>
            </a:r>
            <a:r>
              <a:rPr lang="en-US" sz="2000" dirty="0">
                <a:solidFill>
                  <a:srgbClr val="000000"/>
                </a:solidFill>
              </a:rPr>
              <a:t>.0  255.255.</a:t>
            </a:r>
            <a:r>
              <a:rPr lang="en-US" sz="2000" b="1" dirty="0">
                <a:solidFill>
                  <a:srgbClr val="C00000"/>
                </a:solidFill>
              </a:rPr>
              <a:t>252</a:t>
            </a:r>
            <a:r>
              <a:rPr lang="en-US" sz="2000" dirty="0">
                <a:solidFill>
                  <a:srgbClr val="000000"/>
                </a:solidFill>
              </a:rPr>
              <a:t>.0  192.168.1.2</a:t>
            </a:r>
          </a:p>
          <a:p>
            <a:pPr marL="0" lvl="2" indent="0">
              <a:buNone/>
            </a:pPr>
            <a:endParaRPr lang="en-US" sz="2000" dirty="0">
              <a:solidFill>
                <a:srgbClr val="000000"/>
              </a:solidFill>
            </a:endParaRPr>
          </a:p>
          <a:p>
            <a:pPr marL="0" lvl="2" indent="0">
              <a:buNone/>
            </a:pPr>
            <a:r>
              <a:rPr lang="en-US" sz="2000" dirty="0">
                <a:solidFill>
                  <a:srgbClr val="000000"/>
                </a:solidFill>
              </a:rPr>
              <a:t>Tal </a:t>
            </a:r>
            <a:r>
              <a:rPr lang="es-MX" sz="2000" noProof="0" dirty="0">
                <a:solidFill>
                  <a:srgbClr val="000000"/>
                </a:solidFill>
              </a:rPr>
              <a:t>como se muestra en las tablas de rutas siguientes:</a:t>
            </a:r>
          </a:p>
          <a:p>
            <a:pPr marL="0" lvl="2" indent="0">
              <a:buNone/>
            </a:pPr>
            <a:endParaRPr lang="en-US" sz="2000" dirty="0">
              <a:solidFill>
                <a:srgbClr val="000000"/>
              </a:solidFill>
            </a:endParaRPr>
          </a:p>
          <a:p>
            <a:pPr marL="914400" lvl="2" indent="0">
              <a:buNone/>
            </a:pPr>
            <a:endParaRPr lang="en-US" sz="2000" dirty="0">
              <a:solidFill>
                <a:srgbClr val="000000"/>
              </a:solidFill>
            </a:endParaRPr>
          </a:p>
        </p:txBody>
      </p:sp>
      <p:sp>
        <p:nvSpPr>
          <p:cNvPr id="2" name="CuadroTexto 1">
            <a:extLst>
              <a:ext uri="{FF2B5EF4-FFF2-40B4-BE49-F238E27FC236}">
                <a16:creationId xmlns:a16="http://schemas.microsoft.com/office/drawing/2014/main" id="{DEB4946F-91D4-76FC-608E-0A4938A17964}"/>
              </a:ext>
            </a:extLst>
          </p:cNvPr>
          <p:cNvSpPr txBox="1"/>
          <p:nvPr/>
        </p:nvSpPr>
        <p:spPr>
          <a:xfrm>
            <a:off x="335884" y="212973"/>
            <a:ext cx="5572125" cy="400110"/>
          </a:xfrm>
          <a:prstGeom prst="rect">
            <a:avLst/>
          </a:prstGeom>
          <a:noFill/>
        </p:spPr>
        <p:txBody>
          <a:bodyPr wrap="square" rtlCol="0">
            <a:spAutoFit/>
          </a:bodyPr>
          <a:lstStyle/>
          <a:p>
            <a:r>
              <a:rPr lang="es-MX" sz="2000" b="1" dirty="0">
                <a:solidFill>
                  <a:srgbClr val="C00000"/>
                </a:solidFill>
                <a:latin typeface="+mj-lt"/>
                <a:ea typeface="+mj-ea"/>
                <a:cs typeface="+mj-cs"/>
              </a:rPr>
              <a:t>Sumarización</a:t>
            </a:r>
          </a:p>
        </p:txBody>
      </p:sp>
    </p:spTree>
    <p:extLst>
      <p:ext uri="{BB962C8B-B14F-4D97-AF65-F5344CB8AC3E}">
        <p14:creationId xmlns:p14="http://schemas.microsoft.com/office/powerpoint/2010/main" val="85166219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80CC68A-860C-3A1D-8922-58B4F2A559B4}"/>
              </a:ext>
            </a:extLst>
          </p:cNvPr>
          <p:cNvPicPr>
            <a:picLocks noChangeAspect="1"/>
          </p:cNvPicPr>
          <p:nvPr/>
        </p:nvPicPr>
        <p:blipFill>
          <a:blip r:embed="rId2"/>
          <a:stretch>
            <a:fillRect/>
          </a:stretch>
        </p:blipFill>
        <p:spPr>
          <a:xfrm>
            <a:off x="1420725" y="430270"/>
            <a:ext cx="9350550" cy="5997460"/>
          </a:xfrm>
          <a:prstGeom prst="rect">
            <a:avLst/>
          </a:prstGeom>
        </p:spPr>
      </p:pic>
    </p:spTree>
    <p:extLst>
      <p:ext uri="{BB962C8B-B14F-4D97-AF65-F5344CB8AC3E}">
        <p14:creationId xmlns:p14="http://schemas.microsoft.com/office/powerpoint/2010/main" val="6730311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544EFA0-FD73-786A-A52B-7774A4CFDA6F}"/>
              </a:ext>
            </a:extLst>
          </p:cNvPr>
          <p:cNvPicPr>
            <a:picLocks noChangeAspect="1"/>
          </p:cNvPicPr>
          <p:nvPr/>
        </p:nvPicPr>
        <p:blipFill>
          <a:blip r:embed="rId2"/>
          <a:stretch>
            <a:fillRect/>
          </a:stretch>
        </p:blipFill>
        <p:spPr>
          <a:xfrm>
            <a:off x="1458828" y="456942"/>
            <a:ext cx="9274344" cy="5944115"/>
          </a:xfrm>
          <a:prstGeom prst="rect">
            <a:avLst/>
          </a:prstGeom>
        </p:spPr>
      </p:pic>
    </p:spTree>
    <p:extLst>
      <p:ext uri="{BB962C8B-B14F-4D97-AF65-F5344CB8AC3E}">
        <p14:creationId xmlns:p14="http://schemas.microsoft.com/office/powerpoint/2010/main" val="37681862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B8D42BB-E0A0-96B0-8E62-FC61B9564F11}"/>
              </a:ext>
            </a:extLst>
          </p:cNvPr>
          <p:cNvPicPr>
            <a:picLocks noChangeAspect="1"/>
          </p:cNvPicPr>
          <p:nvPr/>
        </p:nvPicPr>
        <p:blipFill>
          <a:blip r:embed="rId2"/>
          <a:stretch>
            <a:fillRect/>
          </a:stretch>
        </p:blipFill>
        <p:spPr>
          <a:xfrm>
            <a:off x="1466286" y="0"/>
            <a:ext cx="9259428" cy="6858000"/>
          </a:xfrm>
          <a:prstGeom prst="rect">
            <a:avLst/>
          </a:prstGeom>
        </p:spPr>
      </p:pic>
    </p:spTree>
    <p:extLst>
      <p:ext uri="{BB962C8B-B14F-4D97-AF65-F5344CB8AC3E}">
        <p14:creationId xmlns:p14="http://schemas.microsoft.com/office/powerpoint/2010/main" val="64098894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5C349D0-F6DC-6F7B-5F4E-45532BDFA26B}"/>
              </a:ext>
            </a:extLst>
          </p:cNvPr>
          <p:cNvPicPr>
            <a:picLocks noChangeAspect="1"/>
          </p:cNvPicPr>
          <p:nvPr/>
        </p:nvPicPr>
        <p:blipFill>
          <a:blip r:embed="rId2"/>
          <a:stretch>
            <a:fillRect/>
          </a:stretch>
        </p:blipFill>
        <p:spPr>
          <a:xfrm>
            <a:off x="1390242" y="475994"/>
            <a:ext cx="9411516" cy="5906012"/>
          </a:xfrm>
          <a:prstGeom prst="rect">
            <a:avLst/>
          </a:prstGeom>
        </p:spPr>
      </p:pic>
    </p:spTree>
    <p:extLst>
      <p:ext uri="{BB962C8B-B14F-4D97-AF65-F5344CB8AC3E}">
        <p14:creationId xmlns:p14="http://schemas.microsoft.com/office/powerpoint/2010/main" val="21582379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EF2BC4A-E6C6-1F0A-CBBF-87D2AE356617}"/>
              </a:ext>
            </a:extLst>
          </p:cNvPr>
          <p:cNvSpPr txBox="1">
            <a:spLocks noChangeArrowheads="1"/>
          </p:cNvSpPr>
          <p:nvPr/>
        </p:nvSpPr>
        <p:spPr>
          <a:xfrm>
            <a:off x="457200" y="274638"/>
            <a:ext cx="8229600" cy="705076"/>
          </a:xfrm>
          <a:prstGeom prst="rect">
            <a:avLst/>
          </a:prstGeom>
        </p:spPr>
        <p:txBody>
          <a:bodyPr>
            <a:normAutofit fontScale="975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t>Ruta </a:t>
            </a:r>
            <a:r>
              <a:rPr lang="es-MX" sz="2800" b="1" noProof="0" dirty="0"/>
              <a:t>por defecto</a:t>
            </a:r>
            <a:endParaRPr lang="en-US" sz="2800" b="1" dirty="0"/>
          </a:p>
        </p:txBody>
      </p:sp>
      <p:sp>
        <p:nvSpPr>
          <p:cNvPr id="3" name="Rectangle 3">
            <a:extLst>
              <a:ext uri="{FF2B5EF4-FFF2-40B4-BE49-F238E27FC236}">
                <a16:creationId xmlns:a16="http://schemas.microsoft.com/office/drawing/2014/main" id="{8DD5B826-93A4-03A4-8D8E-29A17299C441}"/>
              </a:ext>
            </a:extLst>
          </p:cNvPr>
          <p:cNvSpPr txBox="1">
            <a:spLocks noChangeArrowheads="1"/>
          </p:cNvSpPr>
          <p:nvPr/>
        </p:nvSpPr>
        <p:spPr>
          <a:xfrm>
            <a:off x="117566" y="1380581"/>
            <a:ext cx="11560084" cy="5345657"/>
          </a:xfrm>
          <a:prstGeom prst="rect">
            <a:avLst/>
          </a:prstGeom>
        </p:spPr>
        <p:txBody>
          <a:bodyP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ClrTx/>
            </a:pPr>
            <a:r>
              <a:rPr lang="es-MX" b="1" noProof="0" dirty="0">
                <a:solidFill>
                  <a:srgbClr val="000000"/>
                </a:solidFill>
              </a:rPr>
              <a:t>Rutas estáticas por defecto</a:t>
            </a:r>
            <a:endParaRPr lang="es-MX" noProof="0" dirty="0">
              <a:solidFill>
                <a:srgbClr val="000000"/>
              </a:solidFill>
            </a:endParaRPr>
          </a:p>
          <a:p>
            <a:pPr marL="895350" lvl="1" indent="-266700">
              <a:buClr>
                <a:srgbClr val="0183B7"/>
              </a:buClr>
              <a:buFont typeface="Wingdings" pitchFamily="2" charset="2"/>
              <a:buChar char="§"/>
            </a:pPr>
            <a:r>
              <a:rPr lang="en-US" sz="2000" dirty="0">
                <a:solidFill>
                  <a:srgbClr val="000000"/>
                </a:solidFill>
              </a:rPr>
              <a:t> </a:t>
            </a:r>
            <a:r>
              <a:rPr lang="es-MX" sz="2000" noProof="0" dirty="0">
                <a:solidFill>
                  <a:srgbClr val="0066FF"/>
                </a:solidFill>
              </a:rPr>
              <a:t>Ésta es una ruta que coincidirá con todos los paquetes</a:t>
            </a:r>
            <a:r>
              <a:rPr lang="en-US" sz="2000" dirty="0">
                <a:solidFill>
                  <a:srgbClr val="000000"/>
                </a:solidFill>
              </a:rPr>
              <a:t>. </a:t>
            </a:r>
            <a:br>
              <a:rPr lang="cs-CZ" sz="2000" dirty="0">
                <a:solidFill>
                  <a:srgbClr val="000000"/>
                </a:solidFill>
              </a:rPr>
            </a:br>
            <a:r>
              <a:rPr lang="en-US" sz="2000" dirty="0">
                <a:solidFill>
                  <a:srgbClr val="000000"/>
                </a:solidFill>
              </a:rPr>
              <a:t>Los routers de </a:t>
            </a:r>
            <a:r>
              <a:rPr lang="es-MX" sz="2000" noProof="0" dirty="0">
                <a:solidFill>
                  <a:srgbClr val="000000"/>
                </a:solidFill>
              </a:rPr>
              <a:t>conexión única que tienen una cantidad de rutas estáticas con la misma interfaz de salida son buenos candidatos para una ruta por defecto.</a:t>
            </a:r>
          </a:p>
          <a:p>
            <a:pPr marL="895350" lvl="1" indent="-266700">
              <a:buClr>
                <a:srgbClr val="0183B7"/>
              </a:buClr>
              <a:buFont typeface="Wingdings" pitchFamily="2" charset="2"/>
              <a:buChar char="§"/>
            </a:pPr>
            <a:r>
              <a:rPr lang="es-MX" sz="2000" noProof="0" dirty="0">
                <a:solidFill>
                  <a:srgbClr val="000000"/>
                </a:solidFill>
              </a:rPr>
              <a:t>Al igual </a:t>
            </a:r>
            <a:r>
              <a:rPr lang="en-US" sz="2000" dirty="0">
                <a:solidFill>
                  <a:srgbClr val="000000"/>
                </a:solidFill>
              </a:rPr>
              <a:t>que la sumarización de </a:t>
            </a:r>
            <a:r>
              <a:rPr lang="es-MX" sz="2000" noProof="0" dirty="0">
                <a:solidFill>
                  <a:srgbClr val="000000"/>
                </a:solidFill>
              </a:rPr>
              <a:t>ruta, esto ayudará a reducir el tamaño de la tabla de enrutamiento.</a:t>
            </a:r>
            <a:endParaRPr lang="en-US" sz="2000" dirty="0">
              <a:solidFill>
                <a:srgbClr val="000000"/>
              </a:solidFill>
            </a:endParaRPr>
          </a:p>
          <a:p>
            <a:pPr>
              <a:buClrTx/>
            </a:pPr>
            <a:r>
              <a:rPr lang="es-MX" b="1" noProof="0" dirty="0"/>
              <a:t>Configuración de una ruta estática por defecto</a:t>
            </a:r>
            <a:endParaRPr lang="es-MX" noProof="0" dirty="0"/>
          </a:p>
          <a:p>
            <a:pPr marL="895350" lvl="1" indent="-266700">
              <a:buClr>
                <a:srgbClr val="0183B7"/>
              </a:buClr>
              <a:buFont typeface="Wingdings" pitchFamily="2" charset="2"/>
              <a:buChar char="§"/>
            </a:pPr>
            <a:r>
              <a:rPr lang="es-MX" sz="2000" noProof="0" dirty="0"/>
              <a:t> Es similar a configurar una ruta estática. Excepto que la dirección IP de destino y la máscara de subred son todos ceros.</a:t>
            </a:r>
          </a:p>
          <a:p>
            <a:pPr marL="895350" lvl="1" indent="-266700">
              <a:buClr>
                <a:srgbClr val="0183B7"/>
              </a:buClr>
              <a:buFont typeface="Wingdings" pitchFamily="2" charset="2"/>
              <a:buChar char="§"/>
            </a:pPr>
            <a:r>
              <a:rPr lang="es-MX" sz="2000" noProof="0" dirty="0"/>
              <a:t> Ejemplo:</a:t>
            </a:r>
          </a:p>
          <a:p>
            <a:pPr marL="914400" lvl="2" indent="0">
              <a:buFont typeface="Wingdings 3" charset="2"/>
              <a:buNone/>
            </a:pPr>
            <a:r>
              <a:rPr lang="en-US" sz="2000" b="1" dirty="0"/>
              <a:t>Router(config)#ip route 0.0.0.0  0.0.0.0 [</a:t>
            </a:r>
            <a:r>
              <a:rPr lang="es-MX" sz="2000" b="1" noProof="0" dirty="0"/>
              <a:t>interfaz de salida | dirección </a:t>
            </a:r>
            <a:r>
              <a:rPr lang="es-MX" sz="2000" b="1" noProof="0" dirty="0" err="1"/>
              <a:t>ip</a:t>
            </a:r>
            <a:r>
              <a:rPr lang="es-MX" sz="2000" b="1" noProof="0" dirty="0"/>
              <a:t>]</a:t>
            </a:r>
            <a:endParaRPr lang="en-US" sz="2000" b="1" dirty="0"/>
          </a:p>
        </p:txBody>
      </p:sp>
    </p:spTree>
    <p:extLst>
      <p:ext uri="{BB962C8B-B14F-4D97-AF65-F5344CB8AC3E}">
        <p14:creationId xmlns:p14="http://schemas.microsoft.com/office/powerpoint/2010/main" val="246877452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23273-D9E7-898E-56DA-496B692C99C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0A92ECE-B42D-90D3-B5D8-899B3AF38DD5}"/>
              </a:ext>
            </a:extLst>
          </p:cNvPr>
          <p:cNvSpPr txBox="1"/>
          <p:nvPr/>
        </p:nvSpPr>
        <p:spPr>
          <a:xfrm>
            <a:off x="1876425" y="2409825"/>
            <a:ext cx="8410575" cy="830997"/>
          </a:xfrm>
          <a:prstGeom prst="rect">
            <a:avLst/>
          </a:prstGeom>
          <a:noFill/>
        </p:spPr>
        <p:txBody>
          <a:bodyPr wrap="square" rtlCol="0">
            <a:spAutoFit/>
          </a:bodyPr>
          <a:lstStyle/>
          <a:p>
            <a:r>
              <a:rPr lang="es-MX" sz="4800" dirty="0"/>
              <a:t>Otros comandos de apoyo</a:t>
            </a:r>
          </a:p>
        </p:txBody>
      </p:sp>
    </p:spTree>
    <p:extLst>
      <p:ext uri="{BB962C8B-B14F-4D97-AF65-F5344CB8AC3E}">
        <p14:creationId xmlns:p14="http://schemas.microsoft.com/office/powerpoint/2010/main" val="23395414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49F3E62-E5B7-0E48-67DA-B6917C9C21A7}"/>
              </a:ext>
            </a:extLst>
          </p:cNvPr>
          <p:cNvPicPr>
            <a:picLocks noChangeAspect="1"/>
          </p:cNvPicPr>
          <p:nvPr/>
        </p:nvPicPr>
        <p:blipFill>
          <a:blip r:embed="rId2"/>
          <a:stretch>
            <a:fillRect/>
          </a:stretch>
        </p:blipFill>
        <p:spPr>
          <a:xfrm>
            <a:off x="1477880" y="140685"/>
            <a:ext cx="9236240" cy="6576630"/>
          </a:xfrm>
          <a:prstGeom prst="rect">
            <a:avLst/>
          </a:prstGeom>
        </p:spPr>
      </p:pic>
    </p:spTree>
    <p:extLst>
      <p:ext uri="{BB962C8B-B14F-4D97-AF65-F5344CB8AC3E}">
        <p14:creationId xmlns:p14="http://schemas.microsoft.com/office/powerpoint/2010/main" val="67528914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78F36CD-D67B-BF32-CCC5-E9E21D97AA86}"/>
              </a:ext>
            </a:extLst>
          </p:cNvPr>
          <p:cNvPicPr>
            <a:picLocks noChangeAspect="1"/>
          </p:cNvPicPr>
          <p:nvPr/>
        </p:nvPicPr>
        <p:blipFill>
          <a:blip r:embed="rId2"/>
          <a:stretch>
            <a:fillRect/>
          </a:stretch>
        </p:blipFill>
        <p:spPr>
          <a:xfrm>
            <a:off x="1576948" y="323581"/>
            <a:ext cx="9038103" cy="6210838"/>
          </a:xfrm>
          <a:prstGeom prst="rect">
            <a:avLst/>
          </a:prstGeom>
        </p:spPr>
      </p:pic>
    </p:spTree>
    <p:extLst>
      <p:ext uri="{BB962C8B-B14F-4D97-AF65-F5344CB8AC3E}">
        <p14:creationId xmlns:p14="http://schemas.microsoft.com/office/powerpoint/2010/main" val="326383528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9440183-76DA-D015-06F4-3EC018999CEC}"/>
              </a:ext>
            </a:extLst>
          </p:cNvPr>
          <p:cNvSpPr txBox="1">
            <a:spLocks noChangeArrowheads="1"/>
          </p:cNvSpPr>
          <p:nvPr/>
        </p:nvSpPr>
        <p:spPr>
          <a:xfrm>
            <a:off x="457200" y="274638"/>
            <a:ext cx="8229600" cy="680705"/>
          </a:xfrm>
          <a:prstGeom prst="rect">
            <a:avLst/>
          </a:prstGeom>
        </p:spPr>
        <p:txBody>
          <a:bodyPr>
            <a:normAutofit fontScale="75000" lnSpcReduction="200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Protocolo CDP y tabla de enrutamiento</a:t>
            </a:r>
            <a:endParaRPr lang="en-US" dirty="0"/>
          </a:p>
        </p:txBody>
      </p:sp>
      <p:sp>
        <p:nvSpPr>
          <p:cNvPr id="3" name="Rectangle 3">
            <a:extLst>
              <a:ext uri="{FF2B5EF4-FFF2-40B4-BE49-F238E27FC236}">
                <a16:creationId xmlns:a16="http://schemas.microsoft.com/office/drawing/2014/main" id="{99A7432B-A53E-5464-066A-E635306D14CE}"/>
              </a:ext>
            </a:extLst>
          </p:cNvPr>
          <p:cNvSpPr txBox="1">
            <a:spLocks noChangeArrowheads="1"/>
          </p:cNvSpPr>
          <p:nvPr/>
        </p:nvSpPr>
        <p:spPr>
          <a:xfrm>
            <a:off x="457200" y="871182"/>
            <a:ext cx="11277600" cy="5445481"/>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2400" dirty="0">
                <a:solidFill>
                  <a:srgbClr val="000000"/>
                </a:solidFill>
              </a:rPr>
              <a:t>Comandos show de CDP</a:t>
            </a:r>
          </a:p>
          <a:p>
            <a:pPr lvl="1" indent="0">
              <a:buClr>
                <a:srgbClr val="0183B7"/>
              </a:buClr>
              <a:buFont typeface="Wingdings" pitchFamily="2" charset="2"/>
              <a:buChar char="§"/>
            </a:pPr>
            <a:r>
              <a:rPr lang="en-US" sz="2400" dirty="0">
                <a:solidFill>
                  <a:srgbClr val="000000"/>
                </a:solidFill>
              </a:rPr>
              <a:t> El comando </a:t>
            </a:r>
            <a:r>
              <a:rPr lang="en-US" sz="2400" dirty="0">
                <a:solidFill>
                  <a:srgbClr val="B21A1A"/>
                </a:solidFill>
              </a:rPr>
              <a:t>show </a:t>
            </a:r>
            <a:r>
              <a:rPr lang="en-US" sz="2400" dirty="0" err="1">
                <a:solidFill>
                  <a:srgbClr val="B21A1A"/>
                </a:solidFill>
              </a:rPr>
              <a:t>cdp</a:t>
            </a:r>
            <a:r>
              <a:rPr lang="en-US" sz="2400" dirty="0">
                <a:solidFill>
                  <a:srgbClr val="B21A1A"/>
                </a:solidFill>
              </a:rPr>
              <a:t> neighbors</a:t>
            </a:r>
            <a:endParaRPr lang="en-US" sz="2400" dirty="0">
              <a:solidFill>
                <a:srgbClr val="000000"/>
              </a:solidFill>
            </a:endParaRPr>
          </a:p>
          <a:p>
            <a:pPr lvl="2"/>
            <a:r>
              <a:rPr lang="en-US" sz="2400" dirty="0">
                <a:solidFill>
                  <a:srgbClr val="000000"/>
                </a:solidFill>
              </a:rPr>
              <a:t>- Muestra la siguiente información:</a:t>
            </a:r>
          </a:p>
          <a:p>
            <a:pPr lvl="3" indent="0">
              <a:buClr>
                <a:srgbClr val="0183B7"/>
              </a:buClr>
              <a:buFont typeface="Wingdings" pitchFamily="2" charset="2"/>
              <a:buChar char="§"/>
            </a:pPr>
            <a:r>
              <a:rPr lang="en-US" sz="2400" dirty="0">
                <a:solidFill>
                  <a:srgbClr val="000000"/>
                </a:solidFill>
              </a:rPr>
              <a:t> ID del dispositivo vecino</a:t>
            </a:r>
          </a:p>
          <a:p>
            <a:pPr lvl="3" indent="0">
              <a:buClr>
                <a:srgbClr val="0183B7"/>
              </a:buClr>
              <a:buFont typeface="Wingdings" pitchFamily="2" charset="2"/>
              <a:buChar char="§"/>
            </a:pPr>
            <a:r>
              <a:rPr lang="en-US" sz="2400" dirty="0">
                <a:solidFill>
                  <a:srgbClr val="000000"/>
                </a:solidFill>
              </a:rPr>
              <a:t> </a:t>
            </a:r>
            <a:r>
              <a:rPr lang="en-US" sz="2400" dirty="0" err="1">
                <a:solidFill>
                  <a:srgbClr val="000000"/>
                </a:solidFill>
              </a:rPr>
              <a:t>Interfaz</a:t>
            </a:r>
            <a:r>
              <a:rPr lang="en-US" sz="2400" dirty="0">
                <a:solidFill>
                  <a:srgbClr val="000000"/>
                </a:solidFill>
              </a:rPr>
              <a:t> local</a:t>
            </a:r>
          </a:p>
          <a:p>
            <a:pPr lvl="3" indent="0">
              <a:buClr>
                <a:srgbClr val="0183B7"/>
              </a:buClr>
              <a:buFont typeface="Wingdings" pitchFamily="2" charset="2"/>
              <a:buChar char="§"/>
            </a:pPr>
            <a:r>
              <a:rPr lang="en-US" sz="2400" dirty="0">
                <a:solidFill>
                  <a:srgbClr val="000000"/>
                </a:solidFill>
              </a:rPr>
              <a:t> Valor del tiempo de espera, en segundos</a:t>
            </a:r>
          </a:p>
          <a:p>
            <a:pPr lvl="3" indent="0">
              <a:buClr>
                <a:srgbClr val="0183B7"/>
              </a:buClr>
              <a:buFont typeface="Wingdings" pitchFamily="2" charset="2"/>
              <a:buChar char="§"/>
            </a:pPr>
            <a:r>
              <a:rPr lang="en-US" sz="2400" dirty="0">
                <a:solidFill>
                  <a:srgbClr val="000000"/>
                </a:solidFill>
              </a:rPr>
              <a:t> Código de capacidad del dispositivo vecino</a:t>
            </a:r>
          </a:p>
          <a:p>
            <a:pPr lvl="3" indent="0">
              <a:buClr>
                <a:srgbClr val="0183B7"/>
              </a:buClr>
              <a:buFont typeface="Wingdings" pitchFamily="2" charset="2"/>
              <a:buChar char="§"/>
            </a:pPr>
            <a:r>
              <a:rPr lang="en-US" sz="2400" dirty="0">
                <a:solidFill>
                  <a:srgbClr val="000000"/>
                </a:solidFill>
              </a:rPr>
              <a:t> Plataforma de hardware del vecino</a:t>
            </a:r>
          </a:p>
          <a:p>
            <a:pPr lvl="3" indent="0">
              <a:buClr>
                <a:srgbClr val="0183B7"/>
              </a:buClr>
              <a:buFont typeface="Wingdings" pitchFamily="2" charset="2"/>
              <a:buChar char="§"/>
            </a:pPr>
            <a:r>
              <a:rPr lang="en-US" sz="2400" dirty="0">
                <a:solidFill>
                  <a:srgbClr val="000000"/>
                </a:solidFill>
              </a:rPr>
              <a:t> ID del </a:t>
            </a:r>
            <a:r>
              <a:rPr lang="es-MX" sz="2400" noProof="0" dirty="0">
                <a:solidFill>
                  <a:srgbClr val="000000"/>
                </a:solidFill>
              </a:rPr>
              <a:t>puerto remoto </a:t>
            </a:r>
            <a:r>
              <a:rPr lang="en-US" sz="2400" dirty="0">
                <a:solidFill>
                  <a:srgbClr val="000000"/>
                </a:solidFill>
              </a:rPr>
              <a:t>del vecino</a:t>
            </a:r>
          </a:p>
          <a:p>
            <a:pPr lvl="1" indent="0">
              <a:buClr>
                <a:srgbClr val="0183B7"/>
              </a:buClr>
              <a:buFont typeface="Wingdings" pitchFamily="2" charset="2"/>
              <a:buChar char="§"/>
            </a:pPr>
            <a:r>
              <a:rPr lang="en-US" sz="2400" dirty="0">
                <a:solidFill>
                  <a:srgbClr val="000000"/>
                </a:solidFill>
              </a:rPr>
              <a:t> El comando </a:t>
            </a:r>
            <a:r>
              <a:rPr lang="en-US" sz="2400" dirty="0">
                <a:solidFill>
                  <a:srgbClr val="B21A1A"/>
                </a:solidFill>
              </a:rPr>
              <a:t>show </a:t>
            </a:r>
            <a:r>
              <a:rPr lang="en-US" sz="2400" dirty="0" err="1">
                <a:solidFill>
                  <a:srgbClr val="B21A1A"/>
                </a:solidFill>
              </a:rPr>
              <a:t>cdp</a:t>
            </a:r>
            <a:r>
              <a:rPr lang="en-US" sz="2400" dirty="0">
                <a:solidFill>
                  <a:srgbClr val="B21A1A"/>
                </a:solidFill>
              </a:rPr>
              <a:t> neighbors detail</a:t>
            </a:r>
            <a:r>
              <a:rPr lang="en-US" sz="2400" dirty="0">
                <a:solidFill>
                  <a:srgbClr val="000000"/>
                </a:solidFill>
              </a:rPr>
              <a:t> </a:t>
            </a:r>
          </a:p>
          <a:p>
            <a:pPr lvl="2"/>
            <a:r>
              <a:rPr lang="en-US" sz="2400" dirty="0">
                <a:solidFill>
                  <a:srgbClr val="000000"/>
                </a:solidFill>
              </a:rPr>
              <a:t>- </a:t>
            </a:r>
            <a:r>
              <a:rPr lang="es-MX" sz="2400" noProof="0" dirty="0">
                <a:solidFill>
                  <a:srgbClr val="000000"/>
                </a:solidFill>
              </a:rPr>
              <a:t>Útil para determinar si se produjo un error de configuración de dirección </a:t>
            </a:r>
            <a:r>
              <a:rPr lang="en-US" sz="2400" dirty="0">
                <a:solidFill>
                  <a:srgbClr val="000000"/>
                </a:solidFill>
              </a:rPr>
              <a:t>IP</a:t>
            </a:r>
          </a:p>
        </p:txBody>
      </p:sp>
    </p:spTree>
    <p:extLst>
      <p:ext uri="{BB962C8B-B14F-4D97-AF65-F5344CB8AC3E}">
        <p14:creationId xmlns:p14="http://schemas.microsoft.com/office/powerpoint/2010/main" val="40696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6E4F662-8F8F-BEFD-60A1-F16D84C3BA92}"/>
              </a:ext>
            </a:extLst>
          </p:cNvPr>
          <p:cNvPicPr>
            <a:picLocks noChangeAspect="1"/>
          </p:cNvPicPr>
          <p:nvPr/>
        </p:nvPicPr>
        <p:blipFill>
          <a:blip r:embed="rId2"/>
          <a:stretch>
            <a:fillRect/>
          </a:stretch>
        </p:blipFill>
        <p:spPr>
          <a:xfrm>
            <a:off x="1592189" y="380736"/>
            <a:ext cx="9007621" cy="6096528"/>
          </a:xfrm>
          <a:prstGeom prst="rect">
            <a:avLst/>
          </a:prstGeom>
        </p:spPr>
      </p:pic>
    </p:spTree>
    <p:extLst>
      <p:ext uri="{BB962C8B-B14F-4D97-AF65-F5344CB8AC3E}">
        <p14:creationId xmlns:p14="http://schemas.microsoft.com/office/powerpoint/2010/main" val="13059532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20D7862-BBEF-6314-0063-5A08ACC3156D}"/>
              </a:ext>
            </a:extLst>
          </p:cNvPr>
          <p:cNvPicPr>
            <a:picLocks noChangeAspect="1"/>
          </p:cNvPicPr>
          <p:nvPr/>
        </p:nvPicPr>
        <p:blipFill>
          <a:blip r:embed="rId2"/>
          <a:stretch>
            <a:fillRect/>
          </a:stretch>
        </p:blipFill>
        <p:spPr>
          <a:xfrm>
            <a:off x="1626482" y="121633"/>
            <a:ext cx="8939035" cy="6614733"/>
          </a:xfrm>
          <a:prstGeom prst="rect">
            <a:avLst/>
          </a:prstGeom>
        </p:spPr>
      </p:pic>
    </p:spTree>
    <p:extLst>
      <p:ext uri="{BB962C8B-B14F-4D97-AF65-F5344CB8AC3E}">
        <p14:creationId xmlns:p14="http://schemas.microsoft.com/office/powerpoint/2010/main" val="189118202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3CE5155-3C38-5C11-E10C-E3AC8E759C16}"/>
              </a:ext>
            </a:extLst>
          </p:cNvPr>
          <p:cNvPicPr>
            <a:picLocks noChangeAspect="1"/>
          </p:cNvPicPr>
          <p:nvPr/>
        </p:nvPicPr>
        <p:blipFill>
          <a:blip r:embed="rId2"/>
          <a:stretch>
            <a:fillRect/>
          </a:stretch>
        </p:blipFill>
        <p:spPr>
          <a:xfrm>
            <a:off x="1611241" y="735096"/>
            <a:ext cx="8969517" cy="5387807"/>
          </a:xfrm>
          <a:prstGeom prst="rect">
            <a:avLst/>
          </a:prstGeom>
        </p:spPr>
      </p:pic>
    </p:spTree>
    <p:extLst>
      <p:ext uri="{BB962C8B-B14F-4D97-AF65-F5344CB8AC3E}">
        <p14:creationId xmlns:p14="http://schemas.microsoft.com/office/powerpoint/2010/main" val="285013894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D1FE638-2C09-CBC8-AFD3-80A4A6FEBD4F}"/>
              </a:ext>
            </a:extLst>
          </p:cNvPr>
          <p:cNvPicPr>
            <a:picLocks noChangeAspect="1"/>
          </p:cNvPicPr>
          <p:nvPr/>
        </p:nvPicPr>
        <p:blipFill>
          <a:blip r:embed="rId2"/>
          <a:stretch>
            <a:fillRect/>
          </a:stretch>
        </p:blipFill>
        <p:spPr>
          <a:xfrm>
            <a:off x="1801758" y="11134"/>
            <a:ext cx="8588484" cy="6835732"/>
          </a:xfrm>
          <a:prstGeom prst="rect">
            <a:avLst/>
          </a:prstGeom>
        </p:spPr>
      </p:pic>
    </p:spTree>
    <p:extLst>
      <p:ext uri="{BB962C8B-B14F-4D97-AF65-F5344CB8AC3E}">
        <p14:creationId xmlns:p14="http://schemas.microsoft.com/office/powerpoint/2010/main" val="21376984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DB18738-DB48-8E7C-0EDE-B2B797003BD6}"/>
              </a:ext>
            </a:extLst>
          </p:cNvPr>
          <p:cNvPicPr>
            <a:picLocks noChangeAspect="1"/>
          </p:cNvPicPr>
          <p:nvPr/>
        </p:nvPicPr>
        <p:blipFill>
          <a:blip r:embed="rId2"/>
          <a:stretch>
            <a:fillRect/>
          </a:stretch>
        </p:blipFill>
        <p:spPr>
          <a:xfrm>
            <a:off x="1615051" y="110202"/>
            <a:ext cx="8961897" cy="6637595"/>
          </a:xfrm>
          <a:prstGeom prst="rect">
            <a:avLst/>
          </a:prstGeom>
        </p:spPr>
      </p:pic>
    </p:spTree>
    <p:extLst>
      <p:ext uri="{BB962C8B-B14F-4D97-AF65-F5344CB8AC3E}">
        <p14:creationId xmlns:p14="http://schemas.microsoft.com/office/powerpoint/2010/main" val="337103808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10912D2-FA92-E26F-F702-6FC691688ACD}"/>
              </a:ext>
            </a:extLst>
          </p:cNvPr>
          <p:cNvPicPr>
            <a:picLocks noChangeAspect="1"/>
          </p:cNvPicPr>
          <p:nvPr/>
        </p:nvPicPr>
        <p:blipFill>
          <a:blip r:embed="rId2"/>
          <a:stretch>
            <a:fillRect/>
          </a:stretch>
        </p:blipFill>
        <p:spPr>
          <a:xfrm>
            <a:off x="1706499" y="197840"/>
            <a:ext cx="8779001" cy="6462320"/>
          </a:xfrm>
          <a:prstGeom prst="rect">
            <a:avLst/>
          </a:prstGeom>
        </p:spPr>
      </p:pic>
    </p:spTree>
    <p:extLst>
      <p:ext uri="{BB962C8B-B14F-4D97-AF65-F5344CB8AC3E}">
        <p14:creationId xmlns:p14="http://schemas.microsoft.com/office/powerpoint/2010/main" val="150558891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4540B7A-66C1-3AA8-A5AD-A53D7EAE3E05}"/>
              </a:ext>
            </a:extLst>
          </p:cNvPr>
          <p:cNvPicPr>
            <a:picLocks noChangeAspect="1"/>
          </p:cNvPicPr>
          <p:nvPr/>
        </p:nvPicPr>
        <p:blipFill>
          <a:blip r:embed="rId2"/>
          <a:stretch>
            <a:fillRect/>
          </a:stretch>
        </p:blipFill>
        <p:spPr>
          <a:xfrm>
            <a:off x="1573138" y="239753"/>
            <a:ext cx="9045724" cy="6378493"/>
          </a:xfrm>
          <a:prstGeom prst="rect">
            <a:avLst/>
          </a:prstGeom>
        </p:spPr>
      </p:pic>
    </p:spTree>
    <p:extLst>
      <p:ext uri="{BB962C8B-B14F-4D97-AF65-F5344CB8AC3E}">
        <p14:creationId xmlns:p14="http://schemas.microsoft.com/office/powerpoint/2010/main" val="17609227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66126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87384</TotalTime>
  <Words>9708</Words>
  <Application>Microsoft Office PowerPoint</Application>
  <PresentationFormat>Panorámica</PresentationFormat>
  <Paragraphs>1106</Paragraphs>
  <Slides>110</Slides>
  <Notes>0</Notes>
  <HiddenSlides>0</HiddenSlides>
  <MMClips>0</MMClips>
  <ScaleCrop>false</ScaleCrop>
  <HeadingPairs>
    <vt:vector size="6" baseType="variant">
      <vt:variant>
        <vt:lpstr>Fuentes usadas</vt:lpstr>
      </vt:variant>
      <vt:variant>
        <vt:i4>14</vt:i4>
      </vt:variant>
      <vt:variant>
        <vt:lpstr>Tema</vt:lpstr>
      </vt:variant>
      <vt:variant>
        <vt:i4>1</vt:i4>
      </vt:variant>
      <vt:variant>
        <vt:lpstr>Títulos de diapositiva</vt:lpstr>
      </vt:variant>
      <vt:variant>
        <vt:i4>110</vt:i4>
      </vt:variant>
    </vt:vector>
  </HeadingPairs>
  <TitlesOfParts>
    <vt:vector size="125" baseType="lpstr">
      <vt:lpstr>Aptos</vt:lpstr>
      <vt:lpstr>Arial</vt:lpstr>
      <vt:lpstr>Bahnschrift</vt:lpstr>
      <vt:lpstr>Calibri</vt:lpstr>
      <vt:lpstr>Century Gothic</vt:lpstr>
      <vt:lpstr>Consolas</vt:lpstr>
      <vt:lpstr>Courier New</vt:lpstr>
      <vt:lpstr>Lato</vt:lpstr>
      <vt:lpstr>Playfair Display</vt:lpstr>
      <vt:lpstr>Symbol</vt:lpstr>
      <vt:lpstr>Times New Roman</vt:lpstr>
      <vt:lpstr>Trebuchet MS</vt:lpstr>
      <vt:lpstr>Wingdings</vt:lpstr>
      <vt:lpstr>Wingdings 3</vt:lpstr>
      <vt:lpstr>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Balderas Rosas Gustavo Manuel</dc:creator>
  <cp:lastModifiedBy>Balderas Rosas Gustavo Manuel</cp:lastModifiedBy>
  <cp:revision>311</cp:revision>
  <dcterms:created xsi:type="dcterms:W3CDTF">2024-01-19T00:10:03Z</dcterms:created>
  <dcterms:modified xsi:type="dcterms:W3CDTF">2026-08-18T21:00:45Z</dcterms:modified>
</cp:coreProperties>
</file>