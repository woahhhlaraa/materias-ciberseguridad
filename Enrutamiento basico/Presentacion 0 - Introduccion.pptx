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3" r:id="rId1"/>
  </p:sldMasterIdLst>
  <p:sldIdLst>
    <p:sldId id="256" r:id="rId2"/>
    <p:sldId id="371" r:id="rId3"/>
    <p:sldId id="379" r:id="rId4"/>
    <p:sldId id="380" r:id="rId5"/>
    <p:sldId id="373" r:id="rId6"/>
    <p:sldId id="374" r:id="rId7"/>
    <p:sldId id="375" r:id="rId8"/>
    <p:sldId id="376" r:id="rId9"/>
    <p:sldId id="37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2" autoAdjust="0"/>
    <p:restoredTop sz="94660"/>
  </p:normalViewPr>
  <p:slideViewPr>
    <p:cSldViewPr snapToGrid="0">
      <p:cViewPr varScale="1">
        <p:scale>
          <a:sx n="49" d="100"/>
          <a:sy n="49" d="100"/>
        </p:scale>
        <p:origin x="58" y="9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4207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8303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97864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42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84911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17044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98152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0519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33468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18316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952530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944794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94831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71163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6587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581575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79674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MX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A07777B-9398-46D0-B114-B7FA72459A7A}" type="datetimeFigureOut">
              <a:rPr lang="es-MX" smtClean="0"/>
              <a:t>18/08/2026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EE5C4-92EA-455C-A324-099BDFE97767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4908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  <p:sldLayoutId id="2147483765" r:id="rId12"/>
    <p:sldLayoutId id="2147483766" r:id="rId13"/>
    <p:sldLayoutId id="2147483767" r:id="rId14"/>
    <p:sldLayoutId id="2147483768" r:id="rId15"/>
    <p:sldLayoutId id="2147483769" r:id="rId16"/>
    <p:sldLayoutId id="214748377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etacad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099931" y="2372140"/>
            <a:ext cx="962107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200" b="1" dirty="0"/>
              <a:t>Enrutamiento básico</a:t>
            </a:r>
          </a:p>
          <a:p>
            <a:pPr algn="ctr"/>
            <a:endParaRPr lang="es-MX" sz="3200" b="1" dirty="0"/>
          </a:p>
          <a:p>
            <a:pPr algn="ctr"/>
            <a:r>
              <a:rPr lang="es-MX" sz="3200" b="1" dirty="0"/>
              <a:t>INGENIERIA DE CIBERSEGURIDAD E INFRAESTRUCTURA DE COMPUTO</a:t>
            </a:r>
            <a:endParaRPr lang="es-MX" sz="3200" dirty="0"/>
          </a:p>
          <a:p>
            <a:pPr algn="ctr"/>
            <a:endParaRPr lang="es-MX" sz="4800" b="1" dirty="0"/>
          </a:p>
          <a:p>
            <a:pPr algn="ctr"/>
            <a:r>
              <a:rPr lang="es-MX" sz="3200" b="1" dirty="0"/>
              <a:t>MSI. Gustavo Manuel Balderas Rosas</a:t>
            </a:r>
          </a:p>
        </p:txBody>
      </p:sp>
    </p:spTree>
    <p:extLst>
      <p:ext uri="{BB962C8B-B14F-4D97-AF65-F5344CB8AC3E}">
        <p14:creationId xmlns:p14="http://schemas.microsoft.com/office/powerpoint/2010/main" val="309291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66252" y="521904"/>
            <a:ext cx="8873282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/>
              <a:t>SABER TEORICO</a:t>
            </a:r>
          </a:p>
          <a:p>
            <a:endParaRPr lang="es-MX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Subredes</a:t>
            </a:r>
            <a:br>
              <a:rPr lang="es-MX" dirty="0"/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Ventajas de creación de subredes.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Creación de Subredes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CIDR y VLSM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MX" spc="-15" dirty="0">
              <a:solidFill>
                <a:srgbClr val="212529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</a:rPr>
              <a:t>R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outers</a:t>
            </a:r>
            <a:br>
              <a:rPr lang="es-MX" dirty="0"/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Funciones de los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routers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Tipos de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routers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Sistema Operativo de dispositivos de red.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Configuración de acceso remoto seguro.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Archivos imagen y de configuración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Conceptos de FHRP</a:t>
            </a:r>
            <a:br>
              <a:rPr lang="es-MX" dirty="0"/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Protocolos de Redundancia de Primer Salto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Opciones de FHRP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HSRP (Hot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Standby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Router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Protocol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MX" spc="-15" dirty="0">
              <a:solidFill>
                <a:srgbClr val="212529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05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66252" y="521904"/>
            <a:ext cx="8873282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/>
              <a:t>SABER TEORICO</a:t>
            </a:r>
          </a:p>
          <a:p>
            <a:endParaRPr lang="es-MX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Conceptos de enrutamiento</a:t>
            </a:r>
          </a:p>
          <a:p>
            <a:pPr marL="714375" lvl="1"/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Descripción del proceso de enrutamiento de paquetes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Decisiones de enrutamiento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Balanceo de carga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Distancia administrativa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Análisis de la tabla de enrutamiento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Tipos de enrutamiento</a:t>
            </a:r>
            <a:br>
              <a:rPr lang="es-MX" dirty="0"/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Enrutamiento estático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Enrutamiento dinámico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s-MX" spc="-15" dirty="0">
              <a:solidFill>
                <a:srgbClr val="212529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Protocolos de enrutamiento dinámico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Clasificación y características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s-MX" spc="-15" dirty="0">
              <a:solidFill>
                <a:srgbClr val="212529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RIPv2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Características, Funciones y Configuración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Redistribución de rutas estáticas y dinámicas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s-MX" dirty="0"/>
          </a:p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48924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66252" y="521904"/>
            <a:ext cx="8873282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/>
              <a:t>SABER TEORICO</a:t>
            </a:r>
          </a:p>
          <a:p>
            <a:endParaRPr lang="es-MX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EIGRP para IPv4 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Configuración avanzada y resolución de problemas.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Sumarización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Propagación de rutas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Ajuste de interfaces, seguridad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Redistribución de rutas estáticas y dinámicas</a:t>
            </a:r>
            <a:endParaRPr lang="es-MX" dirty="0"/>
          </a:p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80660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66252" y="521904"/>
            <a:ext cx="10633844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/>
              <a:t>SABER HEURISTICO</a:t>
            </a:r>
          </a:p>
          <a:p>
            <a:endParaRPr lang="es-MX" sz="2400" b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Calcula subredes con IPv4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Configura escenarios de comunicación inter-red.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Búsqueda en fuentes de información variadas, en español e inglés sobre comandos para el respaldo y recuperación de la Imagen de Sistema (IOS)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Respalda y recupera Imagen de Sistema (IOS)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Respalda y recupera archivos de configuración de sistema.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Comprensión y expresión oral y escrita de conceptos sobre la tabla de enrutamiento.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dirty="0"/>
              <a:t>Analiza tablas de enrutamiento y comprende el origen de las entradas y el proceso de toma de decisiones de envío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Configuración básica de puertas de enlace redundantes (HSRP)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dirty="0"/>
              <a:t>Configura ruteo estático (rutas directamente conectadas, completamente especificadas y predeterminadas)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Cálculo de superredes (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sumarización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Configura escenarios de enrutamiento empleando RIPv2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Configuración de distintos escenarios de enrutamiento y soluciona problemas empleando EIGRP para IPv4.</a:t>
            </a:r>
            <a:endParaRPr lang="es-MX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3502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66252" y="521904"/>
            <a:ext cx="11226020" cy="5539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/>
              <a:t>SABER AXIOLOGICO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Interés por el aprendizaje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Curiosidad para comprender los fundamentos de la disciplina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Creatividad en el diseño de soluciones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Perseverancia en la resolución problemas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Respeto por las opiniones de los demás.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Empatía con sus compañeros de grupo.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Responsabilidad en la entrega de evidencias</a:t>
            </a:r>
          </a:p>
          <a:p>
            <a:r>
              <a:rPr lang="es-MX" dirty="0"/>
              <a:t> </a:t>
            </a:r>
          </a:p>
          <a:p>
            <a:r>
              <a:rPr lang="es-MX" sz="2400" b="1" dirty="0"/>
              <a:t>ESTRATEGIA METODOLOGICA DE APRENDIZAJE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Lectura, síntesis e interpretación.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Búsqueda de información.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Discusiones grupales.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Organizadores gráficos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Estudio de casos.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Resolución de prácticas.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Entrega oportuna de evidencias digitales (reportes, bitácoras, ejercicios, etc.)</a:t>
            </a:r>
          </a:p>
        </p:txBody>
      </p:sp>
    </p:spTree>
    <p:extLst>
      <p:ext uri="{BB962C8B-B14F-4D97-AF65-F5344CB8AC3E}">
        <p14:creationId xmlns:p14="http://schemas.microsoft.com/office/powerpoint/2010/main" val="2102931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66252" y="521904"/>
            <a:ext cx="11226020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/>
              <a:t>ESTRATEGIA METODOLOGICA DE ENSEÑANZA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Discusión dirigida.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Exposición con apoyo tecnológico variado.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Elaboración de prácticas y casos de estudio.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Dirección de prácticas.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Organización de grupos colaborativos.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Retroalimentación de las actividades</a:t>
            </a:r>
          </a:p>
          <a:p>
            <a:r>
              <a:rPr lang="es-MX" dirty="0"/>
              <a:t> </a:t>
            </a:r>
          </a:p>
          <a:p>
            <a:r>
              <a:rPr lang="es-MX" sz="2400" b="1" dirty="0"/>
              <a:t>APOYO EDUCATIVO DE MATERIAL DIDACTICO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Libros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Acceso al material del curso (CCNA v6)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Recursos de internet (páginas, videos, etc.)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b="1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Computadora (Laptop, con puerto serial y ethernet)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Software especializado (simuladores de red (</a:t>
            </a:r>
            <a:r>
              <a:rPr lang="es-MX" b="1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Packet</a:t>
            </a:r>
            <a:r>
              <a:rPr lang="es-MX" b="1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b="1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tracer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Emulador de terminal </a:t>
            </a:r>
            <a:r>
              <a:rPr lang="es-MX" b="1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MX" b="1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minicom</a:t>
            </a:r>
            <a:r>
              <a:rPr lang="es-MX" b="1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Sistema operativo (</a:t>
            </a:r>
            <a:r>
              <a:rPr lang="es-MX" b="1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Debian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Virtual box), Servidor de Transferencia de archivos (</a:t>
            </a:r>
            <a:r>
              <a:rPr lang="es-MX" b="1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tftp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analizador de paquetes, etc.).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Equipos de red de Laboratorio</a:t>
            </a:r>
            <a:endParaRPr lang="es-MX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Proyector de video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Pintarrón</a:t>
            </a:r>
            <a:endParaRPr lang="es-MX" spc="-15" dirty="0">
              <a:solidFill>
                <a:srgbClr val="212529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MX" dirty="0"/>
              <a:t> </a:t>
            </a:r>
          </a:p>
          <a:p>
            <a:endParaRPr lang="es-MX" sz="2400" b="1" dirty="0"/>
          </a:p>
          <a:p>
            <a:endParaRPr lang="es-MX" sz="2000" b="1" dirty="0"/>
          </a:p>
        </p:txBody>
      </p:sp>
    </p:spTree>
    <p:extLst>
      <p:ext uri="{BB962C8B-B14F-4D97-AF65-F5344CB8AC3E}">
        <p14:creationId xmlns:p14="http://schemas.microsoft.com/office/powerpoint/2010/main" val="3034670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66252" y="521904"/>
            <a:ext cx="11226020" cy="58110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/>
              <a:t>EVIDENCIA DE DESEMPEÑO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Exámenes (parciales o finales).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Reporte de prácticas y Reporte de investigación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MX" dirty="0"/>
              <a:t>Demostración de la solución de casos de estudio y/o ejercicios a resolver en el laboratorio durante la clase.</a:t>
            </a:r>
          </a:p>
          <a:p>
            <a:pPr lvl="1"/>
            <a:r>
              <a:rPr lang="es-MX" dirty="0"/>
              <a:t> </a:t>
            </a:r>
          </a:p>
          <a:p>
            <a:r>
              <a:rPr lang="es-MX" sz="2400" b="1" dirty="0"/>
              <a:t>CRITERIO DE DESEMPEÑO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Resolución correcta de reactivos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Entrega en tiempo y forma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Redacción clara y coherente.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Solución correcta del caso de estudio y/o ejercicios durante la clase.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Apego al procedimiento</a:t>
            </a:r>
            <a:endParaRPr lang="es-MX" dirty="0"/>
          </a:p>
          <a:p>
            <a:endParaRPr lang="es-MX" dirty="0"/>
          </a:p>
          <a:p>
            <a:r>
              <a:rPr lang="es-MX" sz="2400" b="1" dirty="0"/>
              <a:t>ACREDITACION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Exámenes: 50%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Practicas 50%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 la acreditación de la experiencia educativa es necesario obtener un promedio mínimo de 6 tanto en exámenes, como en prácticas, así como cumplir con los porcentajes de asistencia estipulados en el estatuto de alumnos vigente.</a:t>
            </a:r>
            <a:endParaRPr lang="es-MX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825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66252" y="521904"/>
            <a:ext cx="11584010" cy="6940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2400" b="1" dirty="0"/>
              <a:t>FUENTE DE INFORMACION BASICA</a:t>
            </a:r>
          </a:p>
          <a:p>
            <a:endParaRPr lang="es-MX" spc="-15" dirty="0">
              <a:solidFill>
                <a:srgbClr val="212529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/>
              <a:t>Cisco Systems. </a:t>
            </a:r>
            <a:r>
              <a:rPr lang="en-US" dirty="0" err="1"/>
              <a:t>Programa</a:t>
            </a:r>
            <a:r>
              <a:rPr lang="en-US" dirty="0"/>
              <a:t> Cisco </a:t>
            </a:r>
            <a:r>
              <a:rPr lang="en-US" dirty="0" err="1"/>
              <a:t>Netacad</a:t>
            </a:r>
            <a:r>
              <a:rPr lang="en-US" dirty="0"/>
              <a:t> CCNA v7 Switching, Routing and Wireless Essentials. </a:t>
            </a:r>
            <a:r>
              <a:rPr lang="en-US" u="sng" dirty="0">
                <a:hlinkClick r:id="rId2"/>
              </a:rPr>
              <a:t>https://www.netacad.com/</a:t>
            </a:r>
            <a:endParaRPr lang="es-MX" dirty="0"/>
          </a:p>
          <a:p>
            <a:pPr lvl="0"/>
            <a:r>
              <a:rPr lang="es-MX" dirty="0" err="1"/>
              <a:t>Ariganello</a:t>
            </a:r>
            <a:r>
              <a:rPr lang="es-MX" dirty="0"/>
              <a:t>, E. (2014). Redes Cisco CCNP a Fondo: guía de estudio para profesionales. </a:t>
            </a:r>
            <a:r>
              <a:rPr lang="en-US" dirty="0"/>
              <a:t>RA-MA Editorial.</a:t>
            </a:r>
            <a:endParaRPr lang="es-MX" dirty="0"/>
          </a:p>
          <a:p>
            <a:pPr lvl="0"/>
            <a:r>
              <a:rPr lang="es-MX" dirty="0"/>
              <a:t>Graziani, Rick. (2008). Conceptos y Protocolos de Enrutamiento. </a:t>
            </a:r>
            <a:r>
              <a:rPr lang="en-US" dirty="0"/>
              <a:t>PRENTICE HALL Editorial.</a:t>
            </a:r>
            <a:endParaRPr lang="es-MX" dirty="0"/>
          </a:p>
          <a:p>
            <a:pPr lvl="0"/>
            <a:r>
              <a:rPr lang="es-MX" dirty="0" err="1"/>
              <a:t>Ariganello</a:t>
            </a:r>
            <a:r>
              <a:rPr lang="es-MX" dirty="0"/>
              <a:t>, E. (2014). Técnicas de configuración de </a:t>
            </a:r>
            <a:r>
              <a:rPr lang="es-MX" dirty="0" err="1"/>
              <a:t>routers</a:t>
            </a:r>
            <a:r>
              <a:rPr lang="es-MX" dirty="0"/>
              <a:t> Cisco. </a:t>
            </a:r>
            <a:r>
              <a:rPr lang="en-US" dirty="0"/>
              <a:t>RA-MA Editorial.</a:t>
            </a:r>
            <a:endParaRPr lang="es-MX" dirty="0"/>
          </a:p>
          <a:p>
            <a:pPr lvl="0"/>
            <a:r>
              <a:rPr lang="es-MX" dirty="0"/>
              <a:t>Cisco, (2009), Introducción al enrutamiento y la comunicación en la empresa. Cisco Press.</a:t>
            </a:r>
          </a:p>
          <a:p>
            <a:pPr lvl="0"/>
            <a:r>
              <a:rPr lang="en-US" dirty="0" err="1"/>
              <a:t>Aweya</a:t>
            </a:r>
            <a:r>
              <a:rPr lang="en-US" dirty="0"/>
              <a:t>, J. (2021), Ip Routing Protocols: Fundamentals and Distance-Vector Routing Protocols. CRC Press.</a:t>
            </a:r>
            <a:endParaRPr lang="es-MX" dirty="0"/>
          </a:p>
          <a:p>
            <a:pPr lvl="0"/>
            <a:r>
              <a:rPr lang="en-US" dirty="0"/>
              <a:t>Doyle, Jeff (2005) Routing TCP/IP, Cisco Press.</a:t>
            </a:r>
            <a:endParaRPr lang="es-MX" dirty="0"/>
          </a:p>
          <a:p>
            <a:pPr lvl="0"/>
            <a:r>
              <a:rPr lang="en-US" dirty="0"/>
              <a:t>Medhi, D., &amp; Ramasamy K. (2017) Network Routing : Algorithms. Protocols, and Architectures (The Morgan Kaufmann Series in Networking) 2a. Ed. Morgan Kaufmann Pub.</a:t>
            </a:r>
            <a:endParaRPr lang="es-MX" dirty="0"/>
          </a:p>
          <a:p>
            <a:r>
              <a:rPr lang="en-US" dirty="0" err="1"/>
              <a:t>Zinin</a:t>
            </a:r>
            <a:r>
              <a:rPr lang="en-US" dirty="0"/>
              <a:t>, A. (2001) Cisco IP Routing: Packet Forwarding and Intra-Domain Routing Protocols (1a. ed.). Addison- Wesley Professional.</a:t>
            </a:r>
            <a:endParaRPr lang="es-MX" spc="-15" dirty="0">
              <a:solidFill>
                <a:srgbClr val="212529"/>
              </a:solidFill>
              <a:latin typeface="Arial" panose="020B06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s-MX" sz="2400" b="1" dirty="0"/>
          </a:p>
          <a:p>
            <a:r>
              <a:rPr lang="es-MX" sz="2400" b="1" dirty="0"/>
              <a:t>FUENTE DE INFORMACION COMPLEMENTARIA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Ariganello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(2014). Técnicas de configuración de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routers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Cisco. RA-MA Editorial.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Cisco, (2009), Introducción al enrutamiento y la conmutación en la empresa, Cisco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Aweya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J. (2021). IP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Protocols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Fundamentals and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Distance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-Vector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Protocols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CRC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Doyle Jeff, (2005)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Routing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TCP/IP, Cisco </a:t>
            </a:r>
            <a:r>
              <a:rPr lang="es-MX" spc="-15" dirty="0" err="1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Press</a:t>
            </a:r>
            <a:r>
              <a:rPr lang="es-MX" spc="-15" dirty="0">
                <a:solidFill>
                  <a:srgbClr val="21252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MX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sz="2400" b="1" dirty="0"/>
          </a:p>
          <a:p>
            <a:endParaRPr lang="es-MX" sz="2000" b="1" dirty="0"/>
          </a:p>
        </p:txBody>
      </p:sp>
    </p:spTree>
    <p:extLst>
      <p:ext uri="{BB962C8B-B14F-4D97-AF65-F5344CB8AC3E}">
        <p14:creationId xmlns:p14="http://schemas.microsoft.com/office/powerpoint/2010/main" val="6302016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50489</TotalTime>
  <Words>925</Words>
  <Application>Microsoft Office PowerPoint</Application>
  <PresentationFormat>Panorámica</PresentationFormat>
  <Paragraphs>104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Balderas Rosas Gustavo Manuel</dc:creator>
  <cp:lastModifiedBy>Balderas Rosas Gustavo Manuel</cp:lastModifiedBy>
  <cp:revision>255</cp:revision>
  <dcterms:created xsi:type="dcterms:W3CDTF">2024-01-19T00:10:03Z</dcterms:created>
  <dcterms:modified xsi:type="dcterms:W3CDTF">2026-08-19T01:13:20Z</dcterms:modified>
</cp:coreProperties>
</file>