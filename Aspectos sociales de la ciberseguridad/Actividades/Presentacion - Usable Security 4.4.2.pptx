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asignada del artículo. La revisión completa cubre 55 estudios entre 2005 y 2022, agrupados en cuatro clústeres; nos tocó el segundo.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clúster 2 no estudia al usuario final directamente: estudia al desarrollador como usuario de herramientas de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Referencias tal como aparecen numeradas en el artículo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Gorski et al. investigaron tres cosas: la ubicación de la info de seguridad, cómo se lee la documentación (eye-tracking) y el impacto de las instrucciones de CSP sobre el producto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conclusión de los autores: lo que importa no es que la indicación exista, sino dónde está. Los desarrolladores consultan primero los ejemplos de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4937760" cy="4937760"/>
          </a:xfrm>
          <a:prstGeom prst="ellipse">
            <a:avLst/>
          </a:prstGeom>
          <a:solidFill>
            <a:srgbClr val="1C7293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023360"/>
            <a:ext cx="2926080" cy="292608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SISTEMÁTICA DE LITERATURA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Security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4.4.2 — Ayudar a los desarrolladores de seguridad a mejorar la usabilidad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6035040" cy="502920"/>
          </a:xfrm>
          <a:prstGeom prst="roundRect">
            <a:avLst>
              <a:gd name="adj" fmla="val 18182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11480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Nocera, Tempestini &amp; Orsini · Information 2023, 14(12), 641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disyuntiva de fondo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2788920"/>
          </a:xfrm>
          <a:prstGeom prst="roundRect">
            <a:avLst>
              <a:gd name="adj" fmla="val 3934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estudios seleccionados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661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Publicados entre 2005 y 2022, agrupados en cuatro clústeres temáticos.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429000" cy="2788920"/>
          </a:xfrm>
          <a:prstGeom prst="roundRect">
            <a:avLst>
              <a:gd name="adj" fmla="val 3934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72000" y="21945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154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artículos en la sección 4.4.2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5661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el texto solo desarrolla seis referencias distintas: [42] a [47].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965960"/>
            <a:ext cx="3474720" cy="2788920"/>
          </a:xfrm>
          <a:prstGeom prst="roundRect">
            <a:avLst>
              <a:gd name="adj" fmla="val 3934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75320" y="2240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principio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6974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Cuanto más seguros son los sistemas, menos usables resultan. Y al revés: los sistemas más usables serán menos seguros.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sección se pregunta cómo cerrar esa brecha desde el lado de quien construye el software, no de quien lo usa.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LA SECCIÓN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seis estudios desarrollados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39696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2121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Flechais y Sasse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7004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participativo de seguridad en plataformas de e-ciencia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139696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56632" y="2121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Alsharnouby et al.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67004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 phishing sigue funcionando: estrategias del usuario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2139696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759952" y="2121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Roth et al.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67004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electrónico seguro no intrusivo, con cifrado transparente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151376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53312" y="41330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Gorski et al.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8172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 seguridad dentro de la documentación de APIs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93192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151376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056632" y="41330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Dhillon et al.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68172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basados en valores para equilibrar seguridad y usabilidad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93192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5320" y="4151376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7532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759952" y="41330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Alemerien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468172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GUI para sitios de redes sociales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y mecanismos (1 de 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03520" cy="1874520"/>
          </a:xfrm>
          <a:prstGeom prst="roundRect">
            <a:avLst>
              <a:gd name="adj" fmla="val 5854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12264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209397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Ubicar la seguridad donde se mira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6517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información de seguridad en la documentación de APIs, y colocarla junto al código funcional en forma de comentarios.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303520" cy="1874520"/>
          </a:xfrm>
          <a:prstGeom prst="roundRect">
            <a:avLst>
              <a:gd name="adj" fmla="val 5854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2112264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73952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67728" y="209397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"orientado al código" a "orientado a conceptos"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73952" y="26517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pelear contra el hábito del desarrollador, sino aprovecharlo. El principio aplica a cualquier herramienta de desarrollo.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303520" cy="1874520"/>
          </a:xfrm>
          <a:prstGeom prst="roundRect">
            <a:avLst>
              <a:gd name="adj" fmla="val 5854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4215384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89888" y="419709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Security Policy (CSP)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47548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del navegador que define qué puede ejecutarse (scripts, estilos, iframes, conexiones) para reducir la superficie de ataque.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977640"/>
            <a:ext cx="5303520" cy="1874520"/>
          </a:xfrm>
          <a:prstGeom prst="roundRect">
            <a:avLst>
              <a:gd name="adj" fmla="val 5854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3952" y="4215384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7395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67728" y="419709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GUI centrados en seguridad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73952" y="47548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interfaz que dan retroalimentación adecuada para que el usuario decida sobre su privacidad sin fricción.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y mecanismos (2 de 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03520" cy="1874520"/>
          </a:xfrm>
          <a:prstGeom prst="roundRect">
            <a:avLst>
              <a:gd name="adj" fmla="val 5854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12264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209397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claras contra el phishing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6517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Ayudan a identificar sitios y correos fraudulentos, pero no son determinantes si el usuario no recibió capacitación previa.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303520" cy="1874520"/>
          </a:xfrm>
          <a:prstGeom prst="roundRect">
            <a:avLst>
              <a:gd name="adj" fmla="val 5854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2112264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73952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67728" y="209397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seguro no intrusivo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73952" y="26517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automático y transparente. Evita infraestructuras de clave pública y separa el intercambio de claves de su vinculación a identidades.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303520" cy="1874520"/>
          </a:xfrm>
          <a:prstGeom prst="roundRect">
            <a:avLst>
              <a:gd name="adj" fmla="val 5854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4215384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89888" y="419709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participativo con las partes interesadas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47548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organizativo: involucrar a los stakeholders identifica necesidades reales y eleva la concienciación.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977640"/>
            <a:ext cx="5303520" cy="1874520"/>
          </a:xfrm>
          <a:prstGeom prst="roundRect">
            <a:avLst>
              <a:gd name="adj" fmla="val 5854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3952" y="4215384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7395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67728" y="419709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abstractos en criterios medibles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73952" y="47548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objetivos finales: facilidad de uso, comunicación del sistema, estandarización e integración, y capacidad del sistema.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Transversal: todos coinciden en que falta una metodología común que permita replicar los estudios.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¿Quiénes son los usuarios involucrados?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4343400"/>
          </a:xfrm>
          <a:prstGeom prst="roundRect">
            <a:avLst>
              <a:gd name="adj" fmla="val 2526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Desarrolladores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6888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heterogéneo: web, navegadores, sistemas, correo, ámbito académico.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dispar; Gorski et al. trabajó con 49 desarrolladores noveles.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 estrategias orientadas al código: ignoran descripciones y van al ejemplo.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Descartan la seguridad sin indicaciones claras: borran el fragmento conflictivo.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Perciben la usabilidad como secundaria frente a la seguridad.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motivan cuando se les asignan responsabilidades concretas.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03520" cy="4343400"/>
          </a:xfrm>
          <a:prstGeom prst="roundRect">
            <a:avLst>
              <a:gd name="adj" fmla="val 2526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finales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46888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Interés genuino en proteger su información personal.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Priorizan satisfacción, facilidad de aprendizaje y simplicidad de uso.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Ciegos a amenazas técnicas sutiles: URLs incorrectas, direcciones IP falsas.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distinguen bien lo legítimo de lo fraudulento cuando el contexto es evidente.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Prefieren soluciones simples, automáticas y no intrusivas.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Rechazan pasos extra que interrumpan su tarea principal.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de medición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estudio definió sus propias métricas. Esa dispersión es, en sí misma, un hallazgo.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203704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48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Gorski et al.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2148840"/>
            <a:ext cx="8275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Éxito en 4 tareas de programación · seguimiento ocular · código funcional Y protegido con CSP · grupo de control con documentación de Google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916936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620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Alemerien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2862072"/>
            <a:ext cx="8275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tareas de red social · satisfacción, facilidad de aprendizaje, actitudes, interactividad y privacidad · escala Likert 1-5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630168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575304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Alsharnouby et al.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246120" y="3575304"/>
            <a:ext cx="8275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de aciertos por tipo de amenaza (7 tipos) · movimientos oculares · razonamiento verbalizado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434340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28853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Roth et al.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3246120" y="4288536"/>
            <a:ext cx="8275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métricas cuantitativas: 19 entrevistas evaluadas contra principios de diseño y "seguridad por interacción"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5056632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0017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Flechais y Sasse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3246120" y="5001768"/>
            <a:ext cx="8275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Cualitativo: transcripciones de 4 casos codificadas con ATLAS.ti en motivación, responsabilidad, comunicación y partes interesadas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5769864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769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5715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Dhillon et al.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3246120" y="5715000"/>
            <a:ext cx="8275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y análisis estadístico para reducir objetivos abstractos a 4 criterios evaluables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4 · GORSKI ET AL. [45]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clave: la ubicación importa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03520" cy="3383280"/>
          </a:xfrm>
          <a:prstGeom prst="roundRect">
            <a:avLst>
              <a:gd name="adj" fmla="val 3243"/>
            </a:avLst>
          </a:prstGeom>
          <a:solidFill>
            <a:srgbClr val="2B1B24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control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871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original de Google, sin información de ciberseguridad.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718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0 %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97764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soluciones quedó protegida. Resolvieron el conflicto eliminando el fragmento de código problemático.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303520" cy="3383280"/>
          </a:xfrm>
          <a:prstGeom prst="roundRect">
            <a:avLst>
              <a:gd name="adj" fmla="val 3243"/>
            </a:avLst>
          </a:prstGeom>
          <a:solidFill>
            <a:srgbClr val="14332F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92240" y="2103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con CSP en el código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4871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Sugerencias de seguridad como comentarios junto al ejemplo funcional.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9718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Mayoría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97764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soluciones resultó operativa y segura a la vez: hicieron funcionar la parte conflictiva en lugar de borrarla.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"Dejemos la seguridad de lado por ahora" — participante del grupo de control.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4 · ALSHARNOUBY ET AL. [43]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clave: el usuario no ve lo técnico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60320" cy="2514600"/>
          </a:xfrm>
          <a:prstGeom prst="roundRect">
            <a:avLst>
              <a:gd name="adj" fmla="val 4364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286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detectó la dirección IP en la URL de PayPal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2011680"/>
            <a:ext cx="2560320" cy="2514600"/>
          </a:xfrm>
          <a:prstGeom prst="roundRect">
            <a:avLst>
              <a:gd name="adj" fmla="val 4364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57600" y="2286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31546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cayó ante ventanas emergentes que pedían credenciales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2560320" cy="2514600"/>
          </a:xfrm>
          <a:prstGeom prst="roundRect">
            <a:avLst>
              <a:gd name="adj" fmla="val 4364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46520" y="2286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1546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reconoció el Chrome falso y el pop-up superpuesto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2011680"/>
            <a:ext cx="2560320" cy="2514600"/>
          </a:xfrm>
          <a:prstGeom prst="roundRect">
            <a:avLst>
              <a:gd name="adj" fmla="val 4364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35440" y="2286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31546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identificó el fraude evidente por contexto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10881360" cy="1325880"/>
          </a:xfrm>
          <a:prstGeom prst="roundRect">
            <a:avLst>
              <a:gd name="adj" fmla="val 8276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4983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3035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usuarios distinguen bien lo "normal" de lo "sospechoso" por contexto, pero son prácticamente ciegos a los indicadores técnicos. La interfaz ayuda; la capacitación es la que decide.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demás resultados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85416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11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Alemerien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0116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las cuatro tareas los participantes prefirieron las interfaces propuestas sobre las de Facebook, que resultaron más complejas y con menos opciones de seguridad.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96112" y="3328416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154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Roth et al.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1546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Cuestionan que los usuarios privados necesiten infraestructuras de certificación. Dejan abiertas tres líneas: verificación de claves usable, métricas de seguridad por interacción e incentivos en la interfaz.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4471416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4471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297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Flechais y Sasse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42976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Involucrar a las partes interesadas identifica necesidades reales y eleva la concienciación. Asignar responsabilidades aumenta notablemente la motivación.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30352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5614416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6112" y="5614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5440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Dhillon et al.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54406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objetivos finales que orientan la implementación: facilidad de uso, comunicación del sistema, estandarización e integración, y capacidad del sistema.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de oportunidad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2093976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metodología común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770632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ella no se pueden replicar los estudios ni estandarizar el enfoque. Es el problema central de la sección.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87452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99432" y="2093976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sin respaldo empírico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2770632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conclusiones son reflexiones organizativas más que directrices de diseño derivadas de datos.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87452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02752" y="2093976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confunde facilidad de uso con usabilidad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302752" y="2770632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pide "simplificar el diseño" sin definir qué significa. El desarrollador necesita indicaciones accionables.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96112" y="4242816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de Gorski subaprovechado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4919472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probó solo en APIs, pero el principio aplica a cualquier herramienta de desarrollo.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402336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99432" y="4242816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capacitación queda fuera del diseño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4919472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estudio del grupo aborda la formación previa, aunque los datos de phishing muestran que es decisiva.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402336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7293D"/>
          </a:solidFill>
          <a:ln w="9525">
            <a:solidFill>
              <a:srgbClr val="2440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302752" y="4242816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requisitos de seguridad usable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302752" y="4919472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ausencia en los contextos de desarrollo desincentiva las buenas prácticas desde etapas tempranas.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291840"/>
            <a:ext cx="5120640" cy="5120640"/>
          </a:xfrm>
          <a:prstGeom prst="ellipse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80160" y="19202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FRASE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23774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usable no se gana escribiendo mejor documentación, sino poniéndola donde el desarrollador ya está mirando.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206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aun así, el campo sigue sin una metodología común que permita comparar lo que cada estudio encuentra.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Usable Security 4.4.2</dc:title>
  <dc:subject>PptxGenJS Presentation</dc:subject>
  <dc:creator>Actividad Usable Security</dc:creator>
  <cp:lastModifiedBy>Actividad Usable Security</cp:lastModifiedBy>
  <cp:revision>1</cp:revision>
  <dcterms:created xsi:type="dcterms:W3CDTF">2026-09-02T00:49:48Z</dcterms:created>
  <dcterms:modified xsi:type="dcterms:W3CDTF">2026-09-02T00:49:48Z</dcterms:modified>
</cp:coreProperties>
</file>