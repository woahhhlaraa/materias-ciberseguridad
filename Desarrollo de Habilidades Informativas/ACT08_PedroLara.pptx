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[SIN NARRACIÓN — música de fondo entrando suave, 5 segundos, mientras se lee la portada]</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(≈35"):</a:t>
            </a:r>
            <a:br>
              <a:rPr lang="en-US"/>
            </a:br>
            <a:r>
              <a:rPr lang="en-US"/>
              <a:t>A ver, ¿a poco no? Cuando alguien dice 'sustentabilidad' uno se imagina árboles, paneles solares, agua limpia. Casi nadie piensa en un router mal configurado o en un sistema operativo sin actualizar. Y ese hueco es justo el que quiero señalar. Mi ensayo habla de la infraestructura crítica de México: energía, telecomunicaciones, transporte, salud. Toda esa infraestructura sigue corriendo con tecnología vieja, mientras el presupuesto y las leyes para modernizarla van mucho más lento que la creatividad de quien quiere atacarla. Por eso sostengo que la ciberseguridad no debería ser un tema aparte, sino parte de la sustentabilidad misma de un país.</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(≈35"):</a:t>
            </a:r>
            <a:br>
              <a:rPr lang="en-US"/>
            </a:br>
            <a:r>
              <a:rPr lang="en-US"/>
              <a:t>Esto no lo saqué de un libro, lo he visto en clases de redes y en prácticas con equipo real. Casi ningún sistema se vuelve inseguro de un día para otro. Es más bien un router que nadie configuró con calma, una contraseña que nadie cambió desde que instalaron el equipo, un manual que se quedó a la mitad. Por separado, cada cosa parece insignificante. El problema es que se van sumando, hasta que un día alguien encuentra la puerta que quedó abierta — y no porque fuera un genio del hackeo, sino porque nadie se tomó la molestia de cerrarla antes.</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(≈32"):</a:t>
            </a:r>
            <a:br>
              <a:rPr lang="en-US"/>
            </a:br>
            <a:r>
              <a:rPr lang="en-US"/>
              <a:t>Y no es solo una corazonada mía. García y Hernández explican que el riesgo frente a un desastre no depende únicamente de que pase el fenómeno, sino de las condiciones sociales y económicas de quien lo vive. Gurri va más allá: dice que la vulnerabilidad se va construyendo con el tiempo, no es algo que se mide una sola vez y ya. Básicamente, el mismo razonamiento que se usa para entender por qué una comunidad es vulnerable ante un sismo sirve, casi sin cambiar nada, para entender por qué una red es vulnerable ante un ataque.</a:t>
            </a:r>
            <a:endParaRPr/>
          </a:p>
        </p:txBody>
      </p:sp>
      <p:sp>
        <p:nvSpPr>
          <p:cNvPr id="85" name="Google Shape;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(≈28"):</a:t>
            </a:r>
            <a:br>
              <a:rPr lang="en-US"/>
            </a:br>
            <a:r>
              <a:rPr lang="en-US"/>
              <a:t>El problema es que, en la práctica, todo esto sigue llegando tarde. Hay reportes recientes que dicen que México sí ha avanzado en política pública de ciberseguridad, con cosas como un Plan Nacional, pero las leyes van más lento que la imaginación de quien ataca. Y otras fuentes explican por qué: buena parte de nuestra infraestructura estratégica todavía corre con tecnología pensada para un mundo mucho menos conectado. Con la digitalización acelerada de los últimos años, esa infraestructura se volvió un blanco fácil, y uno caro.</a:t>
            </a:r>
            <a:endParaRPr/>
          </a:p>
        </p:txBody>
      </p:sp>
      <p:sp>
        <p:nvSpPr>
          <p:cNvPr id="104" name="Google Shape;1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(≈18"):</a:t>
            </a:r>
            <a:br>
              <a:rPr lang="en-US"/>
            </a:br>
            <a:r>
              <a:rPr lang="en-US"/>
              <a:t>Y aquí está lo curioso: esta lógica ya existe en la ley, nomás que aplicada a desastres naturales. Entonces la pregunta que me hago es bien simple: si el Estado ya reconoce que el riesgo se construye, ¿por qué seguimos tratando los ciberataques como si cayeran de la nada?</a:t>
            </a:r>
            <a:endParaRPr/>
          </a:p>
        </p:txBody>
      </p:sp>
      <p:sp>
        <p:nvSpPr>
          <p:cNvPr id="123" name="Google Shape;1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(≈35"):</a:t>
            </a:r>
            <a:br>
              <a:rPr lang="en-US"/>
            </a:br>
            <a:r>
              <a:rPr lang="en-US"/>
              <a:t>Entonces, si algo quiero que se les quede es esto: la vulnerabilidad, sea de una comunidad o de una red, no cae del cielo. Se construye, decisión por decisión, descuido por descuido. Y para quienes estamos estudiando ciberseguridad, esa es justo nuestra chamba: usar la misma lógica con la que entendemos por qué un pueblo es vulnerable ante un sismo, para ir a buscar y corregir las vulnerabilidades de la infraestructura digital del país, antes de que alguien más las encuentre primero. Gracias.</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GUION A LEER (≈8"):</a:t>
            </a:r>
            <a:br>
              <a:rPr lang="en-US"/>
            </a:br>
            <a:r>
              <a:rPr lang="en-US"/>
              <a:t>Aquí están todas mis fuentes, en formato APA, por si quieren revisarlas. Gracias por su atención.</a:t>
            </a:r>
            <a:endParaRPr/>
          </a:p>
        </p:txBody>
      </p:sp>
      <p:sp>
        <p:nvSpPr>
          <p:cNvPr id="156" name="Google Shape;1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cxnSp>
        <p:nvCxnSpPr>
          <p:cNvPr id="16" name="Google Shape;16;p3"/>
          <p:cNvCxnSpPr/>
          <p:nvPr/>
        </p:nvCxnSpPr>
        <p:spPr>
          <a:xfrm flipH="1" rot="10800000">
            <a:off x="9966960" y="310896"/>
            <a:ext cx="804672" cy="512064"/>
          </a:xfrm>
          <a:prstGeom prst="straightConnector1">
            <a:avLst/>
          </a:prstGeom>
          <a:noFill/>
          <a:ln cap="flat" cmpd="sng" w="12700">
            <a:solidFill>
              <a:srgbClr val="52B788">
                <a:alpha val="45098"/>
              </a:srgbClr>
            </a:solidFill>
            <a:prstDash val="solid"/>
            <a:round/>
            <a:headEnd len="sm" w="sm" type="none"/>
            <a:tailEnd len="sm" w="sm" type="none"/>
          </a:ln>
        </p:spPr>
      </p:cxnSp>
      <p:cxnSp>
        <p:nvCxnSpPr>
          <p:cNvPr id="17" name="Google Shape;17;p3"/>
          <p:cNvCxnSpPr/>
          <p:nvPr/>
        </p:nvCxnSpPr>
        <p:spPr>
          <a:xfrm>
            <a:off x="10771632" y="310896"/>
            <a:ext cx="804672" cy="731520"/>
          </a:xfrm>
          <a:prstGeom prst="straightConnector1">
            <a:avLst/>
          </a:prstGeom>
          <a:noFill/>
          <a:ln cap="flat" cmpd="sng" w="12700">
            <a:solidFill>
              <a:srgbClr val="52B788">
                <a:alpha val="45098"/>
              </a:srgbClr>
            </a:solidFill>
            <a:prstDash val="solid"/>
            <a:round/>
            <a:headEnd len="sm" w="sm" type="none"/>
            <a:tailEnd len="sm" w="sm" type="none"/>
          </a:ln>
        </p:spPr>
      </p:cxnSp>
      <p:cxnSp>
        <p:nvCxnSpPr>
          <p:cNvPr id="18" name="Google Shape;18;p3"/>
          <p:cNvCxnSpPr/>
          <p:nvPr/>
        </p:nvCxnSpPr>
        <p:spPr>
          <a:xfrm>
            <a:off x="9966960" y="822960"/>
            <a:ext cx="512064" cy="804672"/>
          </a:xfrm>
          <a:prstGeom prst="straightConnector1">
            <a:avLst/>
          </a:prstGeom>
          <a:noFill/>
          <a:ln cap="flat" cmpd="sng" w="12700">
            <a:solidFill>
              <a:srgbClr val="52B788">
                <a:alpha val="45098"/>
              </a:srgbClr>
            </a:solidFill>
            <a:prstDash val="solid"/>
            <a:round/>
            <a:headEnd len="sm" w="sm" type="none"/>
            <a:tailEnd len="sm" w="sm" type="none"/>
          </a:ln>
        </p:spPr>
      </p:cxnSp>
      <p:cxnSp>
        <p:nvCxnSpPr>
          <p:cNvPr id="19" name="Google Shape;19;p3"/>
          <p:cNvCxnSpPr/>
          <p:nvPr/>
        </p:nvCxnSpPr>
        <p:spPr>
          <a:xfrm flipH="1" rot="10800000">
            <a:off x="10479024" y="310896"/>
            <a:ext cx="292608" cy="1316736"/>
          </a:xfrm>
          <a:prstGeom prst="straightConnector1">
            <a:avLst/>
          </a:prstGeom>
          <a:noFill/>
          <a:ln cap="flat" cmpd="sng" w="12700">
            <a:solidFill>
              <a:srgbClr val="52B788">
                <a:alpha val="45098"/>
              </a:srgbClr>
            </a:solidFill>
            <a:prstDash val="solid"/>
            <a:round/>
            <a:headEnd len="sm" w="sm" type="none"/>
            <a:tailEnd len="sm" w="sm" type="none"/>
          </a:ln>
        </p:spPr>
      </p:cxnSp>
      <p:sp>
        <p:nvSpPr>
          <p:cNvPr id="20" name="Google Shape;20;p3"/>
          <p:cNvSpPr/>
          <p:nvPr/>
        </p:nvSpPr>
        <p:spPr>
          <a:xfrm>
            <a:off x="9925812" y="781812"/>
            <a:ext cx="82296" cy="82296"/>
          </a:xfrm>
          <a:prstGeom prst="ellipse">
            <a:avLst/>
          </a:prstGeom>
          <a:solidFill>
            <a:srgbClr val="52B788">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0744200" y="283464"/>
            <a:ext cx="54864" cy="54864"/>
          </a:xfrm>
          <a:prstGeom prst="ellipse">
            <a:avLst/>
          </a:prstGeom>
          <a:solidFill>
            <a:srgbClr val="52B788">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1548872" y="1014984"/>
            <a:ext cx="54864" cy="54864"/>
          </a:xfrm>
          <a:prstGeom prst="ellipse">
            <a:avLst/>
          </a:prstGeom>
          <a:solidFill>
            <a:srgbClr val="52B788">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451592" y="1600200"/>
            <a:ext cx="54864" cy="54864"/>
          </a:xfrm>
          <a:prstGeom prst="ellipse">
            <a:avLst/>
          </a:prstGeom>
          <a:solidFill>
            <a:srgbClr val="52B788">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 name="Google Shape;24;p3"/>
          <p:cNvCxnSpPr/>
          <p:nvPr/>
        </p:nvCxnSpPr>
        <p:spPr>
          <a:xfrm flipH="1" rot="10800000">
            <a:off x="548640" y="4704588"/>
            <a:ext cx="653796" cy="416052"/>
          </a:xfrm>
          <a:prstGeom prst="straightConnector1">
            <a:avLst/>
          </a:prstGeom>
          <a:noFill/>
          <a:ln cap="flat" cmpd="sng" w="12700">
            <a:solidFill>
              <a:srgbClr val="1B4332">
                <a:alpha val="80000"/>
              </a:srgbClr>
            </a:solidFill>
            <a:prstDash val="solid"/>
            <a:round/>
            <a:headEnd len="sm" w="sm" type="none"/>
            <a:tailEnd len="sm" w="sm" type="none"/>
          </a:ln>
        </p:spPr>
      </p:cxnSp>
      <p:cxnSp>
        <p:nvCxnSpPr>
          <p:cNvPr id="25" name="Google Shape;25;p3"/>
          <p:cNvCxnSpPr/>
          <p:nvPr/>
        </p:nvCxnSpPr>
        <p:spPr>
          <a:xfrm>
            <a:off x="1202436" y="4704588"/>
            <a:ext cx="653796" cy="594360"/>
          </a:xfrm>
          <a:prstGeom prst="straightConnector1">
            <a:avLst/>
          </a:prstGeom>
          <a:noFill/>
          <a:ln cap="flat" cmpd="sng" w="12700">
            <a:solidFill>
              <a:srgbClr val="1B4332">
                <a:alpha val="80000"/>
              </a:srgbClr>
            </a:solidFill>
            <a:prstDash val="solid"/>
            <a:round/>
            <a:headEnd len="sm" w="sm" type="none"/>
            <a:tailEnd len="sm" w="sm" type="none"/>
          </a:ln>
        </p:spPr>
      </p:cxnSp>
      <p:cxnSp>
        <p:nvCxnSpPr>
          <p:cNvPr id="26" name="Google Shape;26;p3"/>
          <p:cNvCxnSpPr/>
          <p:nvPr/>
        </p:nvCxnSpPr>
        <p:spPr>
          <a:xfrm>
            <a:off x="548640" y="5120640"/>
            <a:ext cx="416052" cy="653796"/>
          </a:xfrm>
          <a:prstGeom prst="straightConnector1">
            <a:avLst/>
          </a:prstGeom>
          <a:noFill/>
          <a:ln cap="flat" cmpd="sng" w="12700">
            <a:solidFill>
              <a:srgbClr val="1B4332">
                <a:alpha val="80000"/>
              </a:srgbClr>
            </a:solidFill>
            <a:prstDash val="solid"/>
            <a:round/>
            <a:headEnd len="sm" w="sm" type="none"/>
            <a:tailEnd len="sm" w="sm" type="none"/>
          </a:ln>
        </p:spPr>
      </p:cxnSp>
      <p:cxnSp>
        <p:nvCxnSpPr>
          <p:cNvPr id="27" name="Google Shape;27;p3"/>
          <p:cNvCxnSpPr/>
          <p:nvPr/>
        </p:nvCxnSpPr>
        <p:spPr>
          <a:xfrm flipH="1" rot="10800000">
            <a:off x="964692" y="4704588"/>
            <a:ext cx="237744" cy="1069848"/>
          </a:xfrm>
          <a:prstGeom prst="straightConnector1">
            <a:avLst/>
          </a:prstGeom>
          <a:noFill/>
          <a:ln cap="flat" cmpd="sng" w="12700">
            <a:solidFill>
              <a:srgbClr val="1B4332">
                <a:alpha val="80000"/>
              </a:srgbClr>
            </a:solidFill>
            <a:prstDash val="solid"/>
            <a:round/>
            <a:headEnd len="sm" w="sm" type="none"/>
            <a:tailEnd len="sm" w="sm" type="none"/>
          </a:ln>
        </p:spPr>
      </p:cxnSp>
      <p:sp>
        <p:nvSpPr>
          <p:cNvPr id="28" name="Google Shape;28;p3"/>
          <p:cNvSpPr/>
          <p:nvPr/>
        </p:nvSpPr>
        <p:spPr>
          <a:xfrm>
            <a:off x="507492" y="5079492"/>
            <a:ext cx="82296" cy="82296"/>
          </a:xfrm>
          <a:prstGeom prst="ellipse">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1175004" y="4677156"/>
            <a:ext cx="54864" cy="54864"/>
          </a:xfrm>
          <a:prstGeom prst="ellipse">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828800" y="5271516"/>
            <a:ext cx="54864" cy="54864"/>
          </a:xfrm>
          <a:prstGeom prst="ellipse">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937260" y="5747004"/>
            <a:ext cx="54864" cy="54864"/>
          </a:xfrm>
          <a:prstGeom prst="ellipse">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22960" y="9144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200"/>
              <a:buFont typeface="Calibri"/>
              <a:buNone/>
            </a:pPr>
            <a:r>
              <a:rPr b="1" i="0" lang="en-US" sz="1200" u="none" cap="none" strike="noStrike">
                <a:solidFill>
                  <a:srgbClr val="52B788"/>
                </a:solidFill>
                <a:latin typeface="Calibri"/>
                <a:ea typeface="Calibri"/>
                <a:cs typeface="Calibri"/>
                <a:sym typeface="Calibri"/>
              </a:rPr>
              <a:t>OK08 · ORALIDAD PLANIFICADA</a:t>
            </a:r>
            <a:endParaRPr b="0" i="0" sz="1200" u="none" cap="none" strike="noStrike">
              <a:solidFill>
                <a:schemeClr val="dk1"/>
              </a:solidFill>
              <a:latin typeface="Calibri"/>
              <a:ea typeface="Calibri"/>
              <a:cs typeface="Calibri"/>
              <a:sym typeface="Calibri"/>
            </a:endParaRPr>
          </a:p>
        </p:txBody>
      </p:sp>
      <p:sp>
        <p:nvSpPr>
          <p:cNvPr id="33" name="Google Shape;33;p3"/>
          <p:cNvSpPr/>
          <p:nvPr/>
        </p:nvSpPr>
        <p:spPr>
          <a:xfrm>
            <a:off x="822960" y="1371600"/>
            <a:ext cx="987552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4200"/>
              <a:buFont typeface="Bookman Old Style"/>
              <a:buNone/>
            </a:pPr>
            <a:r>
              <a:rPr b="1" i="0" lang="en-US" sz="4200" u="none" cap="none" strike="noStrike">
                <a:solidFill>
                  <a:srgbClr val="FFFFFF"/>
                </a:solidFill>
                <a:latin typeface="Bookman Old Style"/>
                <a:ea typeface="Bookman Old Style"/>
                <a:cs typeface="Bookman Old Style"/>
                <a:sym typeface="Bookman Old Style"/>
              </a:rPr>
              <a:t>La vulnerabilidad</a:t>
            </a:r>
            <a:endParaRPr b="0" i="0" sz="4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200"/>
              <a:buFont typeface="Bookman Old Style"/>
              <a:buNone/>
            </a:pPr>
            <a:r>
              <a:rPr b="1" i="0" lang="en-US" sz="4200" u="none" cap="none" strike="noStrike">
                <a:solidFill>
                  <a:srgbClr val="FFFFFF"/>
                </a:solidFill>
                <a:latin typeface="Bookman Old Style"/>
                <a:ea typeface="Bookman Old Style"/>
                <a:cs typeface="Bookman Old Style"/>
                <a:sym typeface="Bookman Old Style"/>
              </a:rPr>
              <a:t>no es un accidente</a:t>
            </a:r>
            <a:endParaRPr b="0" i="0" sz="4200" u="none" cap="none" strike="noStrike">
              <a:solidFill>
                <a:schemeClr val="dk1"/>
              </a:solidFill>
              <a:latin typeface="Calibri"/>
              <a:ea typeface="Calibri"/>
              <a:cs typeface="Calibri"/>
              <a:sym typeface="Calibri"/>
            </a:endParaRPr>
          </a:p>
        </p:txBody>
      </p:sp>
      <p:sp>
        <p:nvSpPr>
          <p:cNvPr id="34" name="Google Shape;34;p3"/>
          <p:cNvSpPr/>
          <p:nvPr/>
        </p:nvSpPr>
        <p:spPr>
          <a:xfrm>
            <a:off x="822960" y="3337560"/>
            <a:ext cx="86868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Por qué la ciberseguridad también es un problema de sustentabilidad</a:t>
            </a:r>
            <a:endParaRPr b="0" i="0" sz="1800" u="none" cap="none" strike="noStrike">
              <a:solidFill>
                <a:schemeClr val="dk1"/>
              </a:solidFill>
              <a:latin typeface="Calibri"/>
              <a:ea typeface="Calibri"/>
              <a:cs typeface="Calibri"/>
              <a:sym typeface="Calibri"/>
            </a:endParaRPr>
          </a:p>
        </p:txBody>
      </p:sp>
      <p:cxnSp>
        <p:nvCxnSpPr>
          <p:cNvPr id="35" name="Google Shape;35;p3"/>
          <p:cNvCxnSpPr/>
          <p:nvPr/>
        </p:nvCxnSpPr>
        <p:spPr>
          <a:xfrm>
            <a:off x="822960" y="4297680"/>
            <a:ext cx="2926080" cy="0"/>
          </a:xfrm>
          <a:prstGeom prst="straightConnector1">
            <a:avLst/>
          </a:prstGeom>
          <a:noFill/>
          <a:ln cap="flat" cmpd="sng" w="25400">
            <a:solidFill>
              <a:srgbClr val="52B788">
                <a:alpha val="70196"/>
              </a:srgbClr>
            </a:solidFill>
            <a:prstDash val="solid"/>
            <a:round/>
            <a:headEnd len="sm" w="sm" type="none"/>
            <a:tailEnd len="sm" w="sm" type="none"/>
          </a:ln>
        </p:spPr>
      </p:cxnSp>
      <p:sp>
        <p:nvSpPr>
          <p:cNvPr id="36" name="Google Shape;36;p3"/>
          <p:cNvSpPr/>
          <p:nvPr/>
        </p:nvSpPr>
        <p:spPr>
          <a:xfrm>
            <a:off x="822960" y="4572000"/>
            <a:ext cx="777240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Pedro José Lara Montiel</a:t>
            </a:r>
            <a:br>
              <a:rPr b="1" i="0" lang="en-US" sz="1600" u="none" cap="none" strike="noStrike">
                <a:solidFill>
                  <a:srgbClr val="FFFFFF"/>
                </a:solidFill>
                <a:latin typeface="Calibri"/>
                <a:ea typeface="Calibri"/>
                <a:cs typeface="Calibri"/>
                <a:sym typeface="Calibri"/>
              </a:rPr>
            </a:br>
            <a:r>
              <a:rPr b="0" i="0" lang="en-US" sz="1300" u="none" cap="none" strike="noStrike">
                <a:solidFill>
                  <a:srgbClr val="CADCFC"/>
                </a:solidFill>
                <a:latin typeface="Calibri"/>
                <a:ea typeface="Calibri"/>
                <a:cs typeface="Calibri"/>
                <a:sym typeface="Calibri"/>
              </a:rPr>
              <a:t>Ingeniería en Ciberseguridad e Infraestructura de Cómputo</a:t>
            </a:r>
            <a:br>
              <a:rPr b="0" i="0" lang="en-US" sz="1300" u="none" cap="none" strike="noStrike">
                <a:solidFill>
                  <a:srgbClr val="CADCFC"/>
                </a:solidFill>
                <a:latin typeface="Calibri"/>
                <a:ea typeface="Calibri"/>
                <a:cs typeface="Calibri"/>
                <a:sym typeface="Calibri"/>
              </a:rPr>
            </a:br>
            <a:r>
              <a:rPr b="0" i="0" lang="en-US" sz="1300" u="none" cap="none" strike="noStrike">
                <a:solidFill>
                  <a:srgbClr val="CADCFC"/>
                </a:solidFill>
                <a:latin typeface="Calibri"/>
                <a:ea typeface="Calibri"/>
                <a:cs typeface="Calibri"/>
                <a:sym typeface="Calibri"/>
              </a:rPr>
              <a:t>Facultad de Estadística e Informática · Universidad Veracruzana</a:t>
            </a:r>
            <a:br>
              <a:rPr b="0" i="0" lang="en-US" sz="1300" u="none" cap="none" strike="noStrike">
                <a:solidFill>
                  <a:srgbClr val="CADCFC"/>
                </a:solidFill>
                <a:latin typeface="Calibri"/>
                <a:ea typeface="Calibri"/>
                <a:cs typeface="Calibri"/>
                <a:sym typeface="Calibri"/>
              </a:rPr>
            </a:br>
            <a:r>
              <a:rPr b="0" i="0" lang="en-US" sz="1300" u="none" cap="none" strike="noStrike">
                <a:solidFill>
                  <a:srgbClr val="8A9AA3"/>
                </a:solidFill>
                <a:latin typeface="Calibri"/>
                <a:ea typeface="Calibri"/>
                <a:cs typeface="Calibri"/>
                <a:sym typeface="Calibri"/>
              </a:rPr>
              <a:t>Desarrollo de Habilidades Informativas · ACT08</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4"/>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INTRODUCCIÓN</a:t>
            </a:r>
            <a:endParaRPr b="0" i="0" sz="1300" u="none" cap="none" strike="noStrike">
              <a:solidFill>
                <a:schemeClr val="dk1"/>
              </a:solidFill>
              <a:latin typeface="Calibri"/>
              <a:ea typeface="Calibri"/>
              <a:cs typeface="Calibri"/>
              <a:sym typeface="Calibri"/>
            </a:endParaRPr>
          </a:p>
        </p:txBody>
      </p:sp>
      <p:sp>
        <p:nvSpPr>
          <p:cNvPr id="43" name="Google Shape;43;p4"/>
          <p:cNvSpPr/>
          <p:nvPr/>
        </p:nvSpPr>
        <p:spPr>
          <a:xfrm>
            <a:off x="822960" y="960120"/>
            <a:ext cx="10058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700"/>
              <a:buFont typeface="Bookman Old Style"/>
              <a:buNone/>
            </a:pPr>
            <a:r>
              <a:rPr b="1" i="0" lang="en-US" sz="2700" u="none" cap="none" strike="noStrike">
                <a:solidFill>
                  <a:srgbClr val="13202B"/>
                </a:solidFill>
                <a:latin typeface="Bookman Old Style"/>
                <a:ea typeface="Bookman Old Style"/>
                <a:cs typeface="Bookman Old Style"/>
                <a:sym typeface="Bookman Old Style"/>
              </a:rPr>
              <a:t>Dos formas de pensar “sustentabilidad”</a:t>
            </a:r>
            <a:endParaRPr b="0" i="0" sz="2700" u="none" cap="none" strike="noStrike">
              <a:solidFill>
                <a:schemeClr val="dk1"/>
              </a:solidFill>
              <a:latin typeface="Calibri"/>
              <a:ea typeface="Calibri"/>
              <a:cs typeface="Calibri"/>
              <a:sym typeface="Calibri"/>
            </a:endParaRPr>
          </a:p>
        </p:txBody>
      </p:sp>
      <p:sp>
        <p:nvSpPr>
          <p:cNvPr id="44" name="Google Shape;44;p4"/>
          <p:cNvSpPr/>
          <p:nvPr/>
        </p:nvSpPr>
        <p:spPr>
          <a:xfrm>
            <a:off x="822960" y="1920240"/>
            <a:ext cx="4937760" cy="2651760"/>
          </a:xfrm>
          <a:prstGeom prst="roundRect">
            <a:avLst>
              <a:gd fmla="val 3448"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1143000" y="2194560"/>
            <a:ext cx="4297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1100"/>
              <a:buFont typeface="Calibri"/>
              <a:buNone/>
            </a:pPr>
            <a:r>
              <a:rPr b="1" i="0" lang="en-US" sz="1100" u="none" cap="none" strike="noStrike">
                <a:solidFill>
                  <a:srgbClr val="5C6B73"/>
                </a:solidFill>
                <a:latin typeface="Calibri"/>
                <a:ea typeface="Calibri"/>
                <a:cs typeface="Calibri"/>
                <a:sym typeface="Calibri"/>
              </a:rPr>
              <a:t>LA IMAGEN DE SIEMPRE</a:t>
            </a:r>
            <a:endParaRPr b="0" i="0" sz="1100" u="none" cap="none" strike="noStrike">
              <a:solidFill>
                <a:schemeClr val="dk1"/>
              </a:solidFill>
              <a:latin typeface="Calibri"/>
              <a:ea typeface="Calibri"/>
              <a:cs typeface="Calibri"/>
              <a:sym typeface="Calibri"/>
            </a:endParaRPr>
          </a:p>
        </p:txBody>
      </p:sp>
      <p:sp>
        <p:nvSpPr>
          <p:cNvPr id="46" name="Google Shape;46;p4"/>
          <p:cNvSpPr/>
          <p:nvPr/>
        </p:nvSpPr>
        <p:spPr>
          <a:xfrm>
            <a:off x="1143000" y="2651760"/>
            <a:ext cx="4297680" cy="173736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13202B"/>
              </a:buClr>
              <a:buSzPts val="2400"/>
              <a:buFont typeface="Bookman Old Style"/>
              <a:buNone/>
            </a:pPr>
            <a:r>
              <a:rPr b="0" i="0" lang="en-US" sz="2400" u="none" cap="none" strike="noStrike">
                <a:solidFill>
                  <a:srgbClr val="13202B"/>
                </a:solidFill>
                <a:latin typeface="Bookman Old Style"/>
                <a:ea typeface="Bookman Old Style"/>
                <a:cs typeface="Bookman Old Style"/>
                <a:sym typeface="Bookman Old Style"/>
              </a:rPr>
              <a:t>Árboles</a:t>
            </a:r>
            <a:endParaRPr b="0" i="0" sz="2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3202B"/>
              </a:buClr>
              <a:buSzPts val="2400"/>
              <a:buFont typeface="Bookman Old Style"/>
              <a:buNone/>
            </a:pPr>
            <a:r>
              <a:rPr b="0" i="0" lang="en-US" sz="2400" u="none" cap="none" strike="noStrike">
                <a:solidFill>
                  <a:srgbClr val="13202B"/>
                </a:solidFill>
                <a:latin typeface="Bookman Old Style"/>
                <a:ea typeface="Bookman Old Style"/>
                <a:cs typeface="Bookman Old Style"/>
                <a:sym typeface="Bookman Old Style"/>
              </a:rPr>
              <a:t>Agua limpia</a:t>
            </a:r>
            <a:endParaRPr b="0" i="0" sz="24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3202B"/>
              </a:buClr>
              <a:buSzPts val="2400"/>
              <a:buFont typeface="Bookman Old Style"/>
              <a:buNone/>
            </a:pPr>
            <a:r>
              <a:rPr b="0" i="0" lang="en-US" sz="2400" u="none" cap="none" strike="noStrike">
                <a:solidFill>
                  <a:srgbClr val="13202B"/>
                </a:solidFill>
                <a:latin typeface="Bookman Old Style"/>
                <a:ea typeface="Bookman Old Style"/>
                <a:cs typeface="Bookman Old Style"/>
                <a:sym typeface="Bookman Old Style"/>
              </a:rPr>
              <a:t>Paneles solares</a:t>
            </a:r>
            <a:endParaRPr b="0" i="0" sz="2400" u="none" cap="none" strike="noStrike">
              <a:solidFill>
                <a:schemeClr val="dk1"/>
              </a:solidFill>
              <a:latin typeface="Calibri"/>
              <a:ea typeface="Calibri"/>
              <a:cs typeface="Calibri"/>
              <a:sym typeface="Calibri"/>
            </a:endParaRPr>
          </a:p>
        </p:txBody>
      </p:sp>
      <p:sp>
        <p:nvSpPr>
          <p:cNvPr id="47" name="Google Shape;47;p4"/>
          <p:cNvSpPr/>
          <p:nvPr/>
        </p:nvSpPr>
        <p:spPr>
          <a:xfrm>
            <a:off x="5989320" y="1920240"/>
            <a:ext cx="5074920" cy="2651760"/>
          </a:xfrm>
          <a:prstGeom prst="roundRect">
            <a:avLst>
              <a:gd fmla="val 3448" name="adj"/>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6309360" y="2194560"/>
            <a:ext cx="44805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100"/>
              <a:buFont typeface="Calibri"/>
              <a:buNone/>
            </a:pPr>
            <a:r>
              <a:rPr b="1" i="0" lang="en-US" sz="1100" u="none" cap="none" strike="noStrike">
                <a:solidFill>
                  <a:srgbClr val="52B788"/>
                </a:solidFill>
                <a:latin typeface="Calibri"/>
                <a:ea typeface="Calibri"/>
                <a:cs typeface="Calibri"/>
                <a:sym typeface="Calibri"/>
              </a:rPr>
              <a:t>LO QUE PROPONGO</a:t>
            </a:r>
            <a:endParaRPr b="0" i="0" sz="1100" u="none" cap="none" strike="noStrike">
              <a:solidFill>
                <a:schemeClr val="dk1"/>
              </a:solidFill>
              <a:latin typeface="Calibri"/>
              <a:ea typeface="Calibri"/>
              <a:cs typeface="Calibri"/>
              <a:sym typeface="Calibri"/>
            </a:endParaRPr>
          </a:p>
        </p:txBody>
      </p:sp>
      <p:sp>
        <p:nvSpPr>
          <p:cNvPr id="49" name="Google Shape;49;p4"/>
          <p:cNvSpPr/>
          <p:nvPr/>
        </p:nvSpPr>
        <p:spPr>
          <a:xfrm>
            <a:off x="6309360" y="2606040"/>
            <a:ext cx="4480560" cy="10515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FFFFFF"/>
              </a:buClr>
              <a:buSzPts val="2100"/>
              <a:buFont typeface="Bookman Old Style"/>
              <a:buNone/>
            </a:pPr>
            <a:r>
              <a:rPr b="1" i="0" lang="en-US" sz="2100" u="none" cap="none" strike="noStrike">
                <a:solidFill>
                  <a:srgbClr val="FFFFFF"/>
                </a:solidFill>
                <a:latin typeface="Bookman Old Style"/>
                <a:ea typeface="Bookman Old Style"/>
                <a:cs typeface="Bookman Old Style"/>
                <a:sym typeface="Bookman Old Style"/>
              </a:rPr>
              <a:t>Un servidor sin parches también cuenta.</a:t>
            </a:r>
            <a:endParaRPr b="0" i="0" sz="2100" u="none" cap="none" strike="noStrike">
              <a:solidFill>
                <a:schemeClr val="dk1"/>
              </a:solidFill>
              <a:latin typeface="Calibri"/>
              <a:ea typeface="Calibri"/>
              <a:cs typeface="Calibri"/>
              <a:sym typeface="Calibri"/>
            </a:endParaRPr>
          </a:p>
        </p:txBody>
      </p:sp>
      <p:sp>
        <p:nvSpPr>
          <p:cNvPr id="50" name="Google Shape;50;p4"/>
          <p:cNvSpPr/>
          <p:nvPr/>
        </p:nvSpPr>
        <p:spPr>
          <a:xfrm>
            <a:off x="6309360" y="3794760"/>
            <a:ext cx="4480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b="1" i="0" lang="en-US" sz="1150" u="none" cap="none" strike="noStrike">
                <a:solidFill>
                  <a:srgbClr val="CADCFC"/>
                </a:solidFill>
                <a:latin typeface="Calibri"/>
                <a:ea typeface="Calibri"/>
                <a:cs typeface="Calibri"/>
                <a:sym typeface="Calibri"/>
              </a:rPr>
              <a:t>ENERGÍA  ·  TELECOM  ·  TRANSPORTE  ·  SALUD</a:t>
            </a:r>
            <a:endParaRPr b="0" i="0" sz="1150" u="none" cap="none" strike="noStrike">
              <a:solidFill>
                <a:schemeClr val="dk1"/>
              </a:solidFill>
              <a:latin typeface="Calibri"/>
              <a:ea typeface="Calibri"/>
              <a:cs typeface="Calibri"/>
              <a:sym typeface="Calibri"/>
            </a:endParaRPr>
          </a:p>
        </p:txBody>
      </p:sp>
      <p:sp>
        <p:nvSpPr>
          <p:cNvPr id="51" name="Google Shape;51;p4"/>
          <p:cNvSpPr/>
          <p:nvPr/>
        </p:nvSpPr>
        <p:spPr>
          <a:xfrm>
            <a:off x="822960" y="4846320"/>
            <a:ext cx="10241280" cy="777240"/>
          </a:xfrm>
          <a:prstGeom prst="roundRect">
            <a:avLst>
              <a:gd fmla="val 11765" name="adj"/>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1097280" y="4846320"/>
            <a:ext cx="96926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200"/>
              <a:buFont typeface="Bookman Old Style"/>
              <a:buNone/>
            </a:pPr>
            <a:r>
              <a:rPr b="1" i="0" lang="en-US" sz="1200" u="none" cap="none" strike="noStrike">
                <a:solidFill>
                  <a:srgbClr val="52B788"/>
                </a:solidFill>
                <a:latin typeface="Bookman Old Style"/>
                <a:ea typeface="Bookman Old Style"/>
                <a:cs typeface="Bookman Old Style"/>
                <a:sym typeface="Bookman Old Style"/>
              </a:rPr>
              <a:t>TESIS  </a:t>
            </a:r>
            <a:r>
              <a:rPr b="0" i="1" lang="en-US" sz="1600" u="none" cap="none" strike="noStrike">
                <a:solidFill>
                  <a:srgbClr val="FFFFFF"/>
                </a:solidFill>
                <a:latin typeface="Bookman Old Style"/>
                <a:ea typeface="Bookman Old Style"/>
                <a:cs typeface="Bookman Old Style"/>
                <a:sym typeface="Bookman Old Style"/>
              </a:rPr>
              <a:t>La ciberseguridad es parte de la sustentabilidad de un país.</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54" name="Google Shape;54;p4"/>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5"/>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DESARROLLO · 1 DE 4</a:t>
            </a:r>
            <a:endParaRPr b="0" i="0" sz="1300" u="none" cap="none" strike="noStrike">
              <a:solidFill>
                <a:schemeClr val="dk1"/>
              </a:solidFill>
              <a:latin typeface="Calibri"/>
              <a:ea typeface="Calibri"/>
              <a:cs typeface="Calibri"/>
              <a:sym typeface="Calibri"/>
            </a:endParaRPr>
          </a:p>
        </p:txBody>
      </p:sp>
      <p:sp>
        <p:nvSpPr>
          <p:cNvPr id="61" name="Google Shape;61;p5"/>
          <p:cNvSpPr/>
          <p:nvPr/>
        </p:nvSpPr>
        <p:spPr>
          <a:xfrm>
            <a:off x="822960" y="960120"/>
            <a:ext cx="10332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700"/>
              <a:buFont typeface="Bookman Old Style"/>
              <a:buNone/>
            </a:pPr>
            <a:r>
              <a:rPr b="1" i="0" lang="en-US" sz="2700" u="none" cap="none" strike="noStrike">
                <a:solidFill>
                  <a:srgbClr val="13202B"/>
                </a:solidFill>
                <a:latin typeface="Bookman Old Style"/>
                <a:ea typeface="Bookman Old Style"/>
                <a:cs typeface="Bookman Old Style"/>
                <a:sym typeface="Bookman Old Style"/>
              </a:rPr>
              <a:t>Tres descuidos comunes</a:t>
            </a:r>
            <a:endParaRPr b="0" i="0" sz="2700" u="none" cap="none" strike="noStrike">
              <a:solidFill>
                <a:schemeClr val="dk1"/>
              </a:solidFill>
              <a:latin typeface="Calibri"/>
              <a:ea typeface="Calibri"/>
              <a:cs typeface="Calibri"/>
              <a:sym typeface="Calibri"/>
            </a:endParaRPr>
          </a:p>
        </p:txBody>
      </p:sp>
      <p:sp>
        <p:nvSpPr>
          <p:cNvPr id="62" name="Google Shape;62;p5"/>
          <p:cNvSpPr/>
          <p:nvPr/>
        </p:nvSpPr>
        <p:spPr>
          <a:xfrm>
            <a:off x="822960" y="1508760"/>
            <a:ext cx="10058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1400"/>
              <a:buFont typeface="Calibri"/>
              <a:buNone/>
            </a:pPr>
            <a:r>
              <a:rPr b="0" i="1" lang="en-US" sz="1400" u="none" cap="none" strike="noStrike">
                <a:solidFill>
                  <a:srgbClr val="5C6B73"/>
                </a:solidFill>
                <a:latin typeface="Calibri"/>
                <a:ea typeface="Calibri"/>
                <a:cs typeface="Calibri"/>
                <a:sym typeface="Calibri"/>
              </a:rPr>
              <a:t>Vistos en prácticas con equipo real</a:t>
            </a:r>
            <a:endParaRPr b="0" i="0" sz="1400" u="none" cap="none" strike="noStrike">
              <a:solidFill>
                <a:schemeClr val="dk1"/>
              </a:solidFill>
              <a:latin typeface="Calibri"/>
              <a:ea typeface="Calibri"/>
              <a:cs typeface="Calibri"/>
              <a:sym typeface="Calibri"/>
            </a:endParaRPr>
          </a:p>
        </p:txBody>
      </p:sp>
      <p:sp>
        <p:nvSpPr>
          <p:cNvPr id="63" name="Google Shape;63;p5"/>
          <p:cNvSpPr/>
          <p:nvPr/>
        </p:nvSpPr>
        <p:spPr>
          <a:xfrm>
            <a:off x="822960" y="2148840"/>
            <a:ext cx="3246120" cy="2331720"/>
          </a:xfrm>
          <a:prstGeom prst="roundRect">
            <a:avLst>
              <a:gd fmla="val 3922"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097280" y="2423160"/>
            <a:ext cx="502920" cy="502920"/>
          </a:xfrm>
          <a:prstGeom prst="ellipse">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1097280" y="24231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1500"/>
              <a:buFont typeface="Calibri"/>
              <a:buNone/>
            </a:pPr>
            <a:r>
              <a:rPr b="1" i="0" lang="en-US" sz="1500" u="none" cap="none" strike="noStrike">
                <a:solidFill>
                  <a:srgbClr val="52B788"/>
                </a:solidFill>
                <a:latin typeface="Calibri"/>
                <a:ea typeface="Calibri"/>
                <a:cs typeface="Calibri"/>
                <a:sym typeface="Calibri"/>
              </a:rPr>
              <a:t>01</a:t>
            </a:r>
            <a:endParaRPr b="0" i="0" sz="1500" u="none" cap="none" strike="noStrike">
              <a:solidFill>
                <a:schemeClr val="dk1"/>
              </a:solidFill>
              <a:latin typeface="Calibri"/>
              <a:ea typeface="Calibri"/>
              <a:cs typeface="Calibri"/>
              <a:sym typeface="Calibri"/>
            </a:endParaRPr>
          </a:p>
        </p:txBody>
      </p:sp>
      <p:sp>
        <p:nvSpPr>
          <p:cNvPr id="66" name="Google Shape;66;p5"/>
          <p:cNvSpPr/>
          <p:nvPr/>
        </p:nvSpPr>
        <p:spPr>
          <a:xfrm>
            <a:off x="1097280" y="3108960"/>
            <a:ext cx="2697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000"/>
              <a:buFont typeface="Bookman Old Style"/>
              <a:buNone/>
            </a:pPr>
            <a:r>
              <a:rPr b="1" i="0" lang="en-US" sz="2000" u="none" cap="none" strike="noStrike">
                <a:solidFill>
                  <a:srgbClr val="13202B"/>
                </a:solidFill>
                <a:latin typeface="Bookman Old Style"/>
                <a:ea typeface="Bookman Old Style"/>
                <a:cs typeface="Bookman Old Style"/>
                <a:sym typeface="Bookman Old Style"/>
              </a:rPr>
              <a:t>Router</a:t>
            </a:r>
            <a:endParaRPr b="0" i="0" sz="2000" u="none" cap="none" strike="noStrike">
              <a:solidFill>
                <a:schemeClr val="dk1"/>
              </a:solidFill>
              <a:latin typeface="Calibri"/>
              <a:ea typeface="Calibri"/>
              <a:cs typeface="Calibri"/>
              <a:sym typeface="Calibri"/>
            </a:endParaRPr>
          </a:p>
        </p:txBody>
      </p:sp>
      <p:sp>
        <p:nvSpPr>
          <p:cNvPr id="67" name="Google Shape;67;p5"/>
          <p:cNvSpPr/>
          <p:nvPr/>
        </p:nvSpPr>
        <p:spPr>
          <a:xfrm>
            <a:off x="1097280" y="3611880"/>
            <a:ext cx="26974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1300"/>
              <a:buFont typeface="Calibri"/>
              <a:buNone/>
            </a:pPr>
            <a:r>
              <a:rPr b="0" i="1" lang="en-US" sz="1300" u="none" cap="none" strike="noStrike">
                <a:solidFill>
                  <a:srgbClr val="5C6B73"/>
                </a:solidFill>
                <a:latin typeface="Calibri"/>
                <a:ea typeface="Calibri"/>
                <a:cs typeface="Calibri"/>
                <a:sym typeface="Calibri"/>
              </a:rPr>
              <a:t>configurado sin calma</a:t>
            </a:r>
            <a:endParaRPr b="0" i="0" sz="1300" u="none" cap="none" strike="noStrike">
              <a:solidFill>
                <a:schemeClr val="dk1"/>
              </a:solidFill>
              <a:latin typeface="Calibri"/>
              <a:ea typeface="Calibri"/>
              <a:cs typeface="Calibri"/>
              <a:sym typeface="Calibri"/>
            </a:endParaRPr>
          </a:p>
        </p:txBody>
      </p:sp>
      <p:sp>
        <p:nvSpPr>
          <p:cNvPr id="68" name="Google Shape;68;p5"/>
          <p:cNvSpPr/>
          <p:nvPr/>
        </p:nvSpPr>
        <p:spPr>
          <a:xfrm>
            <a:off x="4297680" y="2148840"/>
            <a:ext cx="3246120" cy="2331720"/>
          </a:xfrm>
          <a:prstGeom prst="roundRect">
            <a:avLst>
              <a:gd fmla="val 3922"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4572000" y="2423160"/>
            <a:ext cx="502920" cy="502920"/>
          </a:xfrm>
          <a:prstGeom prst="ellipse">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4572000" y="24231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1500"/>
              <a:buFont typeface="Calibri"/>
              <a:buNone/>
            </a:pPr>
            <a:r>
              <a:rPr b="1" i="0" lang="en-US" sz="1500" u="none" cap="none" strike="noStrike">
                <a:solidFill>
                  <a:srgbClr val="52B788"/>
                </a:solidFill>
                <a:latin typeface="Calibri"/>
                <a:ea typeface="Calibri"/>
                <a:cs typeface="Calibri"/>
                <a:sym typeface="Calibri"/>
              </a:rPr>
              <a:t>02</a:t>
            </a:r>
            <a:endParaRPr b="0" i="0" sz="1500" u="none" cap="none" strike="noStrike">
              <a:solidFill>
                <a:schemeClr val="dk1"/>
              </a:solidFill>
              <a:latin typeface="Calibri"/>
              <a:ea typeface="Calibri"/>
              <a:cs typeface="Calibri"/>
              <a:sym typeface="Calibri"/>
            </a:endParaRPr>
          </a:p>
        </p:txBody>
      </p:sp>
      <p:sp>
        <p:nvSpPr>
          <p:cNvPr id="71" name="Google Shape;71;p5"/>
          <p:cNvSpPr/>
          <p:nvPr/>
        </p:nvSpPr>
        <p:spPr>
          <a:xfrm>
            <a:off x="4572000" y="3108960"/>
            <a:ext cx="2697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000"/>
              <a:buFont typeface="Bookman Old Style"/>
              <a:buNone/>
            </a:pPr>
            <a:r>
              <a:rPr b="1" i="0" lang="en-US" sz="2000" u="none" cap="none" strike="noStrike">
                <a:solidFill>
                  <a:srgbClr val="13202B"/>
                </a:solidFill>
                <a:latin typeface="Bookman Old Style"/>
                <a:ea typeface="Bookman Old Style"/>
                <a:cs typeface="Bookman Old Style"/>
                <a:sym typeface="Bookman Old Style"/>
              </a:rPr>
              <a:t>Contraseña</a:t>
            </a:r>
            <a:endParaRPr b="0" i="0" sz="2000" u="none" cap="none" strike="noStrike">
              <a:solidFill>
                <a:schemeClr val="dk1"/>
              </a:solidFill>
              <a:latin typeface="Calibri"/>
              <a:ea typeface="Calibri"/>
              <a:cs typeface="Calibri"/>
              <a:sym typeface="Calibri"/>
            </a:endParaRPr>
          </a:p>
        </p:txBody>
      </p:sp>
      <p:sp>
        <p:nvSpPr>
          <p:cNvPr id="72" name="Google Shape;72;p5"/>
          <p:cNvSpPr/>
          <p:nvPr/>
        </p:nvSpPr>
        <p:spPr>
          <a:xfrm>
            <a:off x="4572000" y="3611880"/>
            <a:ext cx="26974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1300"/>
              <a:buFont typeface="Calibri"/>
              <a:buNone/>
            </a:pPr>
            <a:r>
              <a:rPr b="0" i="1" lang="en-US" sz="1300" u="none" cap="none" strike="noStrike">
                <a:solidFill>
                  <a:srgbClr val="5C6B73"/>
                </a:solidFill>
                <a:latin typeface="Calibri"/>
                <a:ea typeface="Calibri"/>
                <a:cs typeface="Calibri"/>
                <a:sym typeface="Calibri"/>
              </a:rPr>
              <a:t>sin cambiar desde la instalación</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7772400" y="2148840"/>
            <a:ext cx="3246120" cy="2331720"/>
          </a:xfrm>
          <a:prstGeom prst="roundRect">
            <a:avLst>
              <a:gd fmla="val 3922"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8046720" y="2423160"/>
            <a:ext cx="502920" cy="502920"/>
          </a:xfrm>
          <a:prstGeom prst="ellipse">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046720" y="24231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1500"/>
              <a:buFont typeface="Calibri"/>
              <a:buNone/>
            </a:pPr>
            <a:r>
              <a:rPr b="1" i="0" lang="en-US" sz="1500" u="none" cap="none" strike="noStrike">
                <a:solidFill>
                  <a:srgbClr val="52B788"/>
                </a:solidFill>
                <a:latin typeface="Calibri"/>
                <a:ea typeface="Calibri"/>
                <a:cs typeface="Calibri"/>
                <a:sym typeface="Calibri"/>
              </a:rPr>
              <a:t>03</a:t>
            </a:r>
            <a:endParaRPr b="0" i="0" sz="1500" u="none" cap="none" strike="noStrike">
              <a:solidFill>
                <a:schemeClr val="dk1"/>
              </a:solidFill>
              <a:latin typeface="Calibri"/>
              <a:ea typeface="Calibri"/>
              <a:cs typeface="Calibri"/>
              <a:sym typeface="Calibri"/>
            </a:endParaRPr>
          </a:p>
        </p:txBody>
      </p:sp>
      <p:sp>
        <p:nvSpPr>
          <p:cNvPr id="76" name="Google Shape;76;p5"/>
          <p:cNvSpPr/>
          <p:nvPr/>
        </p:nvSpPr>
        <p:spPr>
          <a:xfrm>
            <a:off x="8046720" y="3108960"/>
            <a:ext cx="2697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000"/>
              <a:buFont typeface="Bookman Old Style"/>
              <a:buNone/>
            </a:pPr>
            <a:r>
              <a:rPr b="1" i="0" lang="en-US" sz="2000" u="none" cap="none" strike="noStrike">
                <a:solidFill>
                  <a:srgbClr val="13202B"/>
                </a:solidFill>
                <a:latin typeface="Bookman Old Style"/>
                <a:ea typeface="Bookman Old Style"/>
                <a:cs typeface="Bookman Old Style"/>
                <a:sym typeface="Bookman Old Style"/>
              </a:rPr>
              <a:t>Manual</a:t>
            </a:r>
            <a:endParaRPr b="0" i="0" sz="2000" u="none" cap="none" strike="noStrike">
              <a:solidFill>
                <a:schemeClr val="dk1"/>
              </a:solidFill>
              <a:latin typeface="Calibri"/>
              <a:ea typeface="Calibri"/>
              <a:cs typeface="Calibri"/>
              <a:sym typeface="Calibri"/>
            </a:endParaRPr>
          </a:p>
        </p:txBody>
      </p:sp>
      <p:sp>
        <p:nvSpPr>
          <p:cNvPr id="77" name="Google Shape;77;p5"/>
          <p:cNvSpPr/>
          <p:nvPr/>
        </p:nvSpPr>
        <p:spPr>
          <a:xfrm>
            <a:off x="8046720" y="3611880"/>
            <a:ext cx="26974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1300"/>
              <a:buFont typeface="Calibri"/>
              <a:buNone/>
            </a:pPr>
            <a:r>
              <a:rPr b="0" i="1" lang="en-US" sz="1300" u="none" cap="none" strike="noStrike">
                <a:solidFill>
                  <a:srgbClr val="5C6B73"/>
                </a:solidFill>
                <a:latin typeface="Calibri"/>
                <a:ea typeface="Calibri"/>
                <a:cs typeface="Calibri"/>
                <a:sym typeface="Calibri"/>
              </a:rPr>
              <a:t>leído a la mitad</a:t>
            </a:r>
            <a:endParaRPr b="0" i="0" sz="1300" u="none" cap="none" strike="noStrike">
              <a:solidFill>
                <a:schemeClr val="dk1"/>
              </a:solidFill>
              <a:latin typeface="Calibri"/>
              <a:ea typeface="Calibri"/>
              <a:cs typeface="Calibri"/>
              <a:sym typeface="Calibri"/>
            </a:endParaRPr>
          </a:p>
        </p:txBody>
      </p:sp>
      <p:sp>
        <p:nvSpPr>
          <p:cNvPr id="78" name="Google Shape;78;p5"/>
          <p:cNvSpPr/>
          <p:nvPr/>
        </p:nvSpPr>
        <p:spPr>
          <a:xfrm>
            <a:off x="822960" y="4800600"/>
            <a:ext cx="10241280" cy="868680"/>
          </a:xfrm>
          <a:prstGeom prst="roundRect">
            <a:avLst>
              <a:gd fmla="val 10526" name="adj"/>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1097280" y="4800600"/>
            <a:ext cx="96926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Bookman Old Style"/>
              <a:buNone/>
            </a:pPr>
            <a:r>
              <a:rPr b="1" i="1" lang="en-US" sz="2000" u="none" cap="none" strike="noStrike">
                <a:solidFill>
                  <a:srgbClr val="FFFFFF"/>
                </a:solidFill>
                <a:latin typeface="Bookman Old Style"/>
                <a:ea typeface="Bookman Old Style"/>
                <a:cs typeface="Bookman Old Style"/>
                <a:sym typeface="Bookman Old Style"/>
              </a:rPr>
              <a:t>Vulnerabilidad = acumulación, no accidente.</a:t>
            </a:r>
            <a:endParaRPr b="0" i="0" sz="2000" u="none" cap="none" strike="noStrike">
              <a:solidFill>
                <a:schemeClr val="dk1"/>
              </a:solidFill>
              <a:latin typeface="Calibri"/>
              <a:ea typeface="Calibri"/>
              <a:cs typeface="Calibri"/>
              <a:sym typeface="Calibri"/>
            </a:endParaRPr>
          </a:p>
        </p:txBody>
      </p:sp>
      <p:sp>
        <p:nvSpPr>
          <p:cNvPr id="80" name="Google Shape;80;p5"/>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81" name="Google Shape;81;p5"/>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6"/>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DESARROLLO · 2 DE 4</a:t>
            </a:r>
            <a:endParaRPr b="0" i="0" sz="1300" u="none" cap="none" strike="noStrike">
              <a:solidFill>
                <a:schemeClr val="dk1"/>
              </a:solidFill>
              <a:latin typeface="Calibri"/>
              <a:ea typeface="Calibri"/>
              <a:cs typeface="Calibri"/>
              <a:sym typeface="Calibri"/>
            </a:endParaRPr>
          </a:p>
        </p:txBody>
      </p:sp>
      <p:sp>
        <p:nvSpPr>
          <p:cNvPr id="88" name="Google Shape;88;p6"/>
          <p:cNvSpPr/>
          <p:nvPr/>
        </p:nvSpPr>
        <p:spPr>
          <a:xfrm>
            <a:off x="822960" y="960120"/>
            <a:ext cx="10058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700"/>
              <a:buFont typeface="Bookman Old Style"/>
              <a:buNone/>
            </a:pPr>
            <a:r>
              <a:rPr b="1" i="0" lang="en-US" sz="2700" u="none" cap="none" strike="noStrike">
                <a:solidFill>
                  <a:srgbClr val="13202B"/>
                </a:solidFill>
                <a:latin typeface="Bookman Old Style"/>
                <a:ea typeface="Bookman Old Style"/>
                <a:cs typeface="Bookman Old Style"/>
                <a:sym typeface="Bookman Old Style"/>
              </a:rPr>
              <a:t>No soy el único que piensa así</a:t>
            </a:r>
            <a:endParaRPr b="0" i="0" sz="2700" u="none" cap="none" strike="noStrike">
              <a:solidFill>
                <a:schemeClr val="dk1"/>
              </a:solidFill>
              <a:latin typeface="Calibri"/>
              <a:ea typeface="Calibri"/>
              <a:cs typeface="Calibri"/>
              <a:sym typeface="Calibri"/>
            </a:endParaRPr>
          </a:p>
        </p:txBody>
      </p:sp>
      <p:sp>
        <p:nvSpPr>
          <p:cNvPr id="89" name="Google Shape;89;p6"/>
          <p:cNvSpPr/>
          <p:nvPr/>
        </p:nvSpPr>
        <p:spPr>
          <a:xfrm>
            <a:off x="822960" y="1828800"/>
            <a:ext cx="4937760" cy="2743200"/>
          </a:xfrm>
          <a:prstGeom prst="roundRect">
            <a:avLst>
              <a:gd fmla="val 3333"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 name="Google Shape;90;p6"/>
          <p:cNvCxnSpPr/>
          <p:nvPr/>
        </p:nvCxnSpPr>
        <p:spPr>
          <a:xfrm>
            <a:off x="1143000" y="2148840"/>
            <a:ext cx="640080" cy="0"/>
          </a:xfrm>
          <a:prstGeom prst="straightConnector1">
            <a:avLst/>
          </a:prstGeom>
          <a:noFill/>
          <a:ln cap="flat" cmpd="sng" w="38100">
            <a:solidFill>
              <a:srgbClr val="52B788"/>
            </a:solidFill>
            <a:prstDash val="solid"/>
            <a:round/>
            <a:headEnd len="sm" w="sm" type="none"/>
            <a:tailEnd len="sm" w="sm" type="none"/>
          </a:ln>
        </p:spPr>
      </p:cxnSp>
      <p:sp>
        <p:nvSpPr>
          <p:cNvPr id="91" name="Google Shape;91;p6"/>
          <p:cNvSpPr/>
          <p:nvPr/>
        </p:nvSpPr>
        <p:spPr>
          <a:xfrm>
            <a:off x="1143000" y="2286000"/>
            <a:ext cx="4297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32"/>
              </a:buClr>
              <a:buSzPts val="1200"/>
              <a:buFont typeface="Calibri"/>
              <a:buNone/>
            </a:pPr>
            <a:r>
              <a:rPr b="1" i="0" lang="en-US" sz="1200" u="none" cap="none" strike="noStrike">
                <a:solidFill>
                  <a:srgbClr val="1B4332"/>
                </a:solidFill>
                <a:latin typeface="Calibri"/>
                <a:ea typeface="Calibri"/>
                <a:cs typeface="Calibri"/>
                <a:sym typeface="Calibri"/>
              </a:rPr>
              <a:t>García y Hernández, 2019</a:t>
            </a:r>
            <a:endParaRPr b="0" i="0" sz="1200" u="none" cap="none" strike="noStrike">
              <a:solidFill>
                <a:schemeClr val="dk1"/>
              </a:solidFill>
              <a:latin typeface="Calibri"/>
              <a:ea typeface="Calibri"/>
              <a:cs typeface="Calibri"/>
              <a:sym typeface="Calibri"/>
            </a:endParaRPr>
          </a:p>
        </p:txBody>
      </p:sp>
      <p:sp>
        <p:nvSpPr>
          <p:cNvPr id="92" name="Google Shape;92;p6"/>
          <p:cNvSpPr/>
          <p:nvPr/>
        </p:nvSpPr>
        <p:spPr>
          <a:xfrm>
            <a:off x="1143000" y="2743200"/>
            <a:ext cx="429768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3202B"/>
              </a:buClr>
              <a:buSzPts val="2200"/>
              <a:buFont typeface="Bookman Old Style"/>
              <a:buNone/>
            </a:pPr>
            <a:r>
              <a:rPr b="0" i="1" lang="en-US" sz="2200" u="none" cap="none" strike="noStrike">
                <a:solidFill>
                  <a:srgbClr val="13202B"/>
                </a:solidFill>
                <a:latin typeface="Bookman Old Style"/>
                <a:ea typeface="Bookman Old Style"/>
                <a:cs typeface="Bookman Old Style"/>
                <a:sym typeface="Bookman Old Style"/>
              </a:rPr>
              <a:t>El riesgo se construye socialmente.</a:t>
            </a:r>
            <a:endParaRPr b="0" i="0" sz="2200" u="none" cap="none" strike="noStrike">
              <a:solidFill>
                <a:schemeClr val="dk1"/>
              </a:solidFill>
              <a:latin typeface="Calibri"/>
              <a:ea typeface="Calibri"/>
              <a:cs typeface="Calibri"/>
              <a:sym typeface="Calibri"/>
            </a:endParaRPr>
          </a:p>
        </p:txBody>
      </p:sp>
      <p:sp>
        <p:nvSpPr>
          <p:cNvPr id="93" name="Google Shape;93;p6"/>
          <p:cNvSpPr/>
          <p:nvPr/>
        </p:nvSpPr>
        <p:spPr>
          <a:xfrm>
            <a:off x="5989320" y="1828800"/>
            <a:ext cx="5074920" cy="2743200"/>
          </a:xfrm>
          <a:prstGeom prst="roundRect">
            <a:avLst>
              <a:gd fmla="val 3333" name="adj"/>
            </a:avLst>
          </a:prstGeom>
          <a:solidFill>
            <a:srgbClr val="F2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 name="Google Shape;94;p6"/>
          <p:cNvCxnSpPr/>
          <p:nvPr/>
        </p:nvCxnSpPr>
        <p:spPr>
          <a:xfrm>
            <a:off x="6309360" y="2148840"/>
            <a:ext cx="640080" cy="0"/>
          </a:xfrm>
          <a:prstGeom prst="straightConnector1">
            <a:avLst/>
          </a:prstGeom>
          <a:noFill/>
          <a:ln cap="flat" cmpd="sng" w="38100">
            <a:solidFill>
              <a:srgbClr val="52B788"/>
            </a:solidFill>
            <a:prstDash val="solid"/>
            <a:round/>
            <a:headEnd len="sm" w="sm" type="none"/>
            <a:tailEnd len="sm" w="sm" type="none"/>
          </a:ln>
        </p:spPr>
      </p:cxnSp>
      <p:sp>
        <p:nvSpPr>
          <p:cNvPr id="95" name="Google Shape;95;p6"/>
          <p:cNvSpPr/>
          <p:nvPr/>
        </p:nvSpPr>
        <p:spPr>
          <a:xfrm>
            <a:off x="6309360" y="2286000"/>
            <a:ext cx="4480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32"/>
              </a:buClr>
              <a:buSzPts val="1200"/>
              <a:buFont typeface="Calibri"/>
              <a:buNone/>
            </a:pPr>
            <a:r>
              <a:rPr b="1" i="0" lang="en-US" sz="1200" u="none" cap="none" strike="noStrike">
                <a:solidFill>
                  <a:srgbClr val="1B4332"/>
                </a:solidFill>
                <a:latin typeface="Calibri"/>
                <a:ea typeface="Calibri"/>
                <a:cs typeface="Calibri"/>
                <a:sym typeface="Calibri"/>
              </a:rPr>
              <a:t>Gurri, 2017</a:t>
            </a:r>
            <a:endParaRPr b="0" i="0" sz="1200" u="none" cap="none" strike="noStrike">
              <a:solidFill>
                <a:schemeClr val="dk1"/>
              </a:solidFill>
              <a:latin typeface="Calibri"/>
              <a:ea typeface="Calibri"/>
              <a:cs typeface="Calibri"/>
              <a:sym typeface="Calibri"/>
            </a:endParaRPr>
          </a:p>
        </p:txBody>
      </p:sp>
      <p:sp>
        <p:nvSpPr>
          <p:cNvPr id="96" name="Google Shape;96;p6"/>
          <p:cNvSpPr/>
          <p:nvPr/>
        </p:nvSpPr>
        <p:spPr>
          <a:xfrm>
            <a:off x="6309360" y="2743200"/>
            <a:ext cx="448056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3202B"/>
              </a:buClr>
              <a:buSzPts val="2200"/>
              <a:buFont typeface="Bookman Old Style"/>
              <a:buNone/>
            </a:pPr>
            <a:r>
              <a:rPr b="0" i="1" lang="en-US" sz="2200" u="none" cap="none" strike="noStrike">
                <a:solidFill>
                  <a:srgbClr val="13202B"/>
                </a:solidFill>
                <a:latin typeface="Bookman Old Style"/>
                <a:ea typeface="Bookman Old Style"/>
                <a:cs typeface="Bookman Old Style"/>
                <a:sym typeface="Bookman Old Style"/>
              </a:rPr>
              <a:t>La vulnerabilidad tiene historia.</a:t>
            </a:r>
            <a:endParaRPr b="0" i="0" sz="2200" u="none" cap="none" strike="noStrike">
              <a:solidFill>
                <a:schemeClr val="dk1"/>
              </a:solidFill>
              <a:latin typeface="Calibri"/>
              <a:ea typeface="Calibri"/>
              <a:cs typeface="Calibri"/>
              <a:sym typeface="Calibri"/>
            </a:endParaRPr>
          </a:p>
        </p:txBody>
      </p:sp>
      <p:sp>
        <p:nvSpPr>
          <p:cNvPr id="97" name="Google Shape;97;p6"/>
          <p:cNvSpPr/>
          <p:nvPr/>
        </p:nvSpPr>
        <p:spPr>
          <a:xfrm>
            <a:off x="822960" y="4800600"/>
            <a:ext cx="10241280" cy="868680"/>
          </a:xfrm>
          <a:prstGeom prst="roundRect">
            <a:avLst>
              <a:gd fmla="val 10526" name="adj"/>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1097280" y="4800600"/>
            <a:ext cx="96926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900"/>
              <a:buFont typeface="Bookman Old Style"/>
              <a:buNone/>
            </a:pPr>
            <a:r>
              <a:rPr b="1" i="1" lang="en-US" sz="1900" u="none" cap="none" strike="noStrike">
                <a:solidFill>
                  <a:srgbClr val="52B788"/>
                </a:solidFill>
                <a:latin typeface="Bookman Old Style"/>
                <a:ea typeface="Bookman Old Style"/>
                <a:cs typeface="Bookman Old Style"/>
                <a:sym typeface="Bookman Old Style"/>
              </a:rPr>
              <a:t>“comunidad” → “red” </a:t>
            </a:r>
            <a:r>
              <a:rPr b="0" i="1" lang="en-US" sz="1900" u="none" cap="none" strike="noStrike">
                <a:solidFill>
                  <a:srgbClr val="8A9AA3"/>
                </a:solidFill>
                <a:latin typeface="Bookman Old Style"/>
                <a:ea typeface="Bookman Old Style"/>
                <a:cs typeface="Bookman Old Style"/>
                <a:sym typeface="Bookman Old Style"/>
              </a:rPr>
              <a:t>  /  </a:t>
            </a:r>
            <a:r>
              <a:rPr b="1" i="1" lang="en-US" sz="1900" u="none" cap="none" strike="noStrike">
                <a:solidFill>
                  <a:srgbClr val="52B788"/>
                </a:solidFill>
                <a:latin typeface="Bookman Old Style"/>
                <a:ea typeface="Bookman Old Style"/>
                <a:cs typeface="Bookman Old Style"/>
                <a:sym typeface="Bookman Old Style"/>
              </a:rPr>
              <a:t>“sismo” → “ataque”</a:t>
            </a:r>
            <a:endParaRPr b="0" i="0" sz="1900" u="none" cap="none" strike="noStrike">
              <a:solidFill>
                <a:schemeClr val="dk1"/>
              </a:solidFill>
              <a:latin typeface="Calibri"/>
              <a:ea typeface="Calibri"/>
              <a:cs typeface="Calibri"/>
              <a:sym typeface="Calibri"/>
            </a:endParaRPr>
          </a:p>
        </p:txBody>
      </p:sp>
      <p:sp>
        <p:nvSpPr>
          <p:cNvPr id="99" name="Google Shape;99;p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100" name="Google Shape;100;p6"/>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7"/>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DESARROLLO · 3 DE 4</a:t>
            </a:r>
            <a:endParaRPr b="0" i="0" sz="1300" u="none" cap="none" strike="noStrike">
              <a:solidFill>
                <a:schemeClr val="dk1"/>
              </a:solidFill>
              <a:latin typeface="Calibri"/>
              <a:ea typeface="Calibri"/>
              <a:cs typeface="Calibri"/>
              <a:sym typeface="Calibri"/>
            </a:endParaRPr>
          </a:p>
        </p:txBody>
      </p:sp>
      <p:sp>
        <p:nvSpPr>
          <p:cNvPr id="107" name="Google Shape;107;p7"/>
          <p:cNvSpPr/>
          <p:nvPr/>
        </p:nvSpPr>
        <p:spPr>
          <a:xfrm>
            <a:off x="822960" y="960120"/>
            <a:ext cx="10058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700"/>
              <a:buFont typeface="Bookman Old Style"/>
              <a:buNone/>
            </a:pPr>
            <a:r>
              <a:rPr b="1" i="0" lang="en-US" sz="2700" u="none" cap="none" strike="noStrike">
                <a:solidFill>
                  <a:srgbClr val="13202B"/>
                </a:solidFill>
                <a:latin typeface="Bookman Old Style"/>
                <a:ea typeface="Bookman Old Style"/>
                <a:cs typeface="Bookman Old Style"/>
                <a:sym typeface="Bookman Old Style"/>
              </a:rPr>
              <a:t>La prevención llega tarde</a:t>
            </a:r>
            <a:endParaRPr b="0" i="0" sz="2700" u="none" cap="none" strike="noStrike">
              <a:solidFill>
                <a:schemeClr val="dk1"/>
              </a:solidFill>
              <a:latin typeface="Calibri"/>
              <a:ea typeface="Calibri"/>
              <a:cs typeface="Calibri"/>
              <a:sym typeface="Calibri"/>
            </a:endParaRPr>
          </a:p>
        </p:txBody>
      </p:sp>
      <p:sp>
        <p:nvSpPr>
          <p:cNvPr id="108" name="Google Shape;108;p7"/>
          <p:cNvSpPr/>
          <p:nvPr/>
        </p:nvSpPr>
        <p:spPr>
          <a:xfrm>
            <a:off x="822960" y="1828800"/>
            <a:ext cx="4937760" cy="3108960"/>
          </a:xfrm>
          <a:prstGeom prst="roundRect">
            <a:avLst>
              <a:gd fmla="val 2941" name="adj"/>
            </a:avLst>
          </a:prstGeom>
          <a:solidFill>
            <a:srgbClr val="E9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1097280" y="2103120"/>
            <a:ext cx="411480" cy="411480"/>
          </a:xfrm>
          <a:prstGeom prst="ellipse">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1097280" y="210312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11" name="Google Shape;111;p7"/>
          <p:cNvSpPr/>
          <p:nvPr/>
        </p:nvSpPr>
        <p:spPr>
          <a:xfrm>
            <a:off x="1645920" y="2121408"/>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4332"/>
              </a:buClr>
              <a:buSzPts val="1200"/>
              <a:buFont typeface="Calibri"/>
              <a:buNone/>
            </a:pPr>
            <a:r>
              <a:rPr b="1" i="0" lang="en-US" sz="1200" u="none" cap="none" strike="noStrike">
                <a:solidFill>
                  <a:srgbClr val="1B4332"/>
                </a:solidFill>
                <a:latin typeface="Calibri"/>
                <a:ea typeface="Calibri"/>
                <a:cs typeface="Calibri"/>
                <a:sym typeface="Calibri"/>
              </a:rPr>
              <a:t>DPL News, 2026</a:t>
            </a:r>
            <a:endParaRPr b="0" i="0" sz="1200" u="none" cap="none" strike="noStrike">
              <a:solidFill>
                <a:schemeClr val="dk1"/>
              </a:solidFill>
              <a:latin typeface="Calibri"/>
              <a:ea typeface="Calibri"/>
              <a:cs typeface="Calibri"/>
              <a:sym typeface="Calibri"/>
            </a:endParaRPr>
          </a:p>
        </p:txBody>
      </p:sp>
      <p:sp>
        <p:nvSpPr>
          <p:cNvPr id="112" name="Google Shape;112;p7"/>
          <p:cNvSpPr/>
          <p:nvPr/>
        </p:nvSpPr>
        <p:spPr>
          <a:xfrm>
            <a:off x="1097280" y="2697480"/>
            <a:ext cx="4389120" cy="19202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1B4332"/>
              </a:buClr>
              <a:buSzPts val="2200"/>
              <a:buFont typeface="Bookman Old Style"/>
              <a:buNone/>
            </a:pPr>
            <a:r>
              <a:rPr b="0" i="1" lang="en-US" sz="2200" u="none" cap="none" strike="noStrike">
                <a:solidFill>
                  <a:srgbClr val="1B4332"/>
                </a:solidFill>
                <a:latin typeface="Bookman Old Style"/>
                <a:ea typeface="Bookman Old Style"/>
                <a:cs typeface="Bookman Old Style"/>
                <a:sym typeface="Bookman Old Style"/>
              </a:rPr>
              <a:t>Avances…</a:t>
            </a:r>
            <a:endParaRPr b="0" i="0" sz="2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1B4332"/>
              </a:buClr>
              <a:buSzPts val="2200"/>
              <a:buFont typeface="Bookman Old Style"/>
              <a:buNone/>
            </a:pPr>
            <a:r>
              <a:rPr b="0" i="1" lang="en-US" sz="2200" u="none" cap="none" strike="noStrike">
                <a:solidFill>
                  <a:srgbClr val="1B4332"/>
                </a:solidFill>
                <a:latin typeface="Bookman Old Style"/>
                <a:ea typeface="Bookman Old Style"/>
                <a:cs typeface="Bookman Old Style"/>
                <a:sym typeface="Bookman Old Style"/>
              </a:rPr>
              <a:t>con retos estructurales.</a:t>
            </a:r>
            <a:endParaRPr b="0" i="0" sz="2200" u="none" cap="none" strike="noStrike">
              <a:solidFill>
                <a:schemeClr val="dk1"/>
              </a:solidFill>
              <a:latin typeface="Calibri"/>
              <a:ea typeface="Calibri"/>
              <a:cs typeface="Calibri"/>
              <a:sym typeface="Calibri"/>
            </a:endParaRPr>
          </a:p>
        </p:txBody>
      </p:sp>
      <p:sp>
        <p:nvSpPr>
          <p:cNvPr id="113" name="Google Shape;113;p7"/>
          <p:cNvSpPr/>
          <p:nvPr/>
        </p:nvSpPr>
        <p:spPr>
          <a:xfrm>
            <a:off x="5989320" y="1828800"/>
            <a:ext cx="5074920" cy="3108960"/>
          </a:xfrm>
          <a:prstGeom prst="roundRect">
            <a:avLst>
              <a:gd fmla="val 2941" name="adj"/>
            </a:avLst>
          </a:prstGeom>
          <a:solidFill>
            <a:srgbClr val="FBEA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263640" y="2103120"/>
            <a:ext cx="411480" cy="411480"/>
          </a:xfrm>
          <a:prstGeom prst="ellipse">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263640" y="210312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16" name="Google Shape;116;p7"/>
          <p:cNvSpPr/>
          <p:nvPr/>
        </p:nvSpPr>
        <p:spPr>
          <a:xfrm>
            <a:off x="6812280" y="2121408"/>
            <a:ext cx="39319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3946"/>
              </a:buClr>
              <a:buSzPts val="1200"/>
              <a:buFont typeface="Calibri"/>
              <a:buNone/>
            </a:pPr>
            <a:r>
              <a:rPr b="1" i="0" lang="en-US" sz="1200" u="none" cap="none" strike="noStrike">
                <a:solidFill>
                  <a:srgbClr val="E63946"/>
                </a:solidFill>
                <a:latin typeface="Calibri"/>
                <a:ea typeface="Calibri"/>
                <a:cs typeface="Calibri"/>
                <a:sym typeface="Calibri"/>
              </a:rPr>
              <a:t>GitSecurit, 2026</a:t>
            </a:r>
            <a:endParaRPr b="0" i="0" sz="1200" u="none" cap="none" strike="noStrike">
              <a:solidFill>
                <a:schemeClr val="dk1"/>
              </a:solidFill>
              <a:latin typeface="Calibri"/>
              <a:ea typeface="Calibri"/>
              <a:cs typeface="Calibri"/>
              <a:sym typeface="Calibri"/>
            </a:endParaRPr>
          </a:p>
        </p:txBody>
      </p:sp>
      <p:sp>
        <p:nvSpPr>
          <p:cNvPr id="117" name="Google Shape;117;p7"/>
          <p:cNvSpPr/>
          <p:nvPr/>
        </p:nvSpPr>
        <p:spPr>
          <a:xfrm>
            <a:off x="6263640" y="2697480"/>
            <a:ext cx="4572000" cy="19202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E63946"/>
              </a:buClr>
              <a:buSzPts val="2200"/>
              <a:buFont typeface="Bookman Old Style"/>
              <a:buNone/>
            </a:pPr>
            <a:r>
              <a:rPr b="0" i="1" lang="en-US" sz="2200" u="none" cap="none" strike="noStrike">
                <a:solidFill>
                  <a:srgbClr val="E63946"/>
                </a:solidFill>
                <a:latin typeface="Bookman Old Style"/>
                <a:ea typeface="Bookman Old Style"/>
                <a:cs typeface="Bookman Old Style"/>
                <a:sym typeface="Bookman Old Style"/>
              </a:rPr>
              <a:t>Tecnología obsoleta</a:t>
            </a:r>
            <a:endParaRPr b="0" i="0" sz="22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E63946"/>
              </a:buClr>
              <a:buSzPts val="2200"/>
              <a:buFont typeface="Bookman Old Style"/>
              <a:buNone/>
            </a:pPr>
            <a:r>
              <a:rPr b="0" i="1" lang="en-US" sz="2200" u="none" cap="none" strike="noStrike">
                <a:solidFill>
                  <a:srgbClr val="E63946"/>
                </a:solidFill>
                <a:latin typeface="Bookman Old Style"/>
                <a:ea typeface="Bookman Old Style"/>
                <a:cs typeface="Bookman Old Style"/>
                <a:sym typeface="Bookman Old Style"/>
              </a:rPr>
              <a:t>= blanco fácil.</a:t>
            </a:r>
            <a:endParaRPr b="0" i="0" sz="2200" u="none" cap="none" strike="noStrike">
              <a:solidFill>
                <a:schemeClr val="dk1"/>
              </a:solidFill>
              <a:latin typeface="Calibri"/>
              <a:ea typeface="Calibri"/>
              <a:cs typeface="Calibri"/>
              <a:sym typeface="Calibri"/>
            </a:endParaRPr>
          </a:p>
        </p:txBody>
      </p:sp>
      <p:sp>
        <p:nvSpPr>
          <p:cNvPr id="118" name="Google Shape;118;p7"/>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119" name="Google Shape;119;p7"/>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8"/>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DESARROLLO · 4 DE 4</a:t>
            </a:r>
            <a:endParaRPr b="0" i="0" sz="1300" u="none" cap="none" strike="noStrike">
              <a:solidFill>
                <a:schemeClr val="dk1"/>
              </a:solidFill>
              <a:latin typeface="Calibri"/>
              <a:ea typeface="Calibri"/>
              <a:cs typeface="Calibri"/>
              <a:sym typeface="Calibri"/>
            </a:endParaRPr>
          </a:p>
        </p:txBody>
      </p:sp>
      <p:sp>
        <p:nvSpPr>
          <p:cNvPr id="126" name="Google Shape;126;p8"/>
          <p:cNvSpPr/>
          <p:nvPr/>
        </p:nvSpPr>
        <p:spPr>
          <a:xfrm>
            <a:off x="822960" y="960120"/>
            <a:ext cx="1033272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700"/>
              <a:buFont typeface="Bookman Old Style"/>
              <a:buNone/>
            </a:pPr>
            <a:r>
              <a:rPr b="1" i="0" lang="en-US" sz="2700" u="none" cap="none" strike="noStrike">
                <a:solidFill>
                  <a:srgbClr val="13202B"/>
                </a:solidFill>
                <a:latin typeface="Bookman Old Style"/>
                <a:ea typeface="Bookman Old Style"/>
                <a:cs typeface="Bookman Old Style"/>
                <a:sym typeface="Bookman Old Style"/>
              </a:rPr>
              <a:t>Esto ya existe en la ley</a:t>
            </a:r>
            <a:endParaRPr b="0" i="0" sz="2700" u="none" cap="none" strike="noStrike">
              <a:solidFill>
                <a:schemeClr val="dk1"/>
              </a:solidFill>
              <a:latin typeface="Calibri"/>
              <a:ea typeface="Calibri"/>
              <a:cs typeface="Calibri"/>
              <a:sym typeface="Calibri"/>
            </a:endParaRPr>
          </a:p>
        </p:txBody>
      </p:sp>
      <p:sp>
        <p:nvSpPr>
          <p:cNvPr id="127" name="Google Shape;127;p8"/>
          <p:cNvSpPr/>
          <p:nvPr/>
        </p:nvSpPr>
        <p:spPr>
          <a:xfrm>
            <a:off x="822960" y="2011680"/>
            <a:ext cx="10241280" cy="2468880"/>
          </a:xfrm>
          <a:prstGeom prst="roundRect">
            <a:avLst>
              <a:gd fmla="val 4444" name="adj"/>
            </a:avLst>
          </a:prstGeom>
          <a:solidFill>
            <a:srgbClr val="1B4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1005840" y="1965960"/>
            <a:ext cx="109728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7000"/>
              <a:buFont typeface="Bookman Old Style"/>
              <a:buNone/>
            </a:pPr>
            <a:r>
              <a:rPr b="1" i="0" lang="en-US" sz="7000" u="none" cap="none" strike="noStrike">
                <a:solidFill>
                  <a:srgbClr val="52B788"/>
                </a:solidFill>
                <a:latin typeface="Bookman Old Style"/>
                <a:ea typeface="Bookman Old Style"/>
                <a:cs typeface="Bookman Old Style"/>
                <a:sym typeface="Bookman Old Style"/>
              </a:rPr>
              <a:t>“</a:t>
            </a:r>
            <a:endParaRPr b="0" i="0" sz="7000" u="none" cap="none" strike="noStrike">
              <a:solidFill>
                <a:schemeClr val="dk1"/>
              </a:solidFill>
              <a:latin typeface="Calibri"/>
              <a:ea typeface="Calibri"/>
              <a:cs typeface="Calibri"/>
              <a:sym typeface="Calibri"/>
            </a:endParaRPr>
          </a:p>
        </p:txBody>
      </p:sp>
      <p:sp>
        <p:nvSpPr>
          <p:cNvPr id="129" name="Google Shape;129;p8"/>
          <p:cNvSpPr/>
          <p:nvPr/>
        </p:nvSpPr>
        <p:spPr>
          <a:xfrm>
            <a:off x="1737360" y="2423160"/>
            <a:ext cx="8961120" cy="10515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2100"/>
              <a:buFont typeface="Bookman Old Style"/>
              <a:buNone/>
            </a:pPr>
            <a:r>
              <a:rPr b="0" i="1" lang="en-US" sz="2100" u="none" cap="none" strike="noStrike">
                <a:solidFill>
                  <a:srgbClr val="FFFFFF"/>
                </a:solidFill>
                <a:latin typeface="Bookman Old Style"/>
                <a:ea typeface="Bookman Old Style"/>
                <a:cs typeface="Bookman Old Style"/>
                <a:sym typeface="Bookman Old Style"/>
              </a:rPr>
              <a:t>“El riesgo se construye con condiciones sociales y económicas, no solo con el fenómeno.”</a:t>
            </a:r>
            <a:endParaRPr b="0" i="0" sz="2100" u="none" cap="none" strike="noStrike">
              <a:solidFill>
                <a:schemeClr val="dk1"/>
              </a:solidFill>
              <a:latin typeface="Calibri"/>
              <a:ea typeface="Calibri"/>
              <a:cs typeface="Calibri"/>
              <a:sym typeface="Calibri"/>
            </a:endParaRPr>
          </a:p>
        </p:txBody>
      </p:sp>
      <p:sp>
        <p:nvSpPr>
          <p:cNvPr id="130" name="Google Shape;130;p8"/>
          <p:cNvSpPr/>
          <p:nvPr/>
        </p:nvSpPr>
        <p:spPr>
          <a:xfrm>
            <a:off x="1737360" y="3657600"/>
            <a:ext cx="8686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Ley General de Protección Civil · Cámara de Diputados (2012, última reforma 2023)</a:t>
            </a:r>
            <a:endParaRPr b="0" i="0" sz="1200" u="none" cap="none" strike="noStrike">
              <a:solidFill>
                <a:schemeClr val="dk1"/>
              </a:solidFill>
              <a:latin typeface="Calibri"/>
              <a:ea typeface="Calibri"/>
              <a:cs typeface="Calibri"/>
              <a:sym typeface="Calibri"/>
            </a:endParaRPr>
          </a:p>
        </p:txBody>
      </p:sp>
      <p:sp>
        <p:nvSpPr>
          <p:cNvPr id="131" name="Google Shape;131;p8"/>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132" name="Google Shape;132;p8"/>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37" name="Shape 137"/>
        <p:cNvGrpSpPr/>
        <p:nvPr/>
      </p:nvGrpSpPr>
      <p:grpSpPr>
        <a:xfrm>
          <a:off x="0" y="0"/>
          <a:ext cx="0" cy="0"/>
          <a:chOff x="0" y="0"/>
          <a:chExt cx="0" cy="0"/>
        </a:xfrm>
      </p:grpSpPr>
      <p:cxnSp>
        <p:nvCxnSpPr>
          <p:cNvPr id="138" name="Google Shape;138;p9"/>
          <p:cNvCxnSpPr/>
          <p:nvPr/>
        </p:nvCxnSpPr>
        <p:spPr>
          <a:xfrm flipH="1" rot="10800000">
            <a:off x="9784080" y="4000500"/>
            <a:ext cx="754380" cy="480060"/>
          </a:xfrm>
          <a:prstGeom prst="straightConnector1">
            <a:avLst/>
          </a:prstGeom>
          <a:noFill/>
          <a:ln cap="flat" cmpd="sng" w="12700">
            <a:solidFill>
              <a:srgbClr val="52B788">
                <a:alpha val="54901"/>
              </a:srgbClr>
            </a:solidFill>
            <a:prstDash val="solid"/>
            <a:round/>
            <a:headEnd len="sm" w="sm" type="none"/>
            <a:tailEnd len="sm" w="sm" type="none"/>
          </a:ln>
        </p:spPr>
      </p:cxnSp>
      <p:cxnSp>
        <p:nvCxnSpPr>
          <p:cNvPr id="139" name="Google Shape;139;p9"/>
          <p:cNvCxnSpPr/>
          <p:nvPr/>
        </p:nvCxnSpPr>
        <p:spPr>
          <a:xfrm>
            <a:off x="10538460" y="4000500"/>
            <a:ext cx="754380" cy="685800"/>
          </a:xfrm>
          <a:prstGeom prst="straightConnector1">
            <a:avLst/>
          </a:prstGeom>
          <a:noFill/>
          <a:ln cap="flat" cmpd="sng" w="12700">
            <a:solidFill>
              <a:srgbClr val="52B788">
                <a:alpha val="54901"/>
              </a:srgbClr>
            </a:solidFill>
            <a:prstDash val="solid"/>
            <a:round/>
            <a:headEnd len="sm" w="sm" type="none"/>
            <a:tailEnd len="sm" w="sm" type="none"/>
          </a:ln>
        </p:spPr>
      </p:cxnSp>
      <p:cxnSp>
        <p:nvCxnSpPr>
          <p:cNvPr id="140" name="Google Shape;140;p9"/>
          <p:cNvCxnSpPr/>
          <p:nvPr/>
        </p:nvCxnSpPr>
        <p:spPr>
          <a:xfrm>
            <a:off x="9784080" y="4480560"/>
            <a:ext cx="480060" cy="754380"/>
          </a:xfrm>
          <a:prstGeom prst="straightConnector1">
            <a:avLst/>
          </a:prstGeom>
          <a:noFill/>
          <a:ln cap="flat" cmpd="sng" w="12700">
            <a:solidFill>
              <a:srgbClr val="52B788">
                <a:alpha val="54901"/>
              </a:srgbClr>
            </a:solidFill>
            <a:prstDash val="solid"/>
            <a:round/>
            <a:headEnd len="sm" w="sm" type="none"/>
            <a:tailEnd len="sm" w="sm" type="none"/>
          </a:ln>
        </p:spPr>
      </p:cxnSp>
      <p:cxnSp>
        <p:nvCxnSpPr>
          <p:cNvPr id="141" name="Google Shape;141;p9"/>
          <p:cNvCxnSpPr/>
          <p:nvPr/>
        </p:nvCxnSpPr>
        <p:spPr>
          <a:xfrm flipH="1" rot="10800000">
            <a:off x="10264140" y="4000500"/>
            <a:ext cx="274320" cy="1234440"/>
          </a:xfrm>
          <a:prstGeom prst="straightConnector1">
            <a:avLst/>
          </a:prstGeom>
          <a:noFill/>
          <a:ln cap="flat" cmpd="sng" w="12700">
            <a:solidFill>
              <a:srgbClr val="52B788">
                <a:alpha val="54901"/>
              </a:srgbClr>
            </a:solidFill>
            <a:prstDash val="solid"/>
            <a:round/>
            <a:headEnd len="sm" w="sm" type="none"/>
            <a:tailEnd len="sm" w="sm" type="none"/>
          </a:ln>
        </p:spPr>
      </p:cxnSp>
      <p:sp>
        <p:nvSpPr>
          <p:cNvPr id="142" name="Google Shape;142;p9"/>
          <p:cNvSpPr/>
          <p:nvPr/>
        </p:nvSpPr>
        <p:spPr>
          <a:xfrm>
            <a:off x="9742932" y="4439412"/>
            <a:ext cx="82296" cy="82296"/>
          </a:xfrm>
          <a:prstGeom prst="ellipse">
            <a:avLst/>
          </a:prstGeom>
          <a:solidFill>
            <a:srgbClr val="52B78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10511028" y="3973068"/>
            <a:ext cx="54864" cy="54864"/>
          </a:xfrm>
          <a:prstGeom prst="ellipse">
            <a:avLst/>
          </a:prstGeom>
          <a:solidFill>
            <a:srgbClr val="52B78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11265408" y="4658868"/>
            <a:ext cx="54864" cy="54864"/>
          </a:xfrm>
          <a:prstGeom prst="ellipse">
            <a:avLst/>
          </a:prstGeom>
          <a:solidFill>
            <a:srgbClr val="52B78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10236708" y="5207508"/>
            <a:ext cx="54864" cy="54864"/>
          </a:xfrm>
          <a:prstGeom prst="ellipse">
            <a:avLst/>
          </a:prstGeom>
          <a:solidFill>
            <a:srgbClr val="52B78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CONCLUSIÓN</a:t>
            </a:r>
            <a:endParaRPr b="0" i="0" sz="1300" u="none" cap="none" strike="noStrike">
              <a:solidFill>
                <a:schemeClr val="dk1"/>
              </a:solidFill>
              <a:latin typeface="Calibri"/>
              <a:ea typeface="Calibri"/>
              <a:cs typeface="Calibri"/>
              <a:sym typeface="Calibri"/>
            </a:endParaRPr>
          </a:p>
        </p:txBody>
      </p:sp>
      <p:sp>
        <p:nvSpPr>
          <p:cNvPr id="147" name="Google Shape;147;p9"/>
          <p:cNvSpPr/>
          <p:nvPr/>
        </p:nvSpPr>
        <p:spPr>
          <a:xfrm>
            <a:off x="822960" y="1234440"/>
            <a:ext cx="9601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Bookman Old Style"/>
              <a:buNone/>
            </a:pPr>
            <a:r>
              <a:rPr b="1" i="0" lang="en-US" sz="3000" u="none" cap="none" strike="noStrike">
                <a:solidFill>
                  <a:srgbClr val="FFFFFF"/>
                </a:solidFill>
                <a:latin typeface="Bookman Old Style"/>
                <a:ea typeface="Bookman Old Style"/>
                <a:cs typeface="Bookman Old Style"/>
                <a:sym typeface="Bookman Old Style"/>
              </a:rPr>
              <a:t>La vulnerabilidad no cae del cielo.</a:t>
            </a:r>
            <a:endParaRPr b="0" i="0" sz="3000" u="none" cap="none" strike="noStrike">
              <a:solidFill>
                <a:schemeClr val="dk1"/>
              </a:solidFill>
              <a:latin typeface="Calibri"/>
              <a:ea typeface="Calibri"/>
              <a:cs typeface="Calibri"/>
              <a:sym typeface="Calibri"/>
            </a:endParaRPr>
          </a:p>
        </p:txBody>
      </p:sp>
      <p:sp>
        <p:nvSpPr>
          <p:cNvPr id="148" name="Google Shape;148;p9"/>
          <p:cNvSpPr/>
          <p:nvPr/>
        </p:nvSpPr>
        <p:spPr>
          <a:xfrm>
            <a:off x="822960" y="2148840"/>
            <a:ext cx="9601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700"/>
              <a:buFont typeface="Calibri"/>
              <a:buNone/>
            </a:pPr>
            <a:r>
              <a:rPr b="0" i="1" lang="en-US" sz="1700" u="none" cap="none" strike="noStrike">
                <a:solidFill>
                  <a:srgbClr val="CADCFC"/>
                </a:solidFill>
                <a:latin typeface="Calibri"/>
                <a:ea typeface="Calibri"/>
                <a:cs typeface="Calibri"/>
                <a:sym typeface="Calibri"/>
              </a:rPr>
              <a:t>Se construye, decisión por decisión.</a:t>
            </a:r>
            <a:endParaRPr b="0" i="0" sz="1700" u="none" cap="none" strike="noStrike">
              <a:solidFill>
                <a:schemeClr val="dk1"/>
              </a:solidFill>
              <a:latin typeface="Calibri"/>
              <a:ea typeface="Calibri"/>
              <a:cs typeface="Calibri"/>
              <a:sym typeface="Calibri"/>
            </a:endParaRPr>
          </a:p>
        </p:txBody>
      </p:sp>
      <p:cxnSp>
        <p:nvCxnSpPr>
          <p:cNvPr id="149" name="Google Shape;149;p9"/>
          <p:cNvCxnSpPr/>
          <p:nvPr/>
        </p:nvCxnSpPr>
        <p:spPr>
          <a:xfrm>
            <a:off x="822960" y="2834640"/>
            <a:ext cx="2926080" cy="0"/>
          </a:xfrm>
          <a:prstGeom prst="straightConnector1">
            <a:avLst/>
          </a:prstGeom>
          <a:noFill/>
          <a:ln cap="flat" cmpd="sng" w="25400">
            <a:solidFill>
              <a:srgbClr val="52B788">
                <a:alpha val="70196"/>
              </a:srgbClr>
            </a:solidFill>
            <a:prstDash val="solid"/>
            <a:round/>
            <a:headEnd len="sm" w="sm" type="none"/>
            <a:tailEnd len="sm" w="sm" type="none"/>
          </a:ln>
        </p:spPr>
      </p:cxnSp>
      <p:sp>
        <p:nvSpPr>
          <p:cNvPr id="150" name="Google Shape;150;p9"/>
          <p:cNvSpPr/>
          <p:nvPr/>
        </p:nvSpPr>
        <p:spPr>
          <a:xfrm>
            <a:off x="822960" y="3154680"/>
            <a:ext cx="8869680" cy="201168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ADCFC"/>
              </a:buClr>
              <a:buSzPts val="1700"/>
              <a:buFont typeface="Calibri"/>
              <a:buNone/>
            </a:pPr>
            <a:r>
              <a:rPr b="0" i="0" lang="en-US" sz="1700" u="none" cap="none" strike="noStrike">
                <a:solidFill>
                  <a:srgbClr val="CADCFC"/>
                </a:solidFill>
                <a:latin typeface="Calibri"/>
                <a:ea typeface="Calibri"/>
                <a:cs typeface="Calibri"/>
                <a:sym typeface="Calibri"/>
              </a:rPr>
              <a:t>Nuestr</a:t>
            </a:r>
            <a:r>
              <a:rPr lang="en-US" sz="1700">
                <a:solidFill>
                  <a:srgbClr val="CADCFC"/>
                </a:solidFill>
                <a:latin typeface="Calibri"/>
                <a:ea typeface="Calibri"/>
                <a:cs typeface="Calibri"/>
                <a:sym typeface="Calibri"/>
              </a:rPr>
              <a:t>o trabao</a:t>
            </a:r>
            <a:r>
              <a:rPr b="0" i="0" lang="en-US" sz="1700" u="none" cap="none" strike="noStrike">
                <a:solidFill>
                  <a:srgbClr val="CADCFC"/>
                </a:solidFill>
                <a:latin typeface="Calibri"/>
                <a:ea typeface="Calibri"/>
                <a:cs typeface="Calibri"/>
                <a:sym typeface="Calibri"/>
              </a:rPr>
              <a:t>, como estudiantes de ciberseguridad: </a:t>
            </a:r>
            <a:r>
              <a:rPr b="1" i="0" lang="en-US" sz="1700" u="none" cap="none" strike="noStrike">
                <a:solidFill>
                  <a:srgbClr val="FFFFFF"/>
                </a:solidFill>
                <a:latin typeface="Calibri"/>
                <a:ea typeface="Calibri"/>
                <a:cs typeface="Calibri"/>
                <a:sym typeface="Calibri"/>
              </a:rPr>
              <a:t>diagnosticar y corregir esas vulnerabilidades en la infraestructura digital del país </a:t>
            </a:r>
            <a:r>
              <a:rPr b="1" i="0" lang="en-US" sz="1700" u="none" cap="none" strike="noStrike">
                <a:solidFill>
                  <a:srgbClr val="52B788"/>
                </a:solidFill>
                <a:latin typeface="Calibri"/>
                <a:ea typeface="Calibri"/>
                <a:cs typeface="Calibri"/>
                <a:sym typeface="Calibri"/>
              </a:rPr>
              <a:t>antes de que alguien más las encuentre primero.</a:t>
            </a:r>
            <a:endParaRPr b="0" i="0" sz="1700" u="none" cap="none" strike="noStrike">
              <a:solidFill>
                <a:schemeClr val="dk1"/>
              </a:solidFill>
              <a:latin typeface="Calibri"/>
              <a:ea typeface="Calibri"/>
              <a:cs typeface="Calibri"/>
              <a:sym typeface="Calibri"/>
            </a:endParaRPr>
          </a:p>
        </p:txBody>
      </p:sp>
      <p:sp>
        <p:nvSpPr>
          <p:cNvPr id="151" name="Google Shape;151;p9"/>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AA3"/>
              </a:buClr>
              <a:buSzPts val="900"/>
              <a:buFont typeface="Calibri"/>
              <a:buNone/>
            </a:pPr>
            <a:r>
              <a:rPr b="0" i="1" lang="en-US" sz="900" u="none" cap="none" strike="noStrike">
                <a:solidFill>
                  <a:srgbClr val="8A9AA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152" name="Google Shape;152;p9"/>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AA3"/>
              </a:buClr>
              <a:buSzPts val="900"/>
              <a:buFont typeface="Calibri"/>
              <a:buNone/>
            </a:pPr>
            <a:r>
              <a:rPr b="0" i="0" lang="en-US" sz="900" u="none" cap="none" strike="noStrike">
                <a:solidFill>
                  <a:srgbClr val="8A9AA3"/>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10"/>
          <p:cNvSpPr/>
          <p:nvPr/>
        </p:nvSpPr>
        <p:spPr>
          <a:xfrm>
            <a:off x="822960" y="5486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1300"/>
              <a:buFont typeface="Calibri"/>
              <a:buNone/>
            </a:pPr>
            <a:r>
              <a:rPr b="1" i="0" lang="en-US" sz="1300" u="none" cap="none" strike="noStrike">
                <a:solidFill>
                  <a:srgbClr val="52B788"/>
                </a:solidFill>
                <a:latin typeface="Calibri"/>
                <a:ea typeface="Calibri"/>
                <a:cs typeface="Calibri"/>
                <a:sym typeface="Calibri"/>
              </a:rPr>
              <a:t>FUENTES DE INFORMACIÓN</a:t>
            </a:r>
            <a:endParaRPr b="0" i="0" sz="1300" u="none" cap="none" strike="noStrike">
              <a:solidFill>
                <a:schemeClr val="dk1"/>
              </a:solidFill>
              <a:latin typeface="Calibri"/>
              <a:ea typeface="Calibri"/>
              <a:cs typeface="Calibri"/>
              <a:sym typeface="Calibri"/>
            </a:endParaRPr>
          </a:p>
        </p:txBody>
      </p:sp>
      <p:sp>
        <p:nvSpPr>
          <p:cNvPr id="159" name="Google Shape;159;p10"/>
          <p:cNvSpPr/>
          <p:nvPr/>
        </p:nvSpPr>
        <p:spPr>
          <a:xfrm>
            <a:off x="822960" y="960120"/>
            <a:ext cx="9144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02B"/>
              </a:buClr>
              <a:buSzPts val="2400"/>
              <a:buFont typeface="Bookman Old Style"/>
              <a:buNone/>
            </a:pPr>
            <a:r>
              <a:rPr b="1" i="0" lang="en-US" sz="2400" u="none" cap="none" strike="noStrike">
                <a:solidFill>
                  <a:srgbClr val="13202B"/>
                </a:solidFill>
                <a:latin typeface="Bookman Old Style"/>
                <a:ea typeface="Bookman Old Style"/>
                <a:cs typeface="Bookman Old Style"/>
                <a:sym typeface="Bookman Old Style"/>
              </a:rPr>
              <a:t>Referencias (estilo APA)</a:t>
            </a:r>
            <a:endParaRPr b="0" i="0" sz="2400" u="none" cap="none" strike="noStrike">
              <a:solidFill>
                <a:schemeClr val="dk1"/>
              </a:solidFill>
              <a:latin typeface="Calibri"/>
              <a:ea typeface="Calibri"/>
              <a:cs typeface="Calibri"/>
              <a:sym typeface="Calibri"/>
            </a:endParaRPr>
          </a:p>
        </p:txBody>
      </p:sp>
      <p:sp>
        <p:nvSpPr>
          <p:cNvPr id="160" name="Google Shape;160;p10"/>
          <p:cNvSpPr/>
          <p:nvPr/>
        </p:nvSpPr>
        <p:spPr>
          <a:xfrm>
            <a:off x="822960" y="1837944"/>
            <a:ext cx="73152" cy="73152"/>
          </a:xfrm>
          <a:prstGeom prst="ellipse">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1097280" y="1709928"/>
            <a:ext cx="996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3202B"/>
              </a:buClr>
              <a:buSzPts val="1050"/>
              <a:buFont typeface="Calibri"/>
              <a:buNone/>
            </a:pPr>
            <a:r>
              <a:rPr b="0" i="0" lang="en-US" sz="1050" u="none" cap="none" strike="noStrike">
                <a:solidFill>
                  <a:srgbClr val="13202B"/>
                </a:solidFill>
                <a:latin typeface="Calibri"/>
                <a:ea typeface="Calibri"/>
                <a:cs typeface="Calibri"/>
                <a:sym typeface="Calibri"/>
              </a:rPr>
              <a:t>Cámara de Diputados del H. Congreso de la Unión. (2012, última reforma 2023). Ley General de Protección Civil. Diario Oficial de la Federación. http://www.diputados.gob.mx/LeyesBiblio/pdf/LGPC.pdf</a:t>
            </a:r>
            <a:endParaRPr b="0" i="0" sz="1050" u="none" cap="none" strike="noStrike">
              <a:solidFill>
                <a:schemeClr val="dk1"/>
              </a:solidFill>
              <a:latin typeface="Calibri"/>
              <a:ea typeface="Calibri"/>
              <a:cs typeface="Calibri"/>
              <a:sym typeface="Calibri"/>
            </a:endParaRPr>
          </a:p>
        </p:txBody>
      </p:sp>
      <p:sp>
        <p:nvSpPr>
          <p:cNvPr id="162" name="Google Shape;162;p10"/>
          <p:cNvSpPr/>
          <p:nvPr/>
        </p:nvSpPr>
        <p:spPr>
          <a:xfrm>
            <a:off x="822960" y="2734056"/>
            <a:ext cx="73152" cy="73152"/>
          </a:xfrm>
          <a:prstGeom prst="ellipse">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1097280" y="2606040"/>
            <a:ext cx="996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3202B"/>
              </a:buClr>
              <a:buSzPts val="1050"/>
              <a:buFont typeface="Calibri"/>
              <a:buNone/>
            </a:pPr>
            <a:r>
              <a:rPr b="0" i="0" lang="en-US" sz="1050" u="none" cap="none" strike="noStrike">
                <a:solidFill>
                  <a:srgbClr val="13202B"/>
                </a:solidFill>
                <a:latin typeface="Calibri"/>
                <a:ea typeface="Calibri"/>
                <a:cs typeface="Calibri"/>
                <a:sym typeface="Calibri"/>
              </a:rPr>
              <a:t>DPL News. (2026, 27 de febrero). México avanza en ciberseguridad pero con retos estructurales en protección de infraestructura crítica. https://dplnews.com/mexico-avanza-en-ciberseguridad-con-retos-en-proteccion-de-infraestructura-critica/</a:t>
            </a:r>
            <a:endParaRPr b="0" i="0" sz="1050" u="none" cap="none" strike="noStrike">
              <a:solidFill>
                <a:schemeClr val="dk1"/>
              </a:solidFill>
              <a:latin typeface="Calibri"/>
              <a:ea typeface="Calibri"/>
              <a:cs typeface="Calibri"/>
              <a:sym typeface="Calibri"/>
            </a:endParaRPr>
          </a:p>
        </p:txBody>
      </p:sp>
      <p:sp>
        <p:nvSpPr>
          <p:cNvPr id="164" name="Google Shape;164;p10"/>
          <p:cNvSpPr/>
          <p:nvPr/>
        </p:nvSpPr>
        <p:spPr>
          <a:xfrm>
            <a:off x="822960" y="3630168"/>
            <a:ext cx="73152" cy="73152"/>
          </a:xfrm>
          <a:prstGeom prst="ellipse">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1097280" y="3502152"/>
            <a:ext cx="996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3202B"/>
              </a:buClr>
              <a:buSzPts val="1050"/>
              <a:buFont typeface="Calibri"/>
              <a:buNone/>
            </a:pPr>
            <a:r>
              <a:rPr b="0" i="0" lang="en-US" sz="1050" u="none" cap="none" strike="noStrike">
                <a:solidFill>
                  <a:srgbClr val="13202B"/>
                </a:solidFill>
                <a:latin typeface="Calibri"/>
                <a:ea typeface="Calibri"/>
                <a:cs typeface="Calibri"/>
                <a:sym typeface="Calibri"/>
              </a:rPr>
              <a:t>García, A. y Hernández, F. (2019). Vulnerabilidad, adaptación y resiliencia sociales frente al riesgo ambiental. Teorías subyacentes. Revista internacional de ciencias sociales. https://www.scielo.org.mx/scielo.php?script=sci_arttext&amp;pid=S0188-46112019000300012</a:t>
            </a:r>
            <a:endParaRPr b="0" i="0" sz="1050" u="none" cap="none" strike="noStrike">
              <a:solidFill>
                <a:schemeClr val="dk1"/>
              </a:solidFill>
              <a:latin typeface="Calibri"/>
              <a:ea typeface="Calibri"/>
              <a:cs typeface="Calibri"/>
              <a:sym typeface="Calibri"/>
            </a:endParaRPr>
          </a:p>
        </p:txBody>
      </p:sp>
      <p:sp>
        <p:nvSpPr>
          <p:cNvPr id="166" name="Google Shape;166;p10"/>
          <p:cNvSpPr/>
          <p:nvPr/>
        </p:nvSpPr>
        <p:spPr>
          <a:xfrm>
            <a:off x="822960" y="4526280"/>
            <a:ext cx="73152" cy="73152"/>
          </a:xfrm>
          <a:prstGeom prst="ellipse">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1097280" y="4398264"/>
            <a:ext cx="996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3202B"/>
              </a:buClr>
              <a:buSzPts val="1050"/>
              <a:buFont typeface="Calibri"/>
              <a:buNone/>
            </a:pPr>
            <a:r>
              <a:rPr b="0" i="0" lang="en-US" sz="1050" u="none" cap="none" strike="noStrike">
                <a:solidFill>
                  <a:srgbClr val="13202B"/>
                </a:solidFill>
                <a:latin typeface="Calibri"/>
                <a:ea typeface="Calibri"/>
                <a:cs typeface="Calibri"/>
                <a:sym typeface="Calibri"/>
              </a:rPr>
              <a:t>GitSecurit. (2026, 22 de junio). Infraestructura crítica en México: el peligro oculto de las tecnologías operativas obsoletas. https://www.gitsecurit.mx/2026/06/22/infraestructura-critica-en-mexico-el-peligro-oculto-de-las-tecnologias-operativas-obsoletas/</a:t>
            </a:r>
            <a:endParaRPr b="0" i="0" sz="1050" u="none" cap="none" strike="noStrike">
              <a:solidFill>
                <a:schemeClr val="dk1"/>
              </a:solidFill>
              <a:latin typeface="Calibri"/>
              <a:ea typeface="Calibri"/>
              <a:cs typeface="Calibri"/>
              <a:sym typeface="Calibri"/>
            </a:endParaRPr>
          </a:p>
        </p:txBody>
      </p:sp>
      <p:sp>
        <p:nvSpPr>
          <p:cNvPr id="168" name="Google Shape;168;p10"/>
          <p:cNvSpPr/>
          <p:nvPr/>
        </p:nvSpPr>
        <p:spPr>
          <a:xfrm>
            <a:off x="822960" y="5422392"/>
            <a:ext cx="73152" cy="73152"/>
          </a:xfrm>
          <a:prstGeom prst="ellipse">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1097280" y="5294376"/>
            <a:ext cx="996696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3202B"/>
              </a:buClr>
              <a:buSzPts val="1050"/>
              <a:buFont typeface="Calibri"/>
              <a:buNone/>
            </a:pPr>
            <a:r>
              <a:rPr b="0" i="0" lang="en-US" sz="1050" u="none" cap="none" strike="noStrike">
                <a:solidFill>
                  <a:srgbClr val="13202B"/>
                </a:solidFill>
                <a:latin typeface="Calibri"/>
                <a:ea typeface="Calibri"/>
                <a:cs typeface="Calibri"/>
                <a:sym typeface="Calibri"/>
              </a:rPr>
              <a:t>Gurri, F. D. (2017). Resiliencia, vulnerabilidad y sustentabilidad de sistemas socioecológicos en México. Revista Mexicana de Biodiversidad, 88(Supl.), 141-149. https://www.redalyc.org/journal/425/42554924011/html/</a:t>
            </a:r>
            <a:endParaRPr b="0" i="0" sz="1050" u="none" cap="none" strike="noStrike">
              <a:solidFill>
                <a:schemeClr val="dk1"/>
              </a:solidFill>
              <a:latin typeface="Calibri"/>
              <a:ea typeface="Calibri"/>
              <a:cs typeface="Calibri"/>
              <a:sym typeface="Calibri"/>
            </a:endParaRPr>
          </a:p>
        </p:txBody>
      </p:sp>
      <p:sp>
        <p:nvSpPr>
          <p:cNvPr id="170" name="Google Shape;170;p1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3"/>
              </a:buClr>
              <a:buSzPts val="900"/>
              <a:buFont typeface="Calibri"/>
              <a:buNone/>
            </a:pPr>
            <a:r>
              <a:rPr b="0" i="1" lang="en-US" sz="900" u="none" cap="none" strike="noStrike">
                <a:solidFill>
                  <a:srgbClr val="5C6B73"/>
                </a:solidFill>
                <a:latin typeface="Calibri"/>
                <a:ea typeface="Calibri"/>
                <a:cs typeface="Calibri"/>
                <a:sym typeface="Calibri"/>
              </a:rPr>
              <a:t>Lara Montiel · La vulnerabilidad no es un accidente</a:t>
            </a:r>
            <a:endParaRPr b="0" i="0" sz="900" u="none" cap="none" strike="noStrike">
              <a:solidFill>
                <a:schemeClr val="dk1"/>
              </a:solidFill>
              <a:latin typeface="Calibri"/>
              <a:ea typeface="Calibri"/>
              <a:cs typeface="Calibri"/>
              <a:sym typeface="Calibri"/>
            </a:endParaRPr>
          </a:p>
        </p:txBody>
      </p:sp>
      <p:sp>
        <p:nvSpPr>
          <p:cNvPr id="171" name="Google Shape;171;p10"/>
          <p:cNvSpPr/>
          <p:nvPr/>
        </p:nvSpPr>
        <p:spPr>
          <a:xfrm>
            <a:off x="11430000" y="6510528"/>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3"/>
              </a:buClr>
              <a:buSzPts val="900"/>
              <a:buFont typeface="Calibri"/>
              <a:buNone/>
            </a:pPr>
            <a:r>
              <a:rPr b="0" i="0" lang="en-US" sz="900" u="none" cap="none" strike="noStrike">
                <a:solidFill>
                  <a:srgbClr val="5C6B73"/>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